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482" r:id="rId3"/>
    <p:sldId id="377" r:id="rId4"/>
    <p:sldId id="484" r:id="rId5"/>
    <p:sldId id="483" r:id="rId6"/>
    <p:sldId id="447" r:id="rId7"/>
    <p:sldId id="378" r:id="rId8"/>
    <p:sldId id="379" r:id="rId9"/>
    <p:sldId id="380" r:id="rId10"/>
    <p:sldId id="381" r:id="rId11"/>
    <p:sldId id="382" r:id="rId12"/>
    <p:sldId id="383" r:id="rId13"/>
    <p:sldId id="384" r:id="rId14"/>
    <p:sldId id="385" r:id="rId15"/>
    <p:sldId id="386" r:id="rId16"/>
    <p:sldId id="387" r:id="rId17"/>
    <p:sldId id="388" r:id="rId18"/>
    <p:sldId id="389" r:id="rId19"/>
    <p:sldId id="390" r:id="rId20"/>
    <p:sldId id="391" r:id="rId21"/>
    <p:sldId id="342" r:id="rId22"/>
    <p:sldId id="328" r:id="rId23"/>
    <p:sldId id="329" r:id="rId24"/>
    <p:sldId id="363" r:id="rId25"/>
    <p:sldId id="488" r:id="rId26"/>
    <p:sldId id="489" r:id="rId27"/>
    <p:sldId id="490" r:id="rId28"/>
    <p:sldId id="364" r:id="rId29"/>
    <p:sldId id="485" r:id="rId30"/>
    <p:sldId id="486" r:id="rId31"/>
    <p:sldId id="487" r:id="rId32"/>
    <p:sldId id="406" r:id="rId33"/>
    <p:sldId id="458" r:id="rId34"/>
    <p:sldId id="459" r:id="rId35"/>
    <p:sldId id="460" r:id="rId36"/>
    <p:sldId id="461" r:id="rId37"/>
    <p:sldId id="462" r:id="rId38"/>
    <p:sldId id="463" r:id="rId39"/>
    <p:sldId id="464" r:id="rId40"/>
    <p:sldId id="465" r:id="rId41"/>
    <p:sldId id="466" r:id="rId42"/>
    <p:sldId id="468" r:id="rId43"/>
    <p:sldId id="469" r:id="rId44"/>
    <p:sldId id="470" r:id="rId45"/>
    <p:sldId id="471" r:id="rId46"/>
    <p:sldId id="472" r:id="rId47"/>
    <p:sldId id="473" r:id="rId48"/>
    <p:sldId id="474" r:id="rId49"/>
    <p:sldId id="475" r:id="rId50"/>
    <p:sldId id="476" r:id="rId51"/>
    <p:sldId id="477" r:id="rId5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72822"/>
    <a:srgbClr val="28292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25" autoAdjust="0"/>
    <p:restoredTop sz="94660"/>
  </p:normalViewPr>
  <p:slideViewPr>
    <p:cSldViewPr snapToGrid="0">
      <p:cViewPr varScale="1">
        <p:scale>
          <a:sx n="131" d="100"/>
          <a:sy n="131" d="100"/>
        </p:scale>
        <p:origin x="352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B05E1F0-8524-4CC3-B49E-7E5035F2E75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01676A85-8FC4-4299-8FCF-D9BE67B448D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7006491-2BF5-414F-942D-ABA4E058F4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E77313-44B8-4788-ADD9-24941C435ACD}" type="datetimeFigureOut">
              <a:rPr lang="ko-KR" altLang="en-US" smtClean="0"/>
              <a:t>2023. 6. 12.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FEF1DD7-5E03-4DFF-AA0C-973795A531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61696A2-77D9-4745-BFA7-03AAFFC550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22C932-8CC0-4C0E-A3EF-CD0EEE39BCD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512462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266529C-ABDC-4A01-8EFC-6AF39C9351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05C68EC-D227-4FBC-B24F-E5039EC4F8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AEEBBDC-4E97-4163-A2F2-C4DE336C26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E77313-44B8-4788-ADD9-24941C435ACD}" type="datetimeFigureOut">
              <a:rPr lang="ko-KR" altLang="en-US" smtClean="0"/>
              <a:t>2023. 6. 12.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CBA4E7B-4B8E-4EBA-B3F0-4FF490D544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272C908-D7AA-4930-A373-417214921E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22C932-8CC0-4C0E-A3EF-CD0EEE39BCD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479182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AA1EE9E-55AF-4856-8923-AF7CE0815D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1" y="1709740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0F76A36-0E49-47B0-A9D9-42F40B0FD2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1" y="4589465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2510E8C-DE55-4190-8187-4214734640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E77313-44B8-4788-ADD9-24941C435ACD}" type="datetimeFigureOut">
              <a:rPr lang="ko-KR" altLang="en-US" smtClean="0"/>
              <a:t>2023. 6. 12.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9986F87-BAEA-43BB-9251-E6D721B17A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FF338B4-AB2E-49D4-88AC-A795703F44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22C932-8CC0-4C0E-A3EF-CD0EEE39BCD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52810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4B1C5E5-4F12-4351-897F-778298EB36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6EF8DF4-E72A-47F8-94DA-184210A0FB7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1A51D95F-5171-4766-BEFC-C0920A1D2EC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3B61E526-ED22-4391-A07D-EE4F7195F2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E77313-44B8-4788-ADD9-24941C435ACD}" type="datetimeFigureOut">
              <a:rPr lang="ko-KR" altLang="en-US" smtClean="0"/>
              <a:t>2023. 6. 12.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6C9BEBA5-246B-42FE-B7E9-0C2A96D138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131D912-E1CD-4639-BC47-78BF95E1D7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22C932-8CC0-4C0E-A3EF-CD0EEE39BCD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020471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31E50A6-965D-49B8-A1CA-59EDDAEA44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7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FE5412D-63C5-4FB0-94FF-E94F7E96A0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41A228B9-5AB5-4A4D-8FFA-84BA4848119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82B36B46-4DC2-41F4-9299-620ABB219A4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1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8A747344-6932-4185-8E46-F0033C2A779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1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54903DE3-C537-45D6-B2EA-ECD149C2E2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E77313-44B8-4788-ADD9-24941C435ACD}" type="datetimeFigureOut">
              <a:rPr lang="ko-KR" altLang="en-US" smtClean="0"/>
              <a:t>2023. 6. 12.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4FB1E261-6DB5-4F38-93EA-2604D2A930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5DA3E068-D038-4F36-AEF6-E4353D5F7E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22C932-8CC0-4C0E-A3EF-CD0EEE39BCD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840373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F1E5AE1-C767-452B-BB36-706555966B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CDD99332-E083-46E2-833F-A55823985D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E77313-44B8-4788-ADD9-24941C435ACD}" type="datetimeFigureOut">
              <a:rPr lang="ko-KR" altLang="en-US" smtClean="0"/>
              <a:t>2023. 6. 12.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F8F16A12-FE4A-4C5A-9609-5DE24B7125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98C9244E-8F4D-414E-8774-2EF451F98D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22C932-8CC0-4C0E-A3EF-CD0EEE39BCD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857138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5F652262-A77C-4BA0-8E40-39F59C55C3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E77313-44B8-4788-ADD9-24941C435ACD}" type="datetimeFigureOut">
              <a:rPr lang="ko-KR" altLang="en-US" smtClean="0"/>
              <a:t>2023. 6. 12.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3E590390-89F5-47CE-8FA9-C6CE311CE1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BAAED37-2CDB-4FF8-9587-863F5EBB58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22C932-8CC0-4C0E-A3EF-CD0EEE39BCD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852221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BFCBB66-2275-4EB8-98E9-8D007500AB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6EDB8EA-EC9F-4D0A-89FB-B882FD5EA0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7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21CD5BF6-F209-43FC-B353-4CF700636D7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CDB34D41-2A41-4D42-BBF4-ED4CEC15B6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E77313-44B8-4788-ADD9-24941C435ACD}" type="datetimeFigureOut">
              <a:rPr lang="ko-KR" altLang="en-US" smtClean="0"/>
              <a:t>2023. 6. 12.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FCB22434-F5D1-479B-B6B4-B4224C717E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4139913-F1B4-406B-999C-276BF9D96E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22C932-8CC0-4C0E-A3EF-CD0EEE39BCD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612672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A9F556E-CDE9-4053-BE0D-1C285183D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578AB41A-E195-4320-A09A-7DA86B77734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7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85AA1757-2684-4A1B-A51E-62F7C313E00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D117509-6DFA-4FC5-B348-62DF53C30B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E77313-44B8-4788-ADD9-24941C435ACD}" type="datetimeFigureOut">
              <a:rPr lang="ko-KR" altLang="en-US" smtClean="0"/>
              <a:t>2023. 6. 12.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B7343EA2-C638-433F-B3F0-0D3F405FC2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466EE0B3-A24B-47D3-9C8C-82D47F1D35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22C932-8CC0-4C0E-A3EF-CD0EEE39BCD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587012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33E1665-B0D6-40FA-9506-AB9CE47E15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6F486016-5673-4DE7-A0D4-B3DB406F7B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D7263F2-231B-4BC7-B457-D60CFC7C7B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E77313-44B8-4788-ADD9-24941C435ACD}" type="datetimeFigureOut">
              <a:rPr lang="ko-KR" altLang="en-US" smtClean="0"/>
              <a:t>2023. 6. 12.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CA27B3E-77B0-4131-B91C-CCAD803024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8AA5972-83A9-4686-9EA8-365734D2E6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22C932-8CC0-4C0E-A3EF-CD0EEE39BCD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690735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E167E591-C614-44CD-8268-2E66F1CA7D9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1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62AC5073-061D-428A-87CB-63F20E3F255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1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6D95EDF-B6AE-42FB-87A6-12A7F8CD0F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E77313-44B8-4788-ADD9-24941C435ACD}" type="datetimeFigureOut">
              <a:rPr lang="ko-KR" altLang="en-US" smtClean="0"/>
              <a:t>2023. 6. 12.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A880058-EE82-4EB1-A5FF-293183145C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C6A1A14-D1CD-42E1-AB55-8B0D4B0129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22C932-8CC0-4C0E-A3EF-CD0EEE39BCD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6807361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그림 8"/>
          <p:cNvPicPr>
            <a:picLocks noChangeAspect="1"/>
          </p:cNvPicPr>
          <p:nvPr userDrawn="1"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86675" y="6475455"/>
            <a:ext cx="1599456" cy="305159"/>
          </a:xfrm>
          <a:prstGeom prst="rect">
            <a:avLst/>
          </a:prstGeom>
        </p:spPr>
      </p:pic>
      <p:pic>
        <p:nvPicPr>
          <p:cNvPr id="4" name="그림 3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251" y="6227545"/>
            <a:ext cx="1487341" cy="6304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989115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159564" y="0"/>
            <a:ext cx="10032437" cy="1069514"/>
          </a:xfrm>
          <a:prstGeom prst="rect">
            <a:avLst/>
          </a:prstGeom>
        </p:spPr>
        <p:txBody>
          <a:bodyPr anchor="ctr"/>
          <a:lstStyle>
            <a:lvl1pPr>
              <a:defRPr b="1"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r>
              <a:rPr lang="en-US" altLang="ko-KR" dirty="0"/>
              <a:t> Click to add title</a:t>
            </a:r>
            <a:endParaRPr lang="ko-KR" altLang="en-US" dirty="0"/>
          </a:p>
        </p:txBody>
      </p:sp>
      <p:sp>
        <p:nvSpPr>
          <p:cNvPr id="4" name="Content Placeholder 2"/>
          <p:cNvSpPr>
            <a:spLocks noGrp="1"/>
          </p:cNvSpPr>
          <p:nvPr>
            <p:ph idx="1"/>
          </p:nvPr>
        </p:nvSpPr>
        <p:spPr>
          <a:xfrm>
            <a:off x="2831637" y="1268760"/>
            <a:ext cx="8750763" cy="460648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altLang="ko-KR" dirty="0"/>
              <a:t>Click to edit Master text styles</a:t>
            </a:r>
          </a:p>
        </p:txBody>
      </p:sp>
      <p:sp>
        <p:nvSpPr>
          <p:cNvPr id="5" name="Content Placeholder 2"/>
          <p:cNvSpPr>
            <a:spLocks noGrp="1"/>
          </p:cNvSpPr>
          <p:nvPr>
            <p:ph idx="10"/>
          </p:nvPr>
        </p:nvSpPr>
        <p:spPr>
          <a:xfrm>
            <a:off x="2845429" y="1844827"/>
            <a:ext cx="8750763" cy="4147865"/>
          </a:xfrm>
          <a:prstGeom prst="rect">
            <a:avLst/>
          </a:prstGeom>
        </p:spPr>
        <p:txBody>
          <a:bodyPr lIns="396000" anchor="t"/>
          <a:lstStyle>
            <a:lvl1pPr marL="0" indent="0"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altLang="ko-KR" dirty="0"/>
              <a:t>Click to edit Master text styles</a:t>
            </a:r>
          </a:p>
        </p:txBody>
      </p:sp>
      <p:pic>
        <p:nvPicPr>
          <p:cNvPr id="6" name="그림 5"/>
          <p:cNvPicPr>
            <a:picLocks noChangeAspect="1"/>
          </p:cNvPicPr>
          <p:nvPr userDrawn="1"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86675" y="6475455"/>
            <a:ext cx="1599456" cy="305159"/>
          </a:xfrm>
          <a:prstGeom prst="rect">
            <a:avLst/>
          </a:prstGeom>
        </p:spPr>
      </p:pic>
      <p:sp>
        <p:nvSpPr>
          <p:cNvPr id="8" name="직사각형 7"/>
          <p:cNvSpPr/>
          <p:nvPr userDrawn="1"/>
        </p:nvSpPr>
        <p:spPr>
          <a:xfrm>
            <a:off x="11600101" y="6084004"/>
            <a:ext cx="48603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fld id="{F68327C5-B821-4FE9-A59A-A60D9EB59A9A}" type="slidenum">
              <a:rPr lang="en-US" altLang="ko-KR" sz="1800" b="1" smtClean="0"/>
              <a:pPr/>
              <a:t>‹#›</a:t>
            </a:fld>
            <a:endParaRPr lang="ko-KR" altLang="en-US" sz="1800" b="1" dirty="0"/>
          </a:p>
        </p:txBody>
      </p:sp>
      <p:pic>
        <p:nvPicPr>
          <p:cNvPr id="9" name="그림 8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251" y="6227545"/>
            <a:ext cx="1487341" cy="6304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35833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6C1AE28A-9AF5-4345-BAA8-F2627B1A8A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859A923-1702-45D5-8F97-46862974E3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2E0F446-B23E-4784-B1D1-7149B03C564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3E77313-44B8-4788-ADD9-24941C435ACD}" type="datetimeFigureOut">
              <a:rPr lang="ko-KR" altLang="en-US" smtClean="0"/>
              <a:t>2023. 6. 12.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A306E1F-5623-4BC1-AB0D-B7A002CD755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7753DFE-EEA5-4C95-9ED9-B8C471B7520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A22C932-8CC0-4C0E-A3EF-CD0EEE39BCD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545166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domjudge.postech.ac.kr/" TargetMode="External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" y="1810749"/>
            <a:ext cx="12192000" cy="36317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5000" b="1" dirty="0">
                <a:solidFill>
                  <a:schemeClr val="accent1">
                    <a:lumMod val="75000"/>
                  </a:schemeClr>
                </a:solidFill>
              </a:rPr>
              <a:t>알고리즘 실습</a:t>
            </a:r>
            <a:endParaRPr lang="en-US" altLang="ko-KR" sz="5000" b="1" dirty="0">
              <a:solidFill>
                <a:schemeClr val="accent1">
                  <a:lumMod val="75000"/>
                </a:schemeClr>
              </a:solidFill>
            </a:endParaRPr>
          </a:p>
          <a:p>
            <a:pPr algn="ctr"/>
            <a:endParaRPr lang="en-US" altLang="ko-KR" sz="5000" b="1" dirty="0">
              <a:solidFill>
                <a:schemeClr val="accent1">
                  <a:lumMod val="75000"/>
                </a:schemeClr>
              </a:solidFill>
            </a:endParaRPr>
          </a:p>
          <a:p>
            <a:pPr algn="ctr"/>
            <a:endParaRPr lang="en-US" altLang="ko-KR" sz="5000" b="1" dirty="0">
              <a:solidFill>
                <a:schemeClr val="accent1">
                  <a:lumMod val="75000"/>
                </a:schemeClr>
              </a:solidFill>
            </a:endParaRPr>
          </a:p>
          <a:p>
            <a:pPr algn="ctr"/>
            <a:endParaRPr lang="en-US" altLang="ko-KR" sz="4000" b="1" dirty="0">
              <a:solidFill>
                <a:schemeClr val="accent1">
                  <a:lumMod val="75000"/>
                </a:schemeClr>
              </a:solidFill>
            </a:endParaRPr>
          </a:p>
          <a:p>
            <a:pPr algn="ctr"/>
            <a:r>
              <a:rPr lang="en-US" altLang="ko-KR" sz="4000" b="1" dirty="0">
                <a:solidFill>
                  <a:schemeClr val="accent1">
                    <a:lumMod val="75000"/>
                  </a:schemeClr>
                </a:solidFill>
              </a:rPr>
              <a:t>DomJudge </a:t>
            </a:r>
            <a:r>
              <a:rPr lang="ko-KR" altLang="en-US" sz="4000" b="1" dirty="0" err="1">
                <a:solidFill>
                  <a:schemeClr val="accent1">
                    <a:lumMod val="75000"/>
                  </a:schemeClr>
                </a:solidFill>
              </a:rPr>
              <a:t>튜토리얼</a:t>
            </a:r>
            <a:r>
              <a:rPr lang="ko-KR" altLang="en-US" sz="4000" b="1" dirty="0">
                <a:solidFill>
                  <a:schemeClr val="accent1">
                    <a:lumMod val="75000"/>
                  </a:schemeClr>
                </a:solidFill>
              </a:rPr>
              <a:t> 및 자료구조 실습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1179807"/>
            <a:ext cx="12192000" cy="6309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3500" b="1" dirty="0">
                <a:solidFill>
                  <a:schemeClr val="accent1">
                    <a:lumMod val="50000"/>
                  </a:schemeClr>
                </a:solidFill>
              </a:rPr>
              <a:t>청년 </a:t>
            </a:r>
            <a:r>
              <a:rPr lang="en-US" altLang="ko-KR" sz="3500" b="1" dirty="0">
                <a:solidFill>
                  <a:schemeClr val="accent1">
                    <a:lumMod val="50000"/>
                  </a:schemeClr>
                </a:solidFill>
              </a:rPr>
              <a:t>AI </a:t>
            </a:r>
            <a:r>
              <a:rPr lang="ko-KR" altLang="en-US" sz="3500" b="1">
                <a:solidFill>
                  <a:schemeClr val="accent1">
                    <a:lumMod val="50000"/>
                  </a:schemeClr>
                </a:solidFill>
              </a:rPr>
              <a:t>아카데미 </a:t>
            </a:r>
            <a:r>
              <a:rPr lang="en-US" altLang="ko-KR" sz="3500" b="1">
                <a:solidFill>
                  <a:schemeClr val="accent1">
                    <a:lumMod val="50000"/>
                  </a:schemeClr>
                </a:solidFill>
              </a:rPr>
              <a:t>22</a:t>
            </a:r>
            <a:r>
              <a:rPr lang="ko-KR" altLang="en-US" sz="3500" b="1">
                <a:solidFill>
                  <a:schemeClr val="accent1">
                    <a:lumMod val="50000"/>
                  </a:schemeClr>
                </a:solidFill>
              </a:rPr>
              <a:t>기</a:t>
            </a:r>
            <a:endParaRPr lang="ko-KR" altLang="en-US" sz="3500" b="1" dirty="0">
              <a:solidFill>
                <a:schemeClr val="accent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347321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792224" y="285000"/>
            <a:ext cx="8607552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chemeClr val="accent1">
                    <a:lumMod val="75000"/>
                  </a:schemeClr>
                </a:solidFill>
              </a:rPr>
              <a:t>Orientation</a:t>
            </a:r>
          </a:p>
        </p:txBody>
      </p:sp>
      <p:sp>
        <p:nvSpPr>
          <p:cNvPr id="6" name="직사각형 5"/>
          <p:cNvSpPr/>
          <p:nvPr/>
        </p:nvSpPr>
        <p:spPr>
          <a:xfrm>
            <a:off x="1510351" y="1455663"/>
            <a:ext cx="9171297" cy="31947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</a:pPr>
            <a:r>
              <a:rPr lang="en-US" altLang="ko-KR" b="1" dirty="0">
                <a:latin typeface="+mn-ea"/>
              </a:rPr>
              <a:t>TA</a:t>
            </a:r>
          </a:p>
          <a:p>
            <a:pPr marL="285750" indent="-285750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en-US" altLang="ko-KR" dirty="0">
                <a:latin typeface="+mn-ea"/>
              </a:rPr>
              <a:t>A</a:t>
            </a:r>
            <a:r>
              <a:rPr lang="ko-KR" altLang="en-US" dirty="0">
                <a:latin typeface="+mn-ea"/>
              </a:rPr>
              <a:t>반</a:t>
            </a:r>
            <a:r>
              <a:rPr lang="en-US" altLang="ko-KR">
                <a:latin typeface="+mn-ea"/>
              </a:rPr>
              <a:t>: </a:t>
            </a:r>
            <a:r>
              <a:rPr lang="ko-KR" altLang="en-US">
                <a:latin typeface="+mn-ea"/>
              </a:rPr>
              <a:t>강석윤 </a:t>
            </a:r>
            <a:r>
              <a:rPr lang="en-US" altLang="ko-KR">
                <a:latin typeface="+mn-ea"/>
              </a:rPr>
              <a:t>(</a:t>
            </a:r>
            <a:r>
              <a:rPr lang="en-US" altLang="ko-KR"/>
              <a:t>sykang0330</a:t>
            </a:r>
            <a:r>
              <a:rPr lang="en-US" altLang="ko-KR">
                <a:latin typeface="+mn-ea"/>
              </a:rPr>
              <a:t>@</a:t>
            </a:r>
            <a:r>
              <a:rPr lang="en-US" altLang="ko-KR" dirty="0">
                <a:latin typeface="+mn-ea"/>
              </a:rPr>
              <a:t>postech.ac.kr)</a:t>
            </a:r>
          </a:p>
          <a:p>
            <a:pPr marL="285750" indent="-285750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en-US" altLang="ko-KR" dirty="0">
                <a:latin typeface="+mn-ea"/>
              </a:rPr>
              <a:t>B</a:t>
            </a:r>
            <a:r>
              <a:rPr lang="ko-KR" altLang="en-US" dirty="0">
                <a:latin typeface="+mn-ea"/>
              </a:rPr>
              <a:t>반</a:t>
            </a:r>
            <a:r>
              <a:rPr lang="en-US" altLang="ko-KR">
                <a:latin typeface="+mn-ea"/>
              </a:rPr>
              <a:t>: </a:t>
            </a:r>
            <a:r>
              <a:rPr lang="ko-KR" altLang="en-US">
                <a:latin typeface="+mn-ea"/>
              </a:rPr>
              <a:t>김휘 </a:t>
            </a:r>
            <a:r>
              <a:rPr lang="en-US" altLang="ko-KR">
                <a:latin typeface="+mn-ea"/>
              </a:rPr>
              <a:t>(hwikim@</a:t>
            </a:r>
            <a:r>
              <a:rPr lang="en-US" altLang="ko-KR" dirty="0">
                <a:latin typeface="+mn-ea"/>
              </a:rPr>
              <a:t>postech.ac.kr)</a:t>
            </a:r>
          </a:p>
          <a:p>
            <a:pPr marL="285750" indent="-285750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en-US" altLang="ko-KR" dirty="0">
                <a:latin typeface="+mn-ea"/>
              </a:rPr>
              <a:t>C</a:t>
            </a:r>
            <a:r>
              <a:rPr lang="ko-KR" altLang="en-US" dirty="0">
                <a:latin typeface="+mn-ea"/>
              </a:rPr>
              <a:t>반</a:t>
            </a:r>
            <a:r>
              <a:rPr lang="en-US" altLang="ko-KR">
                <a:latin typeface="+mn-ea"/>
              </a:rPr>
              <a:t>: </a:t>
            </a:r>
            <a:r>
              <a:rPr lang="ko-KR" altLang="en-US">
                <a:latin typeface="+mn-ea"/>
              </a:rPr>
              <a:t>한지선 </a:t>
            </a:r>
            <a:r>
              <a:rPr lang="en-US" altLang="ko-KR">
                <a:latin typeface="+mn-ea"/>
              </a:rPr>
              <a:t>(</a:t>
            </a:r>
            <a:r>
              <a:rPr lang="en-US" altLang="ko-KR"/>
              <a:t>6627hjs</a:t>
            </a:r>
            <a:r>
              <a:rPr lang="en-US" altLang="ko-KR">
                <a:latin typeface="+mn-ea"/>
              </a:rPr>
              <a:t>@</a:t>
            </a:r>
            <a:r>
              <a:rPr lang="en-US" altLang="ko-KR" dirty="0">
                <a:latin typeface="+mn-ea"/>
              </a:rPr>
              <a:t>postech.ac.kr)</a:t>
            </a:r>
          </a:p>
          <a:p>
            <a:pPr>
              <a:lnSpc>
                <a:spcPct val="140000"/>
              </a:lnSpc>
            </a:pPr>
            <a:endParaRPr lang="en-US" altLang="ko-KR" dirty="0">
              <a:latin typeface="+mn-ea"/>
            </a:endParaRPr>
          </a:p>
          <a:p>
            <a:pPr>
              <a:lnSpc>
                <a:spcPct val="140000"/>
              </a:lnSpc>
            </a:pPr>
            <a:r>
              <a:rPr lang="ko-KR" altLang="en-US" b="1" dirty="0">
                <a:latin typeface="+mn-ea"/>
              </a:rPr>
              <a:t>평가</a:t>
            </a:r>
            <a:endParaRPr lang="en-US" altLang="ko-KR" b="1" dirty="0">
              <a:latin typeface="+mn-ea"/>
            </a:endParaRPr>
          </a:p>
          <a:p>
            <a:pPr marL="285750" indent="-285750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ko-KR" altLang="en-US" dirty="0">
                <a:latin typeface="+mn-ea"/>
              </a:rPr>
              <a:t>과제 </a:t>
            </a:r>
            <a:r>
              <a:rPr lang="en-US" altLang="ko-KR" dirty="0">
                <a:latin typeface="+mn-ea"/>
              </a:rPr>
              <a:t>90% (3</a:t>
            </a:r>
            <a:r>
              <a:rPr lang="ko-KR" altLang="en-US" dirty="0">
                <a:latin typeface="+mn-ea"/>
              </a:rPr>
              <a:t>문제 예정</a:t>
            </a:r>
            <a:r>
              <a:rPr lang="en-US" altLang="ko-KR" dirty="0">
                <a:latin typeface="+mn-ea"/>
              </a:rPr>
              <a:t>)</a:t>
            </a:r>
          </a:p>
          <a:p>
            <a:pPr marL="285750" indent="-285750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ko-KR" altLang="en-US" dirty="0">
                <a:latin typeface="+mn-ea"/>
              </a:rPr>
              <a:t>시험 </a:t>
            </a:r>
            <a:r>
              <a:rPr lang="en-US" altLang="ko-KR" dirty="0">
                <a:latin typeface="+mn-ea"/>
              </a:rPr>
              <a:t>10% (</a:t>
            </a:r>
            <a:r>
              <a:rPr lang="ko-KR" altLang="en-US" dirty="0">
                <a:latin typeface="+mn-ea"/>
              </a:rPr>
              <a:t>총점 </a:t>
            </a:r>
            <a:r>
              <a:rPr lang="en-US" altLang="ko-KR" dirty="0">
                <a:latin typeface="+mn-ea"/>
              </a:rPr>
              <a:t>10</a:t>
            </a:r>
            <a:r>
              <a:rPr lang="ko-KR" altLang="en-US" dirty="0">
                <a:latin typeface="+mn-ea"/>
              </a:rPr>
              <a:t>점</a:t>
            </a:r>
            <a:r>
              <a:rPr lang="en-US" altLang="ko-KR" dirty="0">
                <a:latin typeface="+mn-ea"/>
              </a:rPr>
              <a:t>, 3</a:t>
            </a:r>
            <a:r>
              <a:rPr lang="ko-KR" altLang="en-US" dirty="0">
                <a:latin typeface="+mn-ea"/>
              </a:rPr>
              <a:t>문제 내외 예정</a:t>
            </a:r>
            <a:r>
              <a:rPr lang="en-US" altLang="ko-KR">
                <a:latin typeface="+mn-ea"/>
              </a:rPr>
              <a:t>,</a:t>
            </a:r>
            <a:r>
              <a:rPr lang="ko-KR" altLang="en-US">
                <a:latin typeface="+mn-ea"/>
              </a:rPr>
              <a:t> </a:t>
            </a:r>
            <a:r>
              <a:rPr lang="en-US" altLang="ko-KR">
                <a:latin typeface="+mn-ea"/>
              </a:rPr>
              <a:t>6/15</a:t>
            </a:r>
            <a:r>
              <a:rPr lang="ko-KR" altLang="en-US">
                <a:latin typeface="+mn-ea"/>
              </a:rPr>
              <a:t> </a:t>
            </a:r>
            <a:r>
              <a:rPr lang="en-US" altLang="ko-KR">
                <a:latin typeface="+mn-ea"/>
              </a:rPr>
              <a:t>17:00-18:00</a:t>
            </a:r>
            <a:r>
              <a:rPr lang="en-US" altLang="ko-KR" dirty="0">
                <a:latin typeface="+mn-ea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5506453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792224" y="285000"/>
            <a:ext cx="8607552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ko-KR" altLang="en-US" sz="3600" b="1" dirty="0">
                <a:solidFill>
                  <a:schemeClr val="accent1">
                    <a:lumMod val="75000"/>
                  </a:schemeClr>
                </a:solidFill>
              </a:rPr>
              <a:t>알고리즘 실습의 목표</a:t>
            </a:r>
            <a:endParaRPr lang="en-US" sz="36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6" name="직사각형 5"/>
          <p:cNvSpPr/>
          <p:nvPr/>
        </p:nvSpPr>
        <p:spPr>
          <a:xfrm>
            <a:off x="1510351" y="1455663"/>
            <a:ext cx="9171297" cy="470115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</a:pPr>
            <a:r>
              <a:rPr lang="ko-KR" altLang="en-US" b="1" dirty="0">
                <a:latin typeface="+mn-ea"/>
              </a:rPr>
              <a:t>알고리즘</a:t>
            </a:r>
            <a:r>
              <a:rPr lang="en-US" altLang="ko-KR" b="1" dirty="0">
                <a:latin typeface="+mn-ea"/>
              </a:rPr>
              <a:t>: Input </a:t>
            </a:r>
            <a:r>
              <a:rPr lang="en-US" altLang="ko-KR" b="1" dirty="0">
                <a:latin typeface="+mn-ea"/>
                <a:sym typeface="Wingdings" panose="05000000000000000000" pitchFamily="2" charset="2"/>
              </a:rPr>
              <a:t></a:t>
            </a:r>
            <a:r>
              <a:rPr lang="en-US" altLang="ko-KR" b="1" dirty="0">
                <a:latin typeface="+mn-ea"/>
              </a:rPr>
              <a:t> HOW?? </a:t>
            </a:r>
            <a:r>
              <a:rPr lang="en-US" altLang="ko-KR" b="1" dirty="0">
                <a:latin typeface="+mn-ea"/>
                <a:sym typeface="Wingdings" panose="05000000000000000000" pitchFamily="2" charset="2"/>
              </a:rPr>
              <a:t></a:t>
            </a:r>
            <a:r>
              <a:rPr lang="en-US" altLang="ko-KR" b="1" dirty="0">
                <a:latin typeface="+mn-ea"/>
              </a:rPr>
              <a:t> Output</a:t>
            </a:r>
          </a:p>
          <a:p>
            <a:pPr marL="285750" indent="-285750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ko-KR" altLang="en-US" dirty="0">
                <a:latin typeface="+mn-ea"/>
              </a:rPr>
              <a:t>알고리즘은 왜 중요한가요</a:t>
            </a:r>
            <a:r>
              <a:rPr lang="en-US" altLang="ko-KR" dirty="0">
                <a:latin typeface="+mn-ea"/>
              </a:rPr>
              <a:t>? (feat. </a:t>
            </a:r>
            <a:r>
              <a:rPr lang="ko-KR" altLang="en-US" dirty="0">
                <a:latin typeface="+mn-ea"/>
              </a:rPr>
              <a:t>수학은 왜 중요한가요</a:t>
            </a:r>
            <a:r>
              <a:rPr lang="en-US" altLang="ko-KR" dirty="0">
                <a:latin typeface="+mn-ea"/>
              </a:rPr>
              <a:t>?)</a:t>
            </a:r>
          </a:p>
          <a:p>
            <a:pPr marL="285750" indent="-285750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ko-KR" altLang="en-US" dirty="0">
                <a:latin typeface="+mn-ea"/>
              </a:rPr>
              <a:t>컴퓨터 학문의 기초이자</a:t>
            </a:r>
            <a:r>
              <a:rPr lang="en-US" altLang="ko-KR" dirty="0">
                <a:latin typeface="+mn-ea"/>
              </a:rPr>
              <a:t>, </a:t>
            </a:r>
            <a:r>
              <a:rPr lang="ko-KR" altLang="en-US" dirty="0">
                <a:latin typeface="+mn-ea"/>
              </a:rPr>
              <a:t>컴퓨터처럼 접근하는 사고능력과 논리를 기를 수 있습니다</a:t>
            </a:r>
            <a:r>
              <a:rPr lang="en-US" altLang="ko-KR" dirty="0">
                <a:latin typeface="+mn-ea"/>
              </a:rPr>
              <a:t>!</a:t>
            </a:r>
          </a:p>
          <a:p>
            <a:pPr>
              <a:lnSpc>
                <a:spcPct val="140000"/>
              </a:lnSpc>
            </a:pPr>
            <a:endParaRPr lang="en-US" altLang="ko-KR" dirty="0">
              <a:latin typeface="+mn-ea"/>
            </a:endParaRPr>
          </a:p>
          <a:p>
            <a:pPr>
              <a:lnSpc>
                <a:spcPct val="140000"/>
              </a:lnSpc>
            </a:pPr>
            <a:r>
              <a:rPr lang="ko-KR" altLang="en-US" b="1" dirty="0">
                <a:latin typeface="+mn-ea"/>
              </a:rPr>
              <a:t>알고리즘 실습의 중점적인 목표</a:t>
            </a:r>
            <a:endParaRPr lang="en-US" altLang="ko-KR" b="1" dirty="0">
              <a:latin typeface="+mn-ea"/>
            </a:endParaRPr>
          </a:p>
          <a:p>
            <a:pPr marL="285750" indent="-285750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ko-KR" altLang="en-US" dirty="0">
                <a:latin typeface="+mn-ea"/>
              </a:rPr>
              <a:t>계산 문제를 해결할 때 주로 사용되는 기법</a:t>
            </a:r>
            <a:r>
              <a:rPr lang="en-US" altLang="ko-KR" dirty="0">
                <a:latin typeface="+mn-ea"/>
              </a:rPr>
              <a:t>(</a:t>
            </a:r>
            <a:r>
              <a:rPr lang="ko-KR" altLang="en-US" dirty="0">
                <a:latin typeface="+mn-ea"/>
              </a:rPr>
              <a:t>알고리즘</a:t>
            </a:r>
            <a:r>
              <a:rPr lang="en-US" altLang="ko-KR" dirty="0">
                <a:latin typeface="+mn-ea"/>
              </a:rPr>
              <a:t>)</a:t>
            </a:r>
            <a:r>
              <a:rPr lang="ko-KR" altLang="en-US" dirty="0">
                <a:latin typeface="+mn-ea"/>
              </a:rPr>
              <a:t>의 </a:t>
            </a:r>
            <a:r>
              <a:rPr lang="ko-KR" altLang="en-US" b="1" dirty="0">
                <a:latin typeface="+mn-ea"/>
              </a:rPr>
              <a:t>개념</a:t>
            </a:r>
            <a:r>
              <a:rPr lang="ko-KR" altLang="en-US" dirty="0">
                <a:latin typeface="+mn-ea"/>
              </a:rPr>
              <a:t>을 배웁니다</a:t>
            </a:r>
            <a:r>
              <a:rPr lang="en-US" altLang="ko-KR" dirty="0">
                <a:latin typeface="+mn-ea"/>
              </a:rPr>
              <a:t>.</a:t>
            </a:r>
          </a:p>
          <a:p>
            <a:pPr lvl="1">
              <a:lnSpc>
                <a:spcPct val="140000"/>
              </a:lnSpc>
            </a:pPr>
            <a:r>
              <a:rPr lang="en-US" altLang="ko-KR" dirty="0">
                <a:latin typeface="+mn-ea"/>
              </a:rPr>
              <a:t>Ex&gt; </a:t>
            </a:r>
            <a:r>
              <a:rPr lang="ko-KR" altLang="en-US" dirty="0">
                <a:latin typeface="+mn-ea"/>
              </a:rPr>
              <a:t>분할 정복</a:t>
            </a:r>
            <a:r>
              <a:rPr lang="en-US" altLang="ko-KR" dirty="0">
                <a:latin typeface="+mn-ea"/>
              </a:rPr>
              <a:t>, </a:t>
            </a:r>
            <a:r>
              <a:rPr lang="ko-KR" altLang="en-US" dirty="0">
                <a:latin typeface="+mn-ea"/>
              </a:rPr>
              <a:t>욕심쟁이 기법</a:t>
            </a:r>
            <a:r>
              <a:rPr lang="en-US" altLang="ko-KR" dirty="0">
                <a:latin typeface="+mn-ea"/>
              </a:rPr>
              <a:t>, </a:t>
            </a:r>
            <a:r>
              <a:rPr lang="ko-KR" altLang="en-US" dirty="0">
                <a:latin typeface="+mn-ea"/>
              </a:rPr>
              <a:t>동적 계획법 등</a:t>
            </a:r>
            <a:r>
              <a:rPr lang="en-US" altLang="ko-KR" dirty="0">
                <a:latin typeface="+mn-ea"/>
              </a:rPr>
              <a:t>…</a:t>
            </a:r>
          </a:p>
          <a:p>
            <a:pPr marL="285750" indent="-285750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ko-KR" altLang="en-US" dirty="0">
                <a:latin typeface="+mn-ea"/>
              </a:rPr>
              <a:t>이론을 바탕으로 </a:t>
            </a:r>
            <a:r>
              <a:rPr lang="ko-KR" altLang="en-US" b="1" dirty="0">
                <a:latin typeface="+mn-ea"/>
              </a:rPr>
              <a:t>대표적인 알고리즘 및 문제</a:t>
            </a:r>
            <a:r>
              <a:rPr lang="ko-KR" altLang="en-US" dirty="0">
                <a:latin typeface="+mn-ea"/>
              </a:rPr>
              <a:t> 등을 실습합니다</a:t>
            </a:r>
            <a:r>
              <a:rPr lang="en-US" altLang="ko-KR" dirty="0">
                <a:latin typeface="+mn-ea"/>
              </a:rPr>
              <a:t>.</a:t>
            </a:r>
          </a:p>
          <a:p>
            <a:pPr lvl="1">
              <a:lnSpc>
                <a:spcPct val="140000"/>
              </a:lnSpc>
            </a:pPr>
            <a:r>
              <a:rPr lang="en-US" altLang="ko-KR" dirty="0">
                <a:latin typeface="+mn-ea"/>
              </a:rPr>
              <a:t>Ex&gt; Knapsack, BFS, DFS </a:t>
            </a:r>
            <a:r>
              <a:rPr lang="ko-KR" altLang="en-US" dirty="0">
                <a:latin typeface="+mn-ea"/>
              </a:rPr>
              <a:t>등</a:t>
            </a:r>
            <a:r>
              <a:rPr lang="en-US" altLang="ko-KR" dirty="0">
                <a:latin typeface="+mn-ea"/>
              </a:rPr>
              <a:t>…</a:t>
            </a:r>
          </a:p>
          <a:p>
            <a:pPr marL="285750" indent="-285750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ko-KR" altLang="en-US" dirty="0">
                <a:latin typeface="+mn-ea"/>
              </a:rPr>
              <a:t>강의 내용을 </a:t>
            </a:r>
            <a:r>
              <a:rPr lang="ko-KR" altLang="en-US" b="1" dirty="0">
                <a:latin typeface="+mn-ea"/>
              </a:rPr>
              <a:t>응용</a:t>
            </a:r>
            <a:r>
              <a:rPr lang="ko-KR" altLang="en-US" dirty="0">
                <a:latin typeface="+mn-ea"/>
              </a:rPr>
              <a:t>하여 새로운 문제를 스스로 해결하는 </a:t>
            </a:r>
            <a:r>
              <a:rPr lang="ko-KR" altLang="en-US" b="1" dirty="0">
                <a:latin typeface="+mn-ea"/>
              </a:rPr>
              <a:t>연습</a:t>
            </a:r>
            <a:r>
              <a:rPr lang="ko-KR" altLang="en-US" dirty="0">
                <a:latin typeface="+mn-ea"/>
              </a:rPr>
              <a:t>을 합니다</a:t>
            </a:r>
            <a:r>
              <a:rPr lang="en-US" altLang="ko-KR" dirty="0">
                <a:latin typeface="+mn-ea"/>
              </a:rPr>
              <a:t>.</a:t>
            </a:r>
          </a:p>
          <a:p>
            <a:pPr marL="285750" indent="-285750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ko-KR" altLang="en-US" dirty="0">
                <a:latin typeface="+mn-ea"/>
              </a:rPr>
              <a:t>설계한 알고리즘의 분석 및 </a:t>
            </a:r>
            <a:r>
              <a:rPr lang="ko-KR" altLang="en-US" b="1" dirty="0">
                <a:latin typeface="+mn-ea"/>
              </a:rPr>
              <a:t>코드로 구현</a:t>
            </a:r>
            <a:r>
              <a:rPr lang="ko-KR" altLang="en-US" dirty="0">
                <a:latin typeface="+mn-ea"/>
              </a:rPr>
              <a:t>하는 연습을 합니다</a:t>
            </a:r>
            <a:r>
              <a:rPr lang="en-US" altLang="ko-KR" dirty="0">
                <a:latin typeface="+mn-ea"/>
              </a:rPr>
              <a:t>.</a:t>
            </a:r>
          </a:p>
          <a:p>
            <a:pPr lvl="1">
              <a:lnSpc>
                <a:spcPct val="140000"/>
              </a:lnSpc>
            </a:pPr>
            <a:r>
              <a:rPr lang="en-US" altLang="ko-KR" dirty="0">
                <a:latin typeface="+mn-ea"/>
                <a:sym typeface="Wingdings" panose="05000000000000000000" pitchFamily="2" charset="2"/>
              </a:rPr>
              <a:t> </a:t>
            </a:r>
            <a:r>
              <a:rPr lang="ko-KR" altLang="en-US" dirty="0">
                <a:latin typeface="+mn-ea"/>
                <a:sym typeface="Wingdings" panose="05000000000000000000" pitchFamily="2" charset="2"/>
              </a:rPr>
              <a:t>바로 </a:t>
            </a:r>
            <a:r>
              <a:rPr lang="ko-KR" altLang="en-US" dirty="0">
                <a:latin typeface="+mn-ea"/>
              </a:rPr>
              <a:t>코딩보다는</a:t>
            </a:r>
            <a:r>
              <a:rPr lang="en-US" altLang="ko-KR" dirty="0">
                <a:latin typeface="+mn-ea"/>
              </a:rPr>
              <a:t>...</a:t>
            </a:r>
          </a:p>
        </p:txBody>
      </p:sp>
    </p:spTree>
    <p:extLst>
      <p:ext uri="{BB962C8B-B14F-4D97-AF65-F5344CB8AC3E}">
        <p14:creationId xmlns:p14="http://schemas.microsoft.com/office/powerpoint/2010/main" val="31937053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792224" y="285000"/>
            <a:ext cx="8607552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ko-KR" altLang="en-US" sz="3600" b="1" dirty="0">
                <a:solidFill>
                  <a:schemeClr val="accent1">
                    <a:lumMod val="75000"/>
                  </a:schemeClr>
                </a:solidFill>
              </a:rPr>
              <a:t>알고리즘 실습의 목표</a:t>
            </a:r>
            <a:endParaRPr lang="en-US" sz="36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29E40A88-5617-9E97-7910-5FE3EA0853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54089" y="1610126"/>
            <a:ext cx="7483822" cy="35022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91300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792224" y="285000"/>
            <a:ext cx="8607552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ko-KR" altLang="en-US" sz="3600" b="1" dirty="0">
                <a:solidFill>
                  <a:schemeClr val="accent1">
                    <a:lumMod val="75000"/>
                  </a:schemeClr>
                </a:solidFill>
              </a:rPr>
              <a:t>효율적인 알고리즘 설계의 중요성</a:t>
            </a:r>
            <a:endParaRPr lang="en-US" sz="36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9962" y="1940556"/>
            <a:ext cx="6977571" cy="2803378"/>
          </a:xfrm>
          <a:prstGeom prst="rect">
            <a:avLst/>
          </a:prstGeom>
        </p:spPr>
      </p:pic>
      <p:pic>
        <p:nvPicPr>
          <p:cNvPr id="3" name="그림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61373" y="1879596"/>
            <a:ext cx="2847083" cy="2864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7689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0" y="285000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chemeClr val="accent1">
                    <a:lumMod val="75000"/>
                  </a:schemeClr>
                </a:solidFill>
              </a:rPr>
              <a:t>Today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CBC92CB-76E2-4F83-9467-89CD381C5BC3}"/>
              </a:ext>
            </a:extLst>
          </p:cNvPr>
          <p:cNvSpPr txBox="1"/>
          <p:nvPr/>
        </p:nvSpPr>
        <p:spPr>
          <a:xfrm>
            <a:off x="2511198" y="1653860"/>
            <a:ext cx="4883603" cy="3264483"/>
          </a:xfrm>
          <a:prstGeom prst="rect">
            <a:avLst/>
          </a:prstGeom>
          <a:solidFill>
            <a:sysClr val="window" lastClr="FFFFFF"/>
          </a:solidFill>
        </p:spPr>
        <p:txBody>
          <a:bodyPr wrap="square" rtlCol="0">
            <a:spAutoFit/>
          </a:bodyPr>
          <a:lstStyle/>
          <a:p>
            <a:pPr marL="285750" lvl="0" indent="-285750" algn="just" latinLnBrk="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ko-KR" altLang="en-US" sz="2000" b="1" dirty="0"/>
              <a:t>수업 진행 방식 소개</a:t>
            </a:r>
            <a:endParaRPr lang="en-US" altLang="ko-KR" sz="2000" b="1" dirty="0"/>
          </a:p>
          <a:p>
            <a:pPr marL="742950" lvl="1" indent="-285750" algn="just" latinLnBrk="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en-US" altLang="ko-KR" sz="2000" dirty="0" err="1"/>
              <a:t>Domjudge</a:t>
            </a:r>
            <a:r>
              <a:rPr lang="en-US" altLang="ko-KR" sz="2000" dirty="0"/>
              <a:t> </a:t>
            </a:r>
            <a:r>
              <a:rPr lang="ko-KR" altLang="en-US" sz="2000" dirty="0"/>
              <a:t>사용법</a:t>
            </a:r>
            <a:endParaRPr lang="en-US" altLang="ko-KR" sz="2000" dirty="0"/>
          </a:p>
          <a:p>
            <a:pPr marL="742950" lvl="1" indent="-285750" algn="just" latinLnBrk="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endParaRPr lang="en-US" altLang="ko-KR" sz="2000" b="1" dirty="0"/>
          </a:p>
          <a:p>
            <a:pPr marL="285750" lvl="0" indent="-285750" algn="just" latinLnBrk="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ko-KR" altLang="en-US" sz="2000" b="1" dirty="0"/>
              <a:t>자료구조</a:t>
            </a:r>
            <a:endParaRPr lang="en-US" altLang="ko-KR" sz="2000" b="1" dirty="0"/>
          </a:p>
          <a:p>
            <a:pPr marL="742950" lvl="1" indent="-285750" algn="just" latinLnBrk="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ko-KR" altLang="en-US" sz="2000" dirty="0"/>
              <a:t>스택</a:t>
            </a:r>
            <a:endParaRPr lang="en-US" altLang="ko-KR" sz="2000" dirty="0"/>
          </a:p>
          <a:p>
            <a:pPr marL="742950" lvl="1" indent="-285750" algn="just" latinLnBrk="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ko-KR" altLang="en-US" sz="2000" dirty="0"/>
              <a:t>큐</a:t>
            </a:r>
            <a:endParaRPr lang="en-US" altLang="ko-KR" sz="2000" dirty="0"/>
          </a:p>
          <a:p>
            <a:pPr marL="742950" lvl="1" indent="-285750" algn="just" latinLnBrk="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ko-KR" altLang="en-US" sz="2000" dirty="0"/>
              <a:t>우선순위 큐</a:t>
            </a:r>
            <a:endParaRPr lang="en-US" altLang="ko-KR" sz="2000" dirty="0"/>
          </a:p>
        </p:txBody>
      </p:sp>
    </p:spTree>
    <p:extLst>
      <p:ext uri="{BB962C8B-B14F-4D97-AF65-F5344CB8AC3E}">
        <p14:creationId xmlns:p14="http://schemas.microsoft.com/office/powerpoint/2010/main" val="17005923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0CE5E30C-FF22-493D-B57F-2771C4CD7C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71290" y="2162175"/>
            <a:ext cx="3924300" cy="253365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0" y="298260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3600" b="1" dirty="0">
                <a:solidFill>
                  <a:schemeClr val="accent1">
                    <a:lumMod val="75000"/>
                  </a:schemeClr>
                </a:solidFill>
              </a:rPr>
              <a:t>Introduction to Domjudge</a:t>
            </a:r>
            <a:endParaRPr lang="en-US" sz="36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6" name="내용 개체 틀 2"/>
          <p:cNvSpPr>
            <a:spLocks noGrp="1"/>
          </p:cNvSpPr>
          <p:nvPr>
            <p:ph idx="1"/>
          </p:nvPr>
        </p:nvSpPr>
        <p:spPr>
          <a:xfrm>
            <a:off x="1491964" y="1546369"/>
            <a:ext cx="4328748" cy="4351339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altLang="ko-KR" b="1" dirty="0"/>
              <a:t>Domjudge</a:t>
            </a:r>
          </a:p>
          <a:p>
            <a:pPr marL="342900" indent="-3429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altLang="ko-KR" dirty="0">
                <a:hlinkClick r:id="rId3"/>
              </a:rPr>
              <a:t>https://domjudge.postech.ac.kr</a:t>
            </a:r>
            <a:endParaRPr lang="en-US" altLang="ko-KR" dirty="0"/>
          </a:p>
          <a:p>
            <a:pPr marL="342900" indent="-3429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ko-KR" altLang="en-US" dirty="0"/>
              <a:t>코딩 경시대회 플랫폼</a:t>
            </a:r>
            <a:endParaRPr lang="en-US" altLang="ko-KR" dirty="0"/>
          </a:p>
          <a:p>
            <a:pPr marL="342900" indent="-3429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ko-KR" altLang="en-US" dirty="0"/>
              <a:t>코드 제출 및 채점 기능</a:t>
            </a:r>
            <a:endParaRPr lang="en-US" altLang="ko-KR" dirty="0"/>
          </a:p>
          <a:p>
            <a:pPr marL="342891" indent="-342891">
              <a:lnSpc>
                <a:spcPct val="100000"/>
              </a:lnSpc>
              <a:buFontTx/>
              <a:buChar char="-"/>
            </a:pPr>
            <a:endParaRPr lang="en-US" altLang="ko-KR" dirty="0"/>
          </a:p>
          <a:p>
            <a:pPr>
              <a:lnSpc>
                <a:spcPct val="100000"/>
              </a:lnSpc>
            </a:pPr>
            <a:r>
              <a:rPr lang="en-US" altLang="ko-KR" dirty="0"/>
              <a:t>“</a:t>
            </a:r>
            <a:r>
              <a:rPr lang="en-US" altLang="ko-KR" b="1" u="sng" dirty="0"/>
              <a:t>Domjudge</a:t>
            </a:r>
            <a:r>
              <a:rPr lang="en-US" altLang="ko-KR" dirty="0"/>
              <a:t>” </a:t>
            </a:r>
            <a:r>
              <a:rPr lang="ko-KR" altLang="en-US" dirty="0"/>
              <a:t>버튼을 클릭하세요</a:t>
            </a:r>
            <a:r>
              <a:rPr lang="en-US" altLang="ko-KR" dirty="0"/>
              <a:t>.</a:t>
            </a:r>
          </a:p>
          <a:p>
            <a:pPr marL="342891" indent="-342891">
              <a:lnSpc>
                <a:spcPct val="100000"/>
              </a:lnSpc>
              <a:buFontTx/>
              <a:buChar char="-"/>
            </a:pPr>
            <a:endParaRPr lang="ko-KR" altLang="en-US" dirty="0"/>
          </a:p>
        </p:txBody>
      </p:sp>
      <p:sp>
        <p:nvSpPr>
          <p:cNvPr id="7" name="사각형: 둥근 모서리 6"/>
          <p:cNvSpPr/>
          <p:nvPr/>
        </p:nvSpPr>
        <p:spPr>
          <a:xfrm>
            <a:off x="6415678" y="3353680"/>
            <a:ext cx="1050709" cy="243997"/>
          </a:xfrm>
          <a:prstGeom prst="roundRect">
            <a:avLst/>
          </a:prstGeom>
          <a:noFill/>
          <a:ln w="38100">
            <a:solidFill>
              <a:srgbClr val="FF000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3831027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2229773"/>
            <a:ext cx="5557390" cy="3568193"/>
          </a:xfrm>
          <a:prstGeom prst="rect">
            <a:avLst/>
          </a:prstGeom>
          <a:ln w="15875">
            <a:solidFill>
              <a:schemeClr val="tx1">
                <a:lumMod val="50000"/>
                <a:lumOff val="5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4" name="그림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6862" y="2229773"/>
            <a:ext cx="5247033" cy="3568193"/>
          </a:xfrm>
          <a:prstGeom prst="rect">
            <a:avLst/>
          </a:prstGeom>
          <a:ln w="15875">
            <a:solidFill>
              <a:schemeClr val="tx1">
                <a:lumMod val="50000"/>
                <a:lumOff val="5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3" name="직사각형 2"/>
          <p:cNvSpPr/>
          <p:nvPr/>
        </p:nvSpPr>
        <p:spPr>
          <a:xfrm>
            <a:off x="2700327" y="1199213"/>
            <a:ext cx="679134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Domjudge</a:t>
            </a:r>
            <a:r>
              <a:rPr lang="ko-KR" altLang="en-US" dirty="0"/>
              <a:t>의 </a:t>
            </a:r>
            <a:r>
              <a:rPr lang="en-US" altLang="ko-KR" dirty="0"/>
              <a:t>“</a:t>
            </a:r>
            <a:r>
              <a:rPr lang="en-US" altLang="ko-K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Register now</a:t>
            </a:r>
            <a:r>
              <a:rPr lang="en-US" altLang="ko-KR" dirty="0"/>
              <a:t>”</a:t>
            </a:r>
            <a:r>
              <a:rPr lang="ko-KR" altLang="en-US" dirty="0"/>
              <a:t>를 클릭하여 아이디를 등록하세요</a:t>
            </a:r>
            <a:r>
              <a:rPr lang="en-US" altLang="ko-KR" dirty="0"/>
              <a:t>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0" y="298260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3600" b="1" dirty="0">
                <a:solidFill>
                  <a:schemeClr val="accent1">
                    <a:lumMod val="75000"/>
                  </a:schemeClr>
                </a:solidFill>
              </a:rPr>
              <a:t>Introduction to Domjudge</a:t>
            </a:r>
            <a:endParaRPr lang="en-US" sz="36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1F7CA3CA-68F7-4357-BF0F-99EAFAD4B2B6}"/>
              </a:ext>
            </a:extLst>
          </p:cNvPr>
          <p:cNvSpPr/>
          <p:nvPr/>
        </p:nvSpPr>
        <p:spPr>
          <a:xfrm>
            <a:off x="4622663" y="2247236"/>
            <a:ext cx="595717" cy="277517"/>
          </a:xfrm>
          <a:prstGeom prst="roundRect">
            <a:avLst/>
          </a:prstGeom>
          <a:noFill/>
          <a:ln w="38100">
            <a:solidFill>
              <a:srgbClr val="FF000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2A2DF764-C194-42CF-9F7F-F7F5294C58CC}"/>
              </a:ext>
            </a:extLst>
          </p:cNvPr>
          <p:cNvSpPr/>
          <p:nvPr/>
        </p:nvSpPr>
        <p:spPr>
          <a:xfrm>
            <a:off x="8013563" y="5240356"/>
            <a:ext cx="1115624" cy="304131"/>
          </a:xfrm>
          <a:prstGeom prst="roundRect">
            <a:avLst/>
          </a:prstGeom>
          <a:noFill/>
          <a:ln w="38100">
            <a:solidFill>
              <a:srgbClr val="FF000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774560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/>
          <p:cNvSpPr/>
          <p:nvPr/>
        </p:nvSpPr>
        <p:spPr>
          <a:xfrm>
            <a:off x="1544092" y="1636634"/>
            <a:ext cx="5745137" cy="42473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b="1" dirty="0"/>
              <a:t>가입 시 다음과 같이 기입합니다</a:t>
            </a:r>
            <a:r>
              <a:rPr lang="en-US" altLang="ko-KR" b="1" dirty="0"/>
              <a:t>.</a:t>
            </a:r>
          </a:p>
          <a:p>
            <a:endParaRPr lang="en-US" altLang="ko-K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dirty="0"/>
              <a:t>Username: </a:t>
            </a:r>
            <a:r>
              <a:rPr lang="ko-KR" altLang="en-US" dirty="0"/>
              <a:t>로그인할 아이디</a:t>
            </a:r>
            <a:endParaRPr lang="en-US" altLang="ko-KR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ko-K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dirty="0"/>
              <a:t>Full name: </a:t>
            </a:r>
            <a:r>
              <a:rPr lang="ko-KR" altLang="en-US" dirty="0"/>
              <a:t>생략</a:t>
            </a:r>
            <a:endParaRPr lang="en-US" altLang="ko-KR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ko-K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dirty="0"/>
              <a:t>Email: </a:t>
            </a:r>
            <a:r>
              <a:rPr lang="ko-KR" altLang="en-US" dirty="0"/>
              <a:t>생략</a:t>
            </a:r>
            <a:endParaRPr lang="en-US" altLang="ko-KR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ko-K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dirty="0">
                <a:solidFill>
                  <a:srgbClr val="C00000"/>
                </a:solidFill>
              </a:rPr>
              <a:t>Team name: </a:t>
            </a:r>
            <a:r>
              <a:rPr lang="ko-KR" altLang="en-US" dirty="0">
                <a:solidFill>
                  <a:srgbClr val="C00000"/>
                </a:solidFill>
              </a:rPr>
              <a:t>조</a:t>
            </a:r>
            <a:r>
              <a:rPr lang="en-US" altLang="ko-KR" dirty="0">
                <a:solidFill>
                  <a:srgbClr val="C00000"/>
                </a:solidFill>
              </a:rPr>
              <a:t>+</a:t>
            </a:r>
            <a:r>
              <a:rPr lang="ko-KR" altLang="en-US" dirty="0">
                <a:solidFill>
                  <a:srgbClr val="C00000"/>
                </a:solidFill>
              </a:rPr>
              <a:t>본인 이름 </a:t>
            </a:r>
            <a:r>
              <a:rPr lang="en-US" altLang="ko-KR" dirty="0">
                <a:solidFill>
                  <a:srgbClr val="C00000"/>
                </a:solidFill>
              </a:rPr>
              <a:t>(</a:t>
            </a:r>
            <a:r>
              <a:rPr lang="ko-KR" altLang="en-US" dirty="0">
                <a:solidFill>
                  <a:srgbClr val="C00000"/>
                </a:solidFill>
              </a:rPr>
              <a:t>영어로 작성</a:t>
            </a:r>
            <a:r>
              <a:rPr lang="en-US" altLang="ko-KR" dirty="0">
                <a:solidFill>
                  <a:srgbClr val="C00000"/>
                </a:solidFill>
              </a:rPr>
              <a:t>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ko-KR" dirty="0">
                <a:solidFill>
                  <a:srgbClr val="C00000"/>
                </a:solidFill>
              </a:rPr>
              <a:t>Ex</a:t>
            </a:r>
            <a:r>
              <a:rPr lang="en-US" altLang="ko-KR">
                <a:solidFill>
                  <a:srgbClr val="C00000"/>
                </a:solidFill>
              </a:rPr>
              <a:t>) A1minsu</a:t>
            </a:r>
            <a:endParaRPr lang="en-US" altLang="ko-KR" dirty="0">
              <a:solidFill>
                <a:srgbClr val="C00000"/>
              </a:solidFill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altLang="ko-K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dirty="0"/>
              <a:t>Password: </a:t>
            </a:r>
            <a:r>
              <a:rPr lang="ko-KR" altLang="en-US" dirty="0"/>
              <a:t>패스워드</a:t>
            </a:r>
            <a:endParaRPr lang="en-US" altLang="ko-KR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ko-K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dirty="0"/>
              <a:t>Repeat Password: </a:t>
            </a:r>
            <a:r>
              <a:rPr lang="ko-KR" altLang="en-US" dirty="0"/>
              <a:t>패스워드 확인</a:t>
            </a:r>
            <a:endParaRPr lang="en-US" altLang="ko-KR" dirty="0"/>
          </a:p>
          <a:p>
            <a:endParaRPr lang="en-US" altLang="ko-KR" dirty="0"/>
          </a:p>
        </p:txBody>
      </p:sp>
      <p:sp>
        <p:nvSpPr>
          <p:cNvPr id="10" name="TextBox 9"/>
          <p:cNvSpPr txBox="1"/>
          <p:nvPr/>
        </p:nvSpPr>
        <p:spPr>
          <a:xfrm>
            <a:off x="0" y="298260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3600" b="1" dirty="0">
                <a:solidFill>
                  <a:schemeClr val="accent1">
                    <a:lumMod val="75000"/>
                  </a:schemeClr>
                </a:solidFill>
              </a:rPr>
              <a:t>Introduction to Domjudge</a:t>
            </a:r>
            <a:endParaRPr lang="en-US" sz="36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grpSp>
        <p:nvGrpSpPr>
          <p:cNvPr id="9" name="그룹 8">
            <a:extLst>
              <a:ext uri="{FF2B5EF4-FFF2-40B4-BE49-F238E27FC236}">
                <a16:creationId xmlns:a16="http://schemas.microsoft.com/office/drawing/2014/main" id="{200F9313-559D-77A3-9867-B9611DA68E11}"/>
              </a:ext>
            </a:extLst>
          </p:cNvPr>
          <p:cNvGrpSpPr/>
          <p:nvPr/>
        </p:nvGrpSpPr>
        <p:grpSpPr>
          <a:xfrm>
            <a:off x="7289229" y="1185719"/>
            <a:ext cx="3476625" cy="4905375"/>
            <a:chOff x="7289229" y="1370277"/>
            <a:chExt cx="3476625" cy="4905375"/>
          </a:xfrm>
        </p:grpSpPr>
        <p:pic>
          <p:nvPicPr>
            <p:cNvPr id="5" name="그림 4">
              <a:extLst>
                <a:ext uri="{FF2B5EF4-FFF2-40B4-BE49-F238E27FC236}">
                  <a16:creationId xmlns:a16="http://schemas.microsoft.com/office/drawing/2014/main" id="{7524E492-084B-DF01-59F4-3843468B168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289229" y="1370277"/>
              <a:ext cx="3476625" cy="4905375"/>
            </a:xfrm>
            <a:prstGeom prst="rect">
              <a:avLst/>
            </a:prstGeom>
          </p:spPr>
        </p:pic>
        <p:sp>
          <p:nvSpPr>
            <p:cNvPr id="13" name="사각형: 둥근 모서리 12">
              <a:extLst>
                <a:ext uri="{FF2B5EF4-FFF2-40B4-BE49-F238E27FC236}">
                  <a16:creationId xmlns:a16="http://schemas.microsoft.com/office/drawing/2014/main" id="{80C903FC-0F73-4EA2-AE2C-61FF8EBF0FBF}"/>
                </a:ext>
              </a:extLst>
            </p:cNvPr>
            <p:cNvSpPr/>
            <p:nvPr/>
          </p:nvSpPr>
          <p:spPr>
            <a:xfrm>
              <a:off x="7692705" y="2525086"/>
              <a:ext cx="2843867" cy="377506"/>
            </a:xfrm>
            <a:prstGeom prst="roundRect">
              <a:avLst/>
            </a:prstGeom>
            <a:noFill/>
            <a:ln w="38100">
              <a:solidFill>
                <a:srgbClr val="FF0000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" name="사각형: 둥근 모서리 5">
              <a:extLst>
                <a:ext uri="{FF2B5EF4-FFF2-40B4-BE49-F238E27FC236}">
                  <a16:creationId xmlns:a16="http://schemas.microsoft.com/office/drawing/2014/main" id="{82C465CC-B533-1A77-0A6E-3D3AC24F4628}"/>
                </a:ext>
              </a:extLst>
            </p:cNvPr>
            <p:cNvSpPr/>
            <p:nvPr/>
          </p:nvSpPr>
          <p:spPr>
            <a:xfrm>
              <a:off x="7692705" y="4057401"/>
              <a:ext cx="2843867" cy="377506"/>
            </a:xfrm>
            <a:prstGeom prst="roundRect">
              <a:avLst/>
            </a:prstGeom>
            <a:noFill/>
            <a:ln w="38100">
              <a:solidFill>
                <a:srgbClr val="FF0000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" name="사각형: 둥근 모서리 6">
              <a:extLst>
                <a:ext uri="{FF2B5EF4-FFF2-40B4-BE49-F238E27FC236}">
                  <a16:creationId xmlns:a16="http://schemas.microsoft.com/office/drawing/2014/main" id="{C7F46DD7-A343-2AC3-FDB1-229F2E895091}"/>
                </a:ext>
              </a:extLst>
            </p:cNvPr>
            <p:cNvSpPr/>
            <p:nvPr/>
          </p:nvSpPr>
          <p:spPr>
            <a:xfrm>
              <a:off x="7692705" y="4545361"/>
              <a:ext cx="2843867" cy="377506"/>
            </a:xfrm>
            <a:prstGeom prst="roundRect">
              <a:avLst/>
            </a:prstGeom>
            <a:noFill/>
            <a:ln w="38100">
              <a:solidFill>
                <a:srgbClr val="FF0000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" name="사각형: 둥근 모서리 7">
              <a:extLst>
                <a:ext uri="{FF2B5EF4-FFF2-40B4-BE49-F238E27FC236}">
                  <a16:creationId xmlns:a16="http://schemas.microsoft.com/office/drawing/2014/main" id="{25C44440-7178-190D-DB3A-1F27BC0E92A7}"/>
                </a:ext>
              </a:extLst>
            </p:cNvPr>
            <p:cNvSpPr/>
            <p:nvPr/>
          </p:nvSpPr>
          <p:spPr>
            <a:xfrm>
              <a:off x="7692704" y="5077668"/>
              <a:ext cx="2843867" cy="377506"/>
            </a:xfrm>
            <a:prstGeom prst="roundRect">
              <a:avLst/>
            </a:prstGeom>
            <a:noFill/>
            <a:ln w="38100">
              <a:solidFill>
                <a:srgbClr val="FF0000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32452498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54352" y="1262772"/>
            <a:ext cx="6883297" cy="3171035"/>
          </a:xfrm>
          <a:prstGeom prst="rect">
            <a:avLst/>
          </a:prstGeom>
        </p:spPr>
      </p:pic>
      <p:sp>
        <p:nvSpPr>
          <p:cNvPr id="8" name="직사각형 7"/>
          <p:cNvSpPr/>
          <p:nvPr/>
        </p:nvSpPr>
        <p:spPr>
          <a:xfrm>
            <a:off x="946436" y="4582269"/>
            <a:ext cx="10662831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b="1" dirty="0"/>
              <a:t>로그인 후의 홈 화면입니다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① 이 버튼을 누르면 홈 화면으로 돌아오게 됩니다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② 이 버튼을 통해 </a:t>
            </a:r>
            <a:r>
              <a:rPr lang="en-US" altLang="ko-KR" dirty="0"/>
              <a:t>contest</a:t>
            </a:r>
            <a:r>
              <a:rPr lang="ko-KR" altLang="en-US" dirty="0"/>
              <a:t>를 선택하시면 해당하는 날짜에 진행되는 실습에 참가하실 수 있습니다</a:t>
            </a:r>
            <a:r>
              <a:rPr lang="en-US" altLang="ko-KR" dirty="0"/>
              <a:t>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95272" y="969986"/>
            <a:ext cx="38985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600" b="1" dirty="0">
                <a:solidFill>
                  <a:srgbClr val="FF0000"/>
                </a:solidFill>
              </a:rPr>
              <a:t>①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68502" y="953513"/>
            <a:ext cx="38985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600" b="1" dirty="0">
                <a:solidFill>
                  <a:srgbClr val="FF0000"/>
                </a:solidFill>
              </a:rPr>
              <a:t>②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0" y="298260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3600" b="1" dirty="0">
                <a:solidFill>
                  <a:schemeClr val="accent1">
                    <a:lumMod val="75000"/>
                  </a:schemeClr>
                </a:solidFill>
              </a:rPr>
              <a:t>Domjudge Home</a:t>
            </a:r>
            <a:endParaRPr lang="en-US" sz="36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5BD4C04A-F656-49A0-8B89-9084A5D44873}"/>
              </a:ext>
            </a:extLst>
          </p:cNvPr>
          <p:cNvSpPr/>
          <p:nvPr/>
        </p:nvSpPr>
        <p:spPr>
          <a:xfrm>
            <a:off x="2654351" y="1298547"/>
            <a:ext cx="1460449" cy="338555"/>
          </a:xfrm>
          <a:prstGeom prst="roundRect">
            <a:avLst/>
          </a:prstGeom>
          <a:noFill/>
          <a:ln w="38100">
            <a:solidFill>
              <a:srgbClr val="FF000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81A989AC-5298-4243-8169-107E98B72F52}"/>
              </a:ext>
            </a:extLst>
          </p:cNvPr>
          <p:cNvSpPr/>
          <p:nvPr/>
        </p:nvSpPr>
        <p:spPr>
          <a:xfrm>
            <a:off x="7863427" y="1298547"/>
            <a:ext cx="754794" cy="302780"/>
          </a:xfrm>
          <a:prstGeom prst="roundRect">
            <a:avLst/>
          </a:prstGeom>
          <a:noFill/>
          <a:ln w="38100">
            <a:solidFill>
              <a:srgbClr val="FF000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5663815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직사각형 7"/>
          <p:cNvSpPr/>
          <p:nvPr/>
        </p:nvSpPr>
        <p:spPr>
          <a:xfrm>
            <a:off x="518619" y="2466906"/>
            <a:ext cx="5153025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/>
              <a:t>상단의 </a:t>
            </a:r>
            <a:r>
              <a:rPr lang="en-US" altLang="ko-KR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Problemset</a:t>
            </a:r>
            <a:r>
              <a:rPr lang="en-US" altLang="ko-KR" dirty="0"/>
              <a:t> </a:t>
            </a:r>
            <a:r>
              <a:rPr lang="ko-KR" altLang="en-US" dirty="0"/>
              <a:t>버튼을 누르면 다음과 같이 문제 설명을 볼 수 있는 페이지로 넘어옵니다</a:t>
            </a:r>
            <a:r>
              <a:rPr lang="en-US" altLang="ko-KR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ko-K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dirty="0"/>
              <a:t>“</a:t>
            </a:r>
            <a:r>
              <a:rPr lang="en-US" altLang="ko-K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problem text</a:t>
            </a:r>
            <a:r>
              <a:rPr lang="en-US" altLang="ko-KR" dirty="0"/>
              <a:t>” </a:t>
            </a:r>
            <a:r>
              <a:rPr lang="ko-KR" altLang="en-US" dirty="0"/>
              <a:t>버튼을 눌러 각 문제에 대한 설명을 확인하실 수 있습니다</a:t>
            </a:r>
            <a:r>
              <a:rPr lang="en-US" altLang="ko-KR" dirty="0"/>
              <a:t>.</a:t>
            </a:r>
          </a:p>
        </p:txBody>
      </p:sp>
      <p:pic>
        <p:nvPicPr>
          <p:cNvPr id="12" name="그림 11"/>
          <p:cNvPicPr>
            <a:picLocks noChangeAspect="1"/>
          </p:cNvPicPr>
          <p:nvPr/>
        </p:nvPicPr>
        <p:blipFill rotWithShape="1">
          <a:blip r:embed="rId2"/>
          <a:srcRect r="25076" b="30145"/>
          <a:stretch/>
        </p:blipFill>
        <p:spPr>
          <a:xfrm>
            <a:off x="5921175" y="1586130"/>
            <a:ext cx="5891212" cy="351587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0" y="298260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3600" b="1" dirty="0">
                <a:solidFill>
                  <a:schemeClr val="accent1">
                    <a:lumMod val="75000"/>
                  </a:schemeClr>
                </a:solidFill>
              </a:rPr>
              <a:t>Problem Text</a:t>
            </a:r>
            <a:endParaRPr lang="en-US" sz="36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C979F483-2016-4D5C-888B-77649B1F20A5}"/>
              </a:ext>
            </a:extLst>
          </p:cNvPr>
          <p:cNvSpPr/>
          <p:nvPr/>
        </p:nvSpPr>
        <p:spPr>
          <a:xfrm>
            <a:off x="7607352" y="2212948"/>
            <a:ext cx="917524" cy="330228"/>
          </a:xfrm>
          <a:prstGeom prst="roundRect">
            <a:avLst/>
          </a:prstGeom>
          <a:noFill/>
          <a:ln w="38100">
            <a:solidFill>
              <a:srgbClr val="FF000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57FC1D30-6389-45A5-848A-C44F760883E4}"/>
              </a:ext>
            </a:extLst>
          </p:cNvPr>
          <p:cNvSpPr/>
          <p:nvPr/>
        </p:nvSpPr>
        <p:spPr>
          <a:xfrm>
            <a:off x="6992988" y="4076700"/>
            <a:ext cx="1046111" cy="309646"/>
          </a:xfrm>
          <a:prstGeom prst="roundRect">
            <a:avLst/>
          </a:prstGeom>
          <a:noFill/>
          <a:ln w="38100">
            <a:solidFill>
              <a:srgbClr val="FF000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235EA253-7D2D-4CCB-B8C2-2E99D95BF83B}"/>
              </a:ext>
            </a:extLst>
          </p:cNvPr>
          <p:cNvSpPr/>
          <p:nvPr/>
        </p:nvSpPr>
        <p:spPr>
          <a:xfrm>
            <a:off x="9250413" y="4076700"/>
            <a:ext cx="1046111" cy="309646"/>
          </a:xfrm>
          <a:prstGeom prst="roundRect">
            <a:avLst/>
          </a:prstGeom>
          <a:noFill/>
          <a:ln w="38100">
            <a:solidFill>
              <a:srgbClr val="FF000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163222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직사각형 7"/>
          <p:cNvSpPr/>
          <p:nvPr/>
        </p:nvSpPr>
        <p:spPr>
          <a:xfrm>
            <a:off x="685788" y="1345903"/>
            <a:ext cx="5835003" cy="504554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b="1" dirty="0" err="1"/>
              <a:t>Jupyter</a:t>
            </a:r>
            <a:r>
              <a:rPr lang="en-US" altLang="ko-KR" b="1" dirty="0"/>
              <a:t> Notebook</a:t>
            </a:r>
            <a:r>
              <a:rPr lang="ko-KR" altLang="en-US" dirty="0"/>
              <a:t>을 쓰신다면</a:t>
            </a:r>
            <a:r>
              <a:rPr lang="en-US" altLang="ko-KR" dirty="0"/>
              <a:t>, </a:t>
            </a:r>
            <a:r>
              <a:rPr lang="ko-KR" altLang="en-US" dirty="0"/>
              <a:t>오른쪽과 같은 방법으로 개인 컴퓨터에 </a:t>
            </a:r>
            <a:r>
              <a:rPr lang="en-US" altLang="ko-KR" dirty="0" err="1"/>
              <a:t>py</a:t>
            </a:r>
            <a:r>
              <a:rPr lang="en-US" altLang="ko-KR" dirty="0"/>
              <a:t> </a:t>
            </a:r>
            <a:r>
              <a:rPr lang="ko-KR" altLang="en-US" dirty="0"/>
              <a:t>파일을 저장 가능합니다</a:t>
            </a:r>
            <a:r>
              <a:rPr lang="en-US" altLang="ko-KR" dirty="0"/>
              <a:t>.</a:t>
            </a:r>
          </a:p>
          <a:p>
            <a:pPr>
              <a:lnSpc>
                <a:spcPct val="120000"/>
              </a:lnSpc>
            </a:pPr>
            <a:endParaRPr lang="en-US" altLang="ko-KR" dirty="0"/>
          </a:p>
          <a:p>
            <a:pPr>
              <a:lnSpc>
                <a:spcPct val="120000"/>
              </a:lnSpc>
            </a:pPr>
            <a:r>
              <a:rPr lang="ko-KR" altLang="en-US" dirty="0"/>
              <a:t>① </a:t>
            </a:r>
            <a:r>
              <a:rPr lang="ko-KR" altLang="en-US" dirty="0" err="1"/>
              <a:t>열려있는</a:t>
            </a:r>
            <a:r>
              <a:rPr lang="ko-KR" altLang="en-US" dirty="0"/>
              <a:t> </a:t>
            </a:r>
            <a:r>
              <a:rPr lang="en-US" altLang="ko-KR" dirty="0" err="1"/>
              <a:t>ipynb</a:t>
            </a:r>
            <a:r>
              <a:rPr lang="en-US" altLang="ko-KR" dirty="0"/>
              <a:t> </a:t>
            </a:r>
            <a:r>
              <a:rPr lang="ko-KR" altLang="en-US" dirty="0"/>
              <a:t>파일에서 </a:t>
            </a:r>
            <a:r>
              <a:rPr lang="en-US" altLang="ko-KR" dirty="0"/>
              <a:t>File </a:t>
            </a:r>
            <a:r>
              <a:rPr lang="ko-KR" altLang="en-US" dirty="0"/>
              <a:t>선택</a:t>
            </a:r>
            <a:endParaRPr lang="en-US" altLang="ko-KR" dirty="0"/>
          </a:p>
          <a:p>
            <a:pPr>
              <a:lnSpc>
                <a:spcPct val="120000"/>
              </a:lnSpc>
            </a:pPr>
            <a:r>
              <a:rPr lang="ko-KR" altLang="en-US" dirty="0"/>
              <a:t>② </a:t>
            </a:r>
            <a:r>
              <a:rPr lang="en-US" altLang="ko-KR" dirty="0"/>
              <a:t>Download as </a:t>
            </a:r>
            <a:r>
              <a:rPr lang="ko-KR" altLang="en-US" dirty="0"/>
              <a:t>선택</a:t>
            </a:r>
            <a:endParaRPr lang="en-US" altLang="ko-KR" dirty="0"/>
          </a:p>
          <a:p>
            <a:pPr>
              <a:lnSpc>
                <a:spcPct val="120000"/>
              </a:lnSpc>
            </a:pPr>
            <a:r>
              <a:rPr lang="ko-KR" altLang="en-US" dirty="0"/>
              <a:t>③ </a:t>
            </a:r>
            <a:r>
              <a:rPr lang="en-US" altLang="ko-KR" dirty="0"/>
              <a:t>Python (.</a:t>
            </a:r>
            <a:r>
              <a:rPr lang="en-US" altLang="ko-KR" dirty="0" err="1"/>
              <a:t>py</a:t>
            </a:r>
            <a:r>
              <a:rPr lang="en-US" altLang="ko-KR" dirty="0"/>
              <a:t>) </a:t>
            </a:r>
            <a:r>
              <a:rPr lang="ko-KR" altLang="en-US" dirty="0"/>
              <a:t>선택</a:t>
            </a:r>
            <a:endParaRPr lang="en-US" altLang="ko-KR" dirty="0"/>
          </a:p>
          <a:p>
            <a:pPr>
              <a:lnSpc>
                <a:spcPct val="120000"/>
              </a:lnSpc>
            </a:pPr>
            <a:endParaRPr lang="en-US" altLang="ko-KR" dirty="0"/>
          </a:p>
          <a:p>
            <a:pPr>
              <a:lnSpc>
                <a:spcPct val="120000"/>
              </a:lnSpc>
            </a:pPr>
            <a:r>
              <a:rPr lang="ko-KR" altLang="en-US" dirty="0"/>
              <a:t>자동으로 다운로드가 되며</a:t>
            </a:r>
            <a:r>
              <a:rPr lang="en-US" altLang="ko-KR" dirty="0"/>
              <a:t>, </a:t>
            </a:r>
            <a:r>
              <a:rPr lang="ko-KR" altLang="en-US" dirty="0"/>
              <a:t>컴퓨터의 다운로드 폴더에 있습니다</a:t>
            </a:r>
            <a:r>
              <a:rPr lang="en-US" altLang="ko-KR" dirty="0"/>
              <a:t>. (</a:t>
            </a:r>
            <a:r>
              <a:rPr lang="ko-KR" altLang="en-US" dirty="0"/>
              <a:t>이 부분은 개인이 인터넷 옵션을 어떻게 설정하느냐에 따라 다릅니다</a:t>
            </a:r>
            <a:r>
              <a:rPr lang="en-US" altLang="ko-KR" dirty="0"/>
              <a:t>.)</a:t>
            </a:r>
          </a:p>
          <a:p>
            <a:pPr>
              <a:lnSpc>
                <a:spcPct val="120000"/>
              </a:lnSpc>
            </a:pPr>
            <a:endParaRPr lang="en-US" altLang="ko-KR" dirty="0"/>
          </a:p>
          <a:p>
            <a:pPr>
              <a:lnSpc>
                <a:spcPct val="120000"/>
              </a:lnSpc>
            </a:pPr>
            <a:r>
              <a:rPr lang="en-US" altLang="ko-KR" dirty="0"/>
              <a:t>※</a:t>
            </a:r>
            <a:r>
              <a:rPr lang="ko-KR" altLang="en-US" dirty="0"/>
              <a:t>주의</a:t>
            </a:r>
            <a:r>
              <a:rPr lang="en-US" altLang="ko-KR" dirty="0"/>
              <a:t>! Cell</a:t>
            </a:r>
            <a:r>
              <a:rPr lang="ko-KR" altLang="en-US" dirty="0"/>
              <a:t>이 여러 개 있다면 모두 묶어서 하나의 파일로 다운로드가 됩니다</a:t>
            </a:r>
            <a:r>
              <a:rPr lang="en-US" altLang="ko-KR" dirty="0"/>
              <a:t>. </a:t>
            </a:r>
            <a:r>
              <a:rPr lang="ko-KR" altLang="en-US" dirty="0"/>
              <a:t>제출 시 다른 </a:t>
            </a:r>
            <a:r>
              <a:rPr lang="en-US" altLang="ko-KR" dirty="0"/>
              <a:t>Cell</a:t>
            </a:r>
            <a:r>
              <a:rPr lang="ko-KR" altLang="en-US" dirty="0"/>
              <a:t>의</a:t>
            </a:r>
            <a:r>
              <a:rPr lang="en-US" altLang="ko-KR" dirty="0"/>
              <a:t> </a:t>
            </a:r>
            <a:r>
              <a:rPr lang="ko-KR" altLang="en-US" dirty="0"/>
              <a:t>주석처리 혹은 파일을 분리해서 하는 것을 추천합니다</a:t>
            </a:r>
            <a:r>
              <a:rPr lang="en-US" altLang="ko-KR" dirty="0"/>
              <a:t>.</a:t>
            </a:r>
          </a:p>
          <a:p>
            <a:pPr>
              <a:lnSpc>
                <a:spcPct val="120000"/>
              </a:lnSpc>
            </a:pPr>
            <a:r>
              <a:rPr lang="en-US" altLang="ko-KR" dirty="0"/>
              <a:t>+ </a:t>
            </a:r>
            <a:r>
              <a:rPr lang="ko-KR" altLang="en-US" dirty="0"/>
              <a:t>제출 전 코드를 확인해보세요</a:t>
            </a:r>
            <a:r>
              <a:rPr lang="en-US" altLang="ko-KR" dirty="0"/>
              <a:t>!</a:t>
            </a:r>
          </a:p>
        </p:txBody>
      </p:sp>
      <p:grpSp>
        <p:nvGrpSpPr>
          <p:cNvPr id="3" name="그룹 2"/>
          <p:cNvGrpSpPr/>
          <p:nvPr/>
        </p:nvGrpSpPr>
        <p:grpSpPr>
          <a:xfrm>
            <a:off x="6709109" y="1461540"/>
            <a:ext cx="4911077" cy="4035723"/>
            <a:chOff x="5614827" y="1227010"/>
            <a:chExt cx="5989985" cy="4922326"/>
          </a:xfrm>
        </p:grpSpPr>
        <p:pic>
          <p:nvPicPr>
            <p:cNvPr id="2" name="그림 1"/>
            <p:cNvPicPr>
              <a:picLocks noChangeAspect="1"/>
            </p:cNvPicPr>
            <p:nvPr/>
          </p:nvPicPr>
          <p:blipFill rotWithShape="1">
            <a:blip r:embed="rId2"/>
            <a:srcRect l="484" t="9618" r="57807" b="38201"/>
            <a:stretch/>
          </p:blipFill>
          <p:spPr>
            <a:xfrm>
              <a:off x="5822577" y="1227010"/>
              <a:ext cx="5782235" cy="4922326"/>
            </a:xfrm>
            <a:prstGeom prst="rect">
              <a:avLst/>
            </a:prstGeom>
          </p:spPr>
        </p:pic>
        <p:sp>
          <p:nvSpPr>
            <p:cNvPr id="21" name="직사각형 20">
              <a:extLst>
                <a:ext uri="{FF2B5EF4-FFF2-40B4-BE49-F238E27FC236}">
                  <a16:creationId xmlns:a16="http://schemas.microsoft.com/office/drawing/2014/main" id="{40F6A77F-76FA-492F-B444-8F0D5D9DB75D}"/>
                </a:ext>
              </a:extLst>
            </p:cNvPr>
            <p:cNvSpPr/>
            <p:nvPr/>
          </p:nvSpPr>
          <p:spPr>
            <a:xfrm>
              <a:off x="5614827" y="1243931"/>
              <a:ext cx="415498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ko-KR" altLang="en-US" b="1" dirty="0">
                  <a:solidFill>
                    <a:srgbClr val="FF0000"/>
                  </a:solidFill>
                </a:rPr>
                <a:t>①</a:t>
              </a:r>
            </a:p>
          </p:txBody>
        </p:sp>
        <p:sp>
          <p:nvSpPr>
            <p:cNvPr id="22" name="직사각형 21">
              <a:extLst>
                <a:ext uri="{FF2B5EF4-FFF2-40B4-BE49-F238E27FC236}">
                  <a16:creationId xmlns:a16="http://schemas.microsoft.com/office/drawing/2014/main" id="{879AF6BB-6031-4193-97B3-5AF732181D13}"/>
                </a:ext>
              </a:extLst>
            </p:cNvPr>
            <p:cNvSpPr/>
            <p:nvPr/>
          </p:nvSpPr>
          <p:spPr>
            <a:xfrm>
              <a:off x="5633091" y="3647686"/>
              <a:ext cx="415498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ko-KR" altLang="en-US" b="1" dirty="0">
                  <a:solidFill>
                    <a:srgbClr val="FF0000"/>
                  </a:solidFill>
                </a:rPr>
                <a:t>②</a:t>
              </a:r>
            </a:p>
          </p:txBody>
        </p:sp>
        <p:sp>
          <p:nvSpPr>
            <p:cNvPr id="23" name="직사각형 22">
              <a:extLst>
                <a:ext uri="{FF2B5EF4-FFF2-40B4-BE49-F238E27FC236}">
                  <a16:creationId xmlns:a16="http://schemas.microsoft.com/office/drawing/2014/main" id="{486AD462-EE0C-4478-B40C-6126601C9B8D}"/>
                </a:ext>
              </a:extLst>
            </p:cNvPr>
            <p:cNvSpPr/>
            <p:nvPr/>
          </p:nvSpPr>
          <p:spPr>
            <a:xfrm>
              <a:off x="8411201" y="3831786"/>
              <a:ext cx="415498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ko-KR" altLang="en-US" b="1" dirty="0">
                  <a:solidFill>
                    <a:srgbClr val="FF0000"/>
                  </a:solidFill>
                </a:rPr>
                <a:t>③</a:t>
              </a:r>
            </a:p>
          </p:txBody>
        </p:sp>
      </p:grpSp>
      <p:sp>
        <p:nvSpPr>
          <p:cNvPr id="15" name="TextBox 14"/>
          <p:cNvSpPr txBox="1"/>
          <p:nvPr/>
        </p:nvSpPr>
        <p:spPr>
          <a:xfrm>
            <a:off x="0" y="298260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3600" b="1" dirty="0">
                <a:solidFill>
                  <a:schemeClr val="accent1">
                    <a:lumMod val="75000"/>
                  </a:schemeClr>
                </a:solidFill>
              </a:rPr>
              <a:t>How to Submit</a:t>
            </a:r>
            <a:endParaRPr lang="en-US" sz="36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8A2894B7-C9D3-4ED7-97AE-31BE71DBED9A}"/>
              </a:ext>
            </a:extLst>
          </p:cNvPr>
          <p:cNvSpPr/>
          <p:nvPr/>
        </p:nvSpPr>
        <p:spPr>
          <a:xfrm>
            <a:off x="7049768" y="1736698"/>
            <a:ext cx="340659" cy="239325"/>
          </a:xfrm>
          <a:prstGeom prst="roundRect">
            <a:avLst/>
          </a:prstGeom>
          <a:noFill/>
          <a:ln w="38100">
            <a:solidFill>
              <a:srgbClr val="FF000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CA773DDC-4728-4DFA-9E3A-B379E5425201}"/>
              </a:ext>
            </a:extLst>
          </p:cNvPr>
          <p:cNvSpPr/>
          <p:nvPr/>
        </p:nvSpPr>
        <p:spPr>
          <a:xfrm>
            <a:off x="7064169" y="3749015"/>
            <a:ext cx="879681" cy="239325"/>
          </a:xfrm>
          <a:prstGeom prst="roundRect">
            <a:avLst/>
          </a:prstGeom>
          <a:noFill/>
          <a:ln w="38100">
            <a:solidFill>
              <a:srgbClr val="FF000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934AEF8A-6EC3-4CF1-A7A7-C78029DFC0CD}"/>
              </a:ext>
            </a:extLst>
          </p:cNvPr>
          <p:cNvSpPr/>
          <p:nvPr/>
        </p:nvSpPr>
        <p:spPr>
          <a:xfrm>
            <a:off x="8236994" y="3925811"/>
            <a:ext cx="879681" cy="239325"/>
          </a:xfrm>
          <a:prstGeom prst="roundRect">
            <a:avLst/>
          </a:prstGeom>
          <a:noFill/>
          <a:ln w="38100">
            <a:solidFill>
              <a:srgbClr val="FF000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0655172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59068" y="2320630"/>
            <a:ext cx="6030375" cy="3145948"/>
          </a:xfrm>
          <a:prstGeom prst="rect">
            <a:avLst/>
          </a:prstGeom>
        </p:spPr>
      </p:pic>
      <p:sp>
        <p:nvSpPr>
          <p:cNvPr id="8" name="직사각형 7"/>
          <p:cNvSpPr/>
          <p:nvPr/>
        </p:nvSpPr>
        <p:spPr>
          <a:xfrm>
            <a:off x="755597" y="1687853"/>
            <a:ext cx="4560786" cy="31393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dirty="0"/>
              <a:t>상단의 </a:t>
            </a:r>
            <a:r>
              <a:rPr lang="en-US" altLang="ko-K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Submit</a:t>
            </a:r>
            <a:r>
              <a:rPr lang="en-US" altLang="ko-KR" dirty="0"/>
              <a:t> </a:t>
            </a:r>
            <a:r>
              <a:rPr lang="ko-KR" altLang="en-US" dirty="0"/>
              <a:t>버튼을 통해서 코드를 제출하실 수 있습니다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① 소스 코드를 선택하여 붙여 넣고</a:t>
            </a:r>
            <a:r>
              <a:rPr lang="en-US" altLang="ko-KR" dirty="0"/>
              <a:t>(</a:t>
            </a:r>
            <a:r>
              <a:rPr lang="ko-KR" altLang="en-US" dirty="0"/>
              <a:t>혹은 </a:t>
            </a:r>
            <a:r>
              <a:rPr lang="en-US" altLang="ko-KR" dirty="0"/>
              <a:t>Browse)</a:t>
            </a:r>
          </a:p>
          <a:p>
            <a:endParaRPr lang="en-US" altLang="ko-KR" dirty="0"/>
          </a:p>
          <a:p>
            <a:r>
              <a:rPr lang="ko-KR" altLang="en-US" dirty="0"/>
              <a:t>② 제출할 문제를 선택한 후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③ 제출 언어를 </a:t>
            </a:r>
            <a:r>
              <a:rPr lang="en-US" altLang="ko-KR" dirty="0"/>
              <a:t>Python3</a:t>
            </a:r>
            <a:r>
              <a:rPr lang="ko-KR" altLang="en-US" dirty="0"/>
              <a:t>로 설정합니다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(</a:t>
            </a:r>
            <a:r>
              <a:rPr lang="ko-KR" altLang="en-US" dirty="0"/>
              <a:t>제출한 소스코드의 확장자가</a:t>
            </a:r>
            <a:r>
              <a:rPr lang="en-US" altLang="ko-KR" dirty="0"/>
              <a:t> .</a:t>
            </a:r>
            <a:r>
              <a:rPr lang="en-US" altLang="ko-KR" dirty="0" err="1"/>
              <a:t>py</a:t>
            </a:r>
            <a:r>
              <a:rPr lang="ko-KR" altLang="en-US" dirty="0"/>
              <a:t>인 경우 자동으로 선택됩니다</a:t>
            </a:r>
            <a:r>
              <a:rPr lang="en-US" altLang="ko-KR" dirty="0"/>
              <a:t>.)</a:t>
            </a:r>
          </a:p>
        </p:txBody>
      </p:sp>
      <p:pic>
        <p:nvPicPr>
          <p:cNvPr id="19" name="그림 18">
            <a:extLst>
              <a:ext uri="{FF2B5EF4-FFF2-40B4-BE49-F238E27FC236}">
                <a16:creationId xmlns:a16="http://schemas.microsoft.com/office/drawing/2014/main" id="{B1CA8C23-3013-4C9F-89BC-70345F76E32B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11551" r="25076" b="80114"/>
          <a:stretch/>
        </p:blipFill>
        <p:spPr>
          <a:xfrm>
            <a:off x="5728650" y="1668467"/>
            <a:ext cx="5891212" cy="419497"/>
          </a:xfrm>
          <a:prstGeom prst="rect">
            <a:avLst/>
          </a:prstGeom>
        </p:spPr>
      </p:pic>
      <p:sp>
        <p:nvSpPr>
          <p:cNvPr id="21" name="직사각형 20">
            <a:extLst>
              <a:ext uri="{FF2B5EF4-FFF2-40B4-BE49-F238E27FC236}">
                <a16:creationId xmlns:a16="http://schemas.microsoft.com/office/drawing/2014/main" id="{40F6A77F-76FA-492F-B444-8F0D5D9DB75D}"/>
              </a:ext>
            </a:extLst>
          </p:cNvPr>
          <p:cNvSpPr/>
          <p:nvPr/>
        </p:nvSpPr>
        <p:spPr>
          <a:xfrm>
            <a:off x="5349559" y="2862048"/>
            <a:ext cx="41549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b="1" dirty="0">
                <a:solidFill>
                  <a:srgbClr val="FF0000"/>
                </a:solidFill>
              </a:rPr>
              <a:t>①</a:t>
            </a: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879AF6BB-6031-4193-97B3-5AF732181D13}"/>
              </a:ext>
            </a:extLst>
          </p:cNvPr>
          <p:cNvSpPr/>
          <p:nvPr/>
        </p:nvSpPr>
        <p:spPr>
          <a:xfrm>
            <a:off x="5355747" y="3464003"/>
            <a:ext cx="41549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b="1" dirty="0">
                <a:solidFill>
                  <a:srgbClr val="FF0000"/>
                </a:solidFill>
              </a:rPr>
              <a:t>②</a:t>
            </a: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486AD462-EE0C-4478-B40C-6126601C9B8D}"/>
              </a:ext>
            </a:extLst>
          </p:cNvPr>
          <p:cNvSpPr/>
          <p:nvPr/>
        </p:nvSpPr>
        <p:spPr>
          <a:xfrm>
            <a:off x="5349558" y="4099758"/>
            <a:ext cx="41549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b="1" dirty="0">
                <a:solidFill>
                  <a:srgbClr val="FF0000"/>
                </a:solidFill>
              </a:rPr>
              <a:t>③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0" y="298260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3600" b="1" dirty="0">
                <a:solidFill>
                  <a:schemeClr val="accent1">
                    <a:lumMod val="75000"/>
                  </a:schemeClr>
                </a:solidFill>
              </a:rPr>
              <a:t>How to Submit</a:t>
            </a:r>
            <a:endParaRPr lang="en-US" sz="36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14" name="직사각형 13"/>
          <p:cNvSpPr/>
          <p:nvPr/>
        </p:nvSpPr>
        <p:spPr>
          <a:xfrm>
            <a:off x="1827734" y="5271336"/>
            <a:ext cx="9305771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b="1" dirty="0">
                <a:solidFill>
                  <a:srgbClr val="FF0000"/>
                </a:solidFill>
              </a:rPr>
              <a:t>※ </a:t>
            </a:r>
            <a:r>
              <a:rPr lang="ko-KR" altLang="en-US" b="1" dirty="0">
                <a:solidFill>
                  <a:srgbClr val="FF0000"/>
                </a:solidFill>
              </a:rPr>
              <a:t>제출하는 소스 코드 파일 이름에 들어가면 안되는 것들</a:t>
            </a:r>
            <a:r>
              <a:rPr lang="en-US" altLang="ko-KR" b="1" dirty="0">
                <a:solidFill>
                  <a:srgbClr val="FF0000"/>
                </a:solidFill>
              </a:rPr>
              <a:t>: </a:t>
            </a:r>
            <a:r>
              <a:rPr lang="ko-KR" altLang="en-US" b="1" dirty="0">
                <a:solidFill>
                  <a:srgbClr val="FF0000"/>
                </a:solidFill>
              </a:rPr>
              <a:t>공백</a:t>
            </a:r>
            <a:r>
              <a:rPr lang="en-US" altLang="ko-KR" b="1" dirty="0">
                <a:solidFill>
                  <a:srgbClr val="FF0000"/>
                </a:solidFill>
              </a:rPr>
              <a:t>, </a:t>
            </a:r>
            <a:r>
              <a:rPr lang="ko-KR" altLang="en-US" b="1" dirty="0">
                <a:solidFill>
                  <a:srgbClr val="FF0000"/>
                </a:solidFill>
              </a:rPr>
              <a:t>특수문자</a:t>
            </a:r>
            <a:r>
              <a:rPr lang="en-US" altLang="ko-KR" b="1">
                <a:solidFill>
                  <a:srgbClr val="FF0000"/>
                </a:solidFill>
              </a:rPr>
              <a:t>, </a:t>
            </a:r>
            <a:r>
              <a:rPr lang="ko-KR" altLang="en-US" b="1">
                <a:solidFill>
                  <a:srgbClr val="FF0000"/>
                </a:solidFill>
              </a:rPr>
              <a:t>한글</a:t>
            </a:r>
            <a:endParaRPr lang="en-US" altLang="ko-KR" b="1">
              <a:solidFill>
                <a:srgbClr val="FF0000"/>
              </a:solidFill>
            </a:endParaRPr>
          </a:p>
          <a:p>
            <a:r>
              <a:rPr lang="en-US" altLang="ko-KR" b="1">
                <a:solidFill>
                  <a:srgbClr val="FF0000"/>
                </a:solidFill>
              </a:rPr>
              <a:t>※ </a:t>
            </a:r>
            <a:r>
              <a:rPr lang="ko-KR" altLang="en-US" b="1" dirty="0">
                <a:solidFill>
                  <a:srgbClr val="FF0000"/>
                </a:solidFill>
              </a:rPr>
              <a:t>파일 이름이 </a:t>
            </a:r>
            <a:r>
              <a:rPr lang="ko-KR" altLang="en-US" b="1" dirty="0" err="1">
                <a:solidFill>
                  <a:srgbClr val="FF0000"/>
                </a:solidFill>
              </a:rPr>
              <a:t>파이썬에</a:t>
            </a:r>
            <a:r>
              <a:rPr lang="ko-KR" altLang="en-US" b="1" dirty="0">
                <a:solidFill>
                  <a:srgbClr val="FF0000"/>
                </a:solidFill>
              </a:rPr>
              <a:t> 내장되어있는 </a:t>
            </a:r>
            <a:r>
              <a:rPr lang="ko-KR" altLang="en-US" b="1" dirty="0" err="1">
                <a:solidFill>
                  <a:srgbClr val="FF0000"/>
                </a:solidFill>
              </a:rPr>
              <a:t>함수명</a:t>
            </a:r>
            <a:r>
              <a:rPr lang="en-US" altLang="ko-KR" b="1" dirty="0">
                <a:solidFill>
                  <a:srgbClr val="FF0000"/>
                </a:solidFill>
              </a:rPr>
              <a:t>(list, </a:t>
            </a:r>
            <a:r>
              <a:rPr lang="en-US" altLang="ko-KR" b="1" dirty="0" err="1">
                <a:solidFill>
                  <a:srgbClr val="FF0000"/>
                </a:solidFill>
              </a:rPr>
              <a:t>deque</a:t>
            </a:r>
            <a:r>
              <a:rPr lang="en-US" altLang="ko-KR" b="1" dirty="0">
                <a:solidFill>
                  <a:srgbClr val="FF0000"/>
                </a:solidFill>
              </a:rPr>
              <a:t>…)</a:t>
            </a:r>
            <a:r>
              <a:rPr lang="ko-KR" altLang="en-US" b="1" dirty="0">
                <a:solidFill>
                  <a:srgbClr val="FF0000"/>
                </a:solidFill>
              </a:rPr>
              <a:t>이면 </a:t>
            </a:r>
            <a:r>
              <a:rPr lang="ko-KR" altLang="en-US" b="1">
                <a:solidFill>
                  <a:srgbClr val="FF0000"/>
                </a:solidFill>
              </a:rPr>
              <a:t>안됩니다</a:t>
            </a:r>
            <a:r>
              <a:rPr lang="en-US" altLang="ko-KR" b="1">
                <a:solidFill>
                  <a:srgbClr val="FF0000"/>
                </a:solidFill>
              </a:rPr>
              <a:t>.</a:t>
            </a:r>
          </a:p>
          <a:p>
            <a:r>
              <a:rPr lang="en-US" altLang="ko-KR" b="1">
                <a:solidFill>
                  <a:srgbClr val="0070C0"/>
                </a:solidFill>
              </a:rPr>
              <a:t>    - </a:t>
            </a:r>
            <a:r>
              <a:rPr lang="ko-KR" altLang="en-US" b="1">
                <a:solidFill>
                  <a:srgbClr val="0070C0"/>
                </a:solidFill>
              </a:rPr>
              <a:t>올바른 예시</a:t>
            </a:r>
            <a:r>
              <a:rPr lang="en-US" altLang="ko-KR" b="1">
                <a:solidFill>
                  <a:srgbClr val="0070C0"/>
                </a:solidFill>
              </a:rPr>
              <a:t>: problem01.py</a:t>
            </a:r>
            <a:endParaRPr lang="en-US" altLang="ko-KR" b="1"/>
          </a:p>
          <a:p>
            <a:r>
              <a:rPr lang="en-US" altLang="ko-KR" b="1"/>
              <a:t>※ </a:t>
            </a:r>
            <a:r>
              <a:rPr lang="ko-KR" altLang="en-US" b="1" dirty="0"/>
              <a:t>문제가 많으니 제출은 한꺼번에 하는 것보다 그때 그때 하는 것을 추천합니다</a:t>
            </a:r>
            <a:r>
              <a:rPr lang="en-US" altLang="ko-KR" b="1" dirty="0"/>
              <a:t>!</a:t>
            </a:r>
          </a:p>
        </p:txBody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4DD3B44B-13CB-4E7C-B5CE-C18117A2BC35}"/>
              </a:ext>
            </a:extLst>
          </p:cNvPr>
          <p:cNvSpPr/>
          <p:nvPr/>
        </p:nvSpPr>
        <p:spPr>
          <a:xfrm>
            <a:off x="5728650" y="3076482"/>
            <a:ext cx="5891212" cy="369332"/>
          </a:xfrm>
          <a:prstGeom prst="roundRect">
            <a:avLst/>
          </a:prstGeom>
          <a:noFill/>
          <a:ln w="38100">
            <a:solidFill>
              <a:srgbClr val="FF000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9D1B604C-45AB-499F-8BE4-455ACA0DC56F}"/>
              </a:ext>
            </a:extLst>
          </p:cNvPr>
          <p:cNvSpPr/>
          <p:nvPr/>
        </p:nvSpPr>
        <p:spPr>
          <a:xfrm>
            <a:off x="5728649" y="3734733"/>
            <a:ext cx="5891212" cy="369332"/>
          </a:xfrm>
          <a:prstGeom prst="roundRect">
            <a:avLst/>
          </a:prstGeom>
          <a:noFill/>
          <a:ln w="38100">
            <a:solidFill>
              <a:srgbClr val="FF000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A021E266-3885-4E69-BF02-38195F2C9F6C}"/>
              </a:ext>
            </a:extLst>
          </p:cNvPr>
          <p:cNvSpPr/>
          <p:nvPr/>
        </p:nvSpPr>
        <p:spPr>
          <a:xfrm>
            <a:off x="5728649" y="4400757"/>
            <a:ext cx="5891212" cy="369332"/>
          </a:xfrm>
          <a:prstGeom prst="roundRect">
            <a:avLst/>
          </a:prstGeom>
          <a:noFill/>
          <a:ln w="38100">
            <a:solidFill>
              <a:srgbClr val="FF000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사각형: 둥근 모서리 23">
            <a:extLst>
              <a:ext uri="{FF2B5EF4-FFF2-40B4-BE49-F238E27FC236}">
                <a16:creationId xmlns:a16="http://schemas.microsoft.com/office/drawing/2014/main" id="{5A9AEEA3-36E0-4F46-8490-12A0718E9148}"/>
              </a:ext>
            </a:extLst>
          </p:cNvPr>
          <p:cNvSpPr/>
          <p:nvPr/>
        </p:nvSpPr>
        <p:spPr>
          <a:xfrm>
            <a:off x="9810750" y="1684621"/>
            <a:ext cx="781050" cy="369332"/>
          </a:xfrm>
          <a:prstGeom prst="roundRect">
            <a:avLst/>
          </a:prstGeom>
          <a:noFill/>
          <a:ln w="38100">
            <a:solidFill>
              <a:srgbClr val="FF000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2151861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직사각형 7"/>
          <p:cNvSpPr/>
          <p:nvPr/>
        </p:nvSpPr>
        <p:spPr>
          <a:xfrm>
            <a:off x="752475" y="1088905"/>
            <a:ext cx="6818495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600" dirty="0"/>
              <a:t>코드를 제출하게 되면 다음과 같이 제출 결과들이 표시 됩니다</a:t>
            </a:r>
            <a:r>
              <a:rPr lang="en-US" altLang="ko-KR" sz="1600" dirty="0"/>
              <a:t>.</a:t>
            </a:r>
          </a:p>
          <a:p>
            <a:endParaRPr lang="en-US" altLang="ko-KR" sz="1600" dirty="0"/>
          </a:p>
        </p:txBody>
      </p:sp>
      <p:sp>
        <p:nvSpPr>
          <p:cNvPr id="15" name="TextBox 14"/>
          <p:cNvSpPr txBox="1"/>
          <p:nvPr/>
        </p:nvSpPr>
        <p:spPr>
          <a:xfrm>
            <a:off x="0" y="298260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chemeClr val="accent1">
                    <a:lumMod val="75000"/>
                  </a:schemeClr>
                </a:solidFill>
              </a:rPr>
              <a:t>Submission Results</a:t>
            </a:r>
          </a:p>
        </p:txBody>
      </p:sp>
      <p:pic>
        <p:nvPicPr>
          <p:cNvPr id="14" name="그림 13"/>
          <p:cNvPicPr>
            <a:picLocks noChangeAspect="1"/>
          </p:cNvPicPr>
          <p:nvPr/>
        </p:nvPicPr>
        <p:blipFill rotWithShape="1">
          <a:blip r:embed="rId2"/>
          <a:srcRect t="12181" r="39480"/>
          <a:stretch/>
        </p:blipFill>
        <p:spPr>
          <a:xfrm>
            <a:off x="460375" y="1991862"/>
            <a:ext cx="3666148" cy="3405233"/>
          </a:xfrm>
          <a:prstGeom prst="rect">
            <a:avLst/>
          </a:prstGeom>
        </p:spPr>
      </p:pic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71A7DAC1-C18E-46CC-988F-4EFD50562EDF}"/>
              </a:ext>
            </a:extLst>
          </p:cNvPr>
          <p:cNvSpPr/>
          <p:nvPr/>
        </p:nvSpPr>
        <p:spPr>
          <a:xfrm>
            <a:off x="566555" y="3206526"/>
            <a:ext cx="2771774" cy="2190569"/>
          </a:xfrm>
          <a:prstGeom prst="roundRect">
            <a:avLst>
              <a:gd name="adj" fmla="val 5354"/>
            </a:avLst>
          </a:prstGeom>
          <a:noFill/>
          <a:ln w="38100">
            <a:solidFill>
              <a:srgbClr val="FF000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40B27DC-A097-4AAA-A77E-D8A97998563B}"/>
              </a:ext>
            </a:extLst>
          </p:cNvPr>
          <p:cNvSpPr txBox="1"/>
          <p:nvPr/>
        </p:nvSpPr>
        <p:spPr>
          <a:xfrm>
            <a:off x="4325817" y="1637811"/>
            <a:ext cx="7675440" cy="48951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</a:pPr>
            <a:r>
              <a:rPr lang="en-US" altLang="ko-KR" sz="1500" b="1" dirty="0">
                <a:solidFill>
                  <a:schemeClr val="bg2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PENDING</a:t>
            </a:r>
            <a:r>
              <a:rPr lang="en-US" altLang="ko-KR" sz="1500" dirty="0"/>
              <a:t>: </a:t>
            </a:r>
            <a:r>
              <a:rPr lang="ko-KR" altLang="en-US" sz="1500" dirty="0"/>
              <a:t>서버에서 코드를 채점 중입니다</a:t>
            </a:r>
            <a:r>
              <a:rPr lang="en-US" altLang="ko-KR" sz="1500" dirty="0"/>
              <a:t>. </a:t>
            </a:r>
            <a:r>
              <a:rPr lang="ko-KR" altLang="en-US" sz="1500" dirty="0"/>
              <a:t>기다린 후에 </a:t>
            </a:r>
            <a:r>
              <a:rPr lang="ko-KR" altLang="en-US" sz="1500" dirty="0" err="1"/>
              <a:t>새로고침</a:t>
            </a:r>
            <a:r>
              <a:rPr lang="en-US" altLang="ko-KR" sz="1500" dirty="0"/>
              <a:t>(F5)</a:t>
            </a:r>
            <a:r>
              <a:rPr lang="ko-KR" altLang="en-US" sz="1500" dirty="0"/>
              <a:t>을 누르시기 바랍니다</a:t>
            </a:r>
            <a:r>
              <a:rPr lang="en-US" altLang="ko-KR" sz="1500" dirty="0"/>
              <a:t>.</a:t>
            </a:r>
          </a:p>
          <a:p>
            <a:pPr>
              <a:lnSpc>
                <a:spcPct val="110000"/>
              </a:lnSpc>
            </a:pPr>
            <a:endParaRPr lang="en-US" altLang="ko-KR" sz="1500" dirty="0"/>
          </a:p>
          <a:p>
            <a:pPr>
              <a:lnSpc>
                <a:spcPct val="110000"/>
              </a:lnSpc>
            </a:pPr>
            <a:r>
              <a:rPr lang="en-US" altLang="ko-KR" sz="15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COMPILER-ERROR</a:t>
            </a:r>
            <a:r>
              <a:rPr lang="en-US" altLang="ko-KR" sz="1500" dirty="0"/>
              <a:t>: </a:t>
            </a:r>
            <a:r>
              <a:rPr lang="ko-KR" altLang="en-US" sz="1500" dirty="0"/>
              <a:t>파일을 컴파일하는 과정에서 오류가 발생했습니다</a:t>
            </a:r>
            <a:r>
              <a:rPr lang="en-US" altLang="ko-KR" sz="1500" dirty="0"/>
              <a:t>. </a:t>
            </a:r>
            <a:r>
              <a:rPr lang="ko-KR" altLang="en-US" sz="1500" dirty="0"/>
              <a:t>코드에 문법적 오류가 있는지 확인해보세요</a:t>
            </a:r>
            <a:r>
              <a:rPr lang="en-US" altLang="ko-KR" sz="1500" dirty="0"/>
              <a:t>.</a:t>
            </a:r>
          </a:p>
          <a:p>
            <a:pPr>
              <a:lnSpc>
                <a:spcPct val="110000"/>
              </a:lnSpc>
            </a:pPr>
            <a:endParaRPr lang="en-US" altLang="ko-KR" sz="1500" dirty="0"/>
          </a:p>
          <a:p>
            <a:pPr>
              <a:lnSpc>
                <a:spcPct val="110000"/>
              </a:lnSpc>
            </a:pPr>
            <a:r>
              <a:rPr lang="en-US" altLang="ko-KR" sz="15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RUN-ERROR</a:t>
            </a:r>
            <a:r>
              <a:rPr lang="en-US" altLang="ko-KR" sz="1500" dirty="0"/>
              <a:t>: </a:t>
            </a:r>
            <a:r>
              <a:rPr lang="ko-KR" altLang="en-US" sz="1500" dirty="0"/>
              <a:t>프로그램이 작동하는 중에 오류가 발생했습니다</a:t>
            </a:r>
            <a:r>
              <a:rPr lang="en-US" altLang="ko-KR" sz="1500" dirty="0"/>
              <a:t>. </a:t>
            </a:r>
            <a:r>
              <a:rPr lang="ko-KR" altLang="en-US" sz="1500" dirty="0"/>
              <a:t>입력 형식에 맞게 프로그램이 작성되었는지</a:t>
            </a:r>
            <a:r>
              <a:rPr lang="en-US" altLang="ko-KR" sz="1500" dirty="0"/>
              <a:t>, list index</a:t>
            </a:r>
            <a:r>
              <a:rPr lang="ko-KR" altLang="en-US" sz="1500" dirty="0"/>
              <a:t>와 메모리 관리가 적절한지 확인하세요</a:t>
            </a:r>
            <a:r>
              <a:rPr lang="en-US" altLang="ko-KR" sz="1500" dirty="0"/>
              <a:t>. </a:t>
            </a:r>
            <a:r>
              <a:rPr lang="ko-KR" altLang="en-US" sz="1500" dirty="0"/>
              <a:t>이유를 </a:t>
            </a:r>
            <a:r>
              <a:rPr lang="ko-KR" altLang="en-US" sz="1500" dirty="0" err="1"/>
              <a:t>모르겠으면</a:t>
            </a:r>
            <a:r>
              <a:rPr lang="ko-KR" altLang="en-US" sz="1500" dirty="0"/>
              <a:t> 조교에게 문의하시길 바랍니다</a:t>
            </a:r>
            <a:r>
              <a:rPr lang="en-US" altLang="ko-KR" sz="1500" dirty="0"/>
              <a:t>.</a:t>
            </a:r>
          </a:p>
          <a:p>
            <a:pPr>
              <a:lnSpc>
                <a:spcPct val="110000"/>
              </a:lnSpc>
            </a:pPr>
            <a:endParaRPr lang="en-US" altLang="ko-KR" sz="1500" dirty="0"/>
          </a:p>
          <a:p>
            <a:pPr>
              <a:lnSpc>
                <a:spcPct val="110000"/>
              </a:lnSpc>
            </a:pPr>
            <a:r>
              <a:rPr lang="en-US" altLang="ko-KR" sz="15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NO-OUTPUT</a:t>
            </a:r>
            <a:r>
              <a:rPr lang="en-US" altLang="ko-KR" sz="1500" dirty="0"/>
              <a:t>: </a:t>
            </a:r>
            <a:r>
              <a:rPr lang="ko-KR" altLang="en-US" sz="1500" dirty="0"/>
              <a:t>프로그램이 아무것도 출력하지 않았습니다</a:t>
            </a:r>
            <a:r>
              <a:rPr lang="en-US" altLang="ko-KR" sz="1500" dirty="0"/>
              <a:t>.</a:t>
            </a:r>
          </a:p>
          <a:p>
            <a:pPr>
              <a:lnSpc>
                <a:spcPct val="110000"/>
              </a:lnSpc>
            </a:pPr>
            <a:endParaRPr lang="en-US" altLang="ko-KR" sz="1500" dirty="0"/>
          </a:p>
          <a:p>
            <a:pPr>
              <a:lnSpc>
                <a:spcPct val="110000"/>
              </a:lnSpc>
            </a:pPr>
            <a:r>
              <a:rPr lang="en-US" altLang="ko-KR" sz="15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WRONG-ANSWER</a:t>
            </a:r>
            <a:r>
              <a:rPr lang="en-US" altLang="ko-KR" sz="1500" dirty="0"/>
              <a:t>: </a:t>
            </a:r>
            <a:r>
              <a:rPr lang="ko-KR" altLang="en-US" sz="1500" dirty="0"/>
              <a:t>프로그램의 출력이 정답과 다릅니다</a:t>
            </a:r>
            <a:r>
              <a:rPr lang="en-US" altLang="ko-KR" sz="1500" dirty="0"/>
              <a:t>. </a:t>
            </a:r>
            <a:r>
              <a:rPr lang="ko-KR" altLang="en-US" sz="1500" dirty="0"/>
              <a:t>알고리즘을 다시 생각해보세요</a:t>
            </a:r>
            <a:r>
              <a:rPr lang="en-US" altLang="ko-KR" sz="1500" dirty="0"/>
              <a:t>.</a:t>
            </a:r>
          </a:p>
          <a:p>
            <a:pPr>
              <a:lnSpc>
                <a:spcPct val="110000"/>
              </a:lnSpc>
            </a:pPr>
            <a:endParaRPr lang="en-US" altLang="ko-KR" sz="1500" dirty="0"/>
          </a:p>
          <a:p>
            <a:pPr>
              <a:lnSpc>
                <a:spcPct val="110000"/>
              </a:lnSpc>
            </a:pPr>
            <a:r>
              <a:rPr lang="en-US" altLang="ko-KR" sz="15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TIMELIMIT</a:t>
            </a:r>
            <a:r>
              <a:rPr lang="en-US" altLang="ko-KR" sz="1500" dirty="0"/>
              <a:t>: </a:t>
            </a:r>
            <a:r>
              <a:rPr lang="ko-KR" altLang="en-US" sz="1500" dirty="0"/>
              <a:t>프로그램이 시간 제한으로 인해 종료되었습니다</a:t>
            </a:r>
            <a:r>
              <a:rPr lang="en-US" altLang="ko-KR" sz="1500" dirty="0"/>
              <a:t>. </a:t>
            </a:r>
            <a:r>
              <a:rPr lang="ko-KR" altLang="en-US" sz="1500" dirty="0"/>
              <a:t>더 효율적인 알고리즘을 </a:t>
            </a:r>
            <a:r>
              <a:rPr lang="ko-KR" altLang="en-US" sz="1500" dirty="0" err="1"/>
              <a:t>생각해보시기</a:t>
            </a:r>
            <a:r>
              <a:rPr lang="ko-KR" altLang="en-US" sz="1500" dirty="0"/>
              <a:t> 바랍니다</a:t>
            </a:r>
            <a:r>
              <a:rPr lang="en-US" altLang="ko-KR" sz="1500" dirty="0"/>
              <a:t>.</a:t>
            </a:r>
          </a:p>
          <a:p>
            <a:pPr>
              <a:lnSpc>
                <a:spcPct val="110000"/>
              </a:lnSpc>
            </a:pPr>
            <a:endParaRPr lang="en-US" altLang="ko-KR" sz="1500" dirty="0"/>
          </a:p>
          <a:p>
            <a:pPr>
              <a:lnSpc>
                <a:spcPct val="110000"/>
              </a:lnSpc>
            </a:pPr>
            <a:r>
              <a:rPr lang="en-US" altLang="ko-KR" sz="1500" b="1" dirty="0">
                <a:solidFill>
                  <a:schemeClr val="accent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CORRECT</a:t>
            </a:r>
            <a:r>
              <a:rPr lang="en-US" altLang="ko-KR" sz="1500" dirty="0"/>
              <a:t>: </a:t>
            </a:r>
            <a:r>
              <a:rPr lang="ko-KR" altLang="en-US" sz="1500" dirty="0"/>
              <a:t>정답입니다</a:t>
            </a:r>
            <a:r>
              <a:rPr lang="en-US" altLang="ko-KR" sz="1500" dirty="0"/>
              <a:t>!</a:t>
            </a:r>
          </a:p>
        </p:txBody>
      </p:sp>
    </p:spTree>
    <p:extLst>
      <p:ext uri="{BB962C8B-B14F-4D97-AF65-F5344CB8AC3E}">
        <p14:creationId xmlns:p14="http://schemas.microsoft.com/office/powerpoint/2010/main" val="51529744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 rotWithShape="1">
          <a:blip r:embed="rId2"/>
          <a:srcRect t="7291" r="2738" b="40394"/>
          <a:stretch/>
        </p:blipFill>
        <p:spPr>
          <a:xfrm>
            <a:off x="5827576" y="1567168"/>
            <a:ext cx="6059485" cy="3938295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0" y="298260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chemeClr val="accent1">
                    <a:lumMod val="75000"/>
                  </a:schemeClr>
                </a:solidFill>
              </a:rPr>
              <a:t>Clarification</a:t>
            </a:r>
          </a:p>
        </p:txBody>
      </p:sp>
      <p:sp>
        <p:nvSpPr>
          <p:cNvPr id="9" name="직사각형 8"/>
          <p:cNvSpPr/>
          <p:nvPr/>
        </p:nvSpPr>
        <p:spPr>
          <a:xfrm>
            <a:off x="445478" y="2270425"/>
            <a:ext cx="5156895" cy="253178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Clarification</a:t>
            </a:r>
            <a:r>
              <a:rPr lang="ko-KR" altLang="en-US" dirty="0"/>
              <a:t>은 </a:t>
            </a:r>
            <a:r>
              <a:rPr lang="en-US" altLang="ko-KR" dirty="0"/>
              <a:t>Domjudge </a:t>
            </a:r>
            <a:r>
              <a:rPr lang="ko-KR" altLang="en-US" dirty="0"/>
              <a:t>서버를 통해 조교에게 질문을 할 수 있는 기능입니다</a:t>
            </a:r>
            <a:r>
              <a:rPr lang="en-US" altLang="ko-KR" dirty="0"/>
              <a:t>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/>
              <a:t>실습시간 외에 조교에게 질문하고 싶은 것이 있다면 이 기능을 활용해주세요</a:t>
            </a:r>
            <a:r>
              <a:rPr lang="en-US" altLang="ko-KR" dirty="0"/>
              <a:t>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dirty="0"/>
              <a:t>“</a:t>
            </a:r>
            <a:r>
              <a:rPr lang="en-US" altLang="ko-K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request clarification</a:t>
            </a:r>
            <a:r>
              <a:rPr lang="en-US" altLang="ko-KR" dirty="0"/>
              <a:t>” </a:t>
            </a:r>
            <a:r>
              <a:rPr lang="ko-KR" altLang="en-US" dirty="0"/>
              <a:t>버튼을 통해 </a:t>
            </a:r>
            <a:r>
              <a:rPr lang="en-US" altLang="ko-KR" dirty="0"/>
              <a:t>clarification</a:t>
            </a:r>
            <a:r>
              <a:rPr lang="ko-KR" altLang="en-US" dirty="0"/>
              <a:t>을 보낼 수 있습니다</a:t>
            </a:r>
            <a:r>
              <a:rPr lang="en-US" altLang="ko-KR" dirty="0"/>
              <a:t>.</a:t>
            </a:r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15E18018-B7FF-437A-9A4F-C00552929F76}"/>
              </a:ext>
            </a:extLst>
          </p:cNvPr>
          <p:cNvSpPr/>
          <p:nvPr/>
        </p:nvSpPr>
        <p:spPr>
          <a:xfrm>
            <a:off x="8877300" y="3970020"/>
            <a:ext cx="1028700" cy="259080"/>
          </a:xfrm>
          <a:prstGeom prst="roundRect">
            <a:avLst>
              <a:gd name="adj" fmla="val 21489"/>
            </a:avLst>
          </a:prstGeom>
          <a:noFill/>
          <a:ln w="38100">
            <a:solidFill>
              <a:srgbClr val="FF000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6855722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95408" y="1615803"/>
            <a:ext cx="6126456" cy="3960537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0" y="298260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chemeClr val="accent1">
                    <a:lumMod val="75000"/>
                  </a:schemeClr>
                </a:solidFill>
              </a:rPr>
              <a:t>Clarification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40F6A77F-76FA-492F-B444-8F0D5D9DB75D}"/>
              </a:ext>
            </a:extLst>
          </p:cNvPr>
          <p:cNvSpPr/>
          <p:nvPr/>
        </p:nvSpPr>
        <p:spPr>
          <a:xfrm>
            <a:off x="5254932" y="2812842"/>
            <a:ext cx="62229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b="1" dirty="0">
                <a:solidFill>
                  <a:srgbClr val="FF0000"/>
                </a:solidFill>
              </a:rPr>
              <a:t>①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879AF6BB-6031-4193-97B3-5AF732181D13}"/>
              </a:ext>
            </a:extLst>
          </p:cNvPr>
          <p:cNvSpPr/>
          <p:nvPr/>
        </p:nvSpPr>
        <p:spPr>
          <a:xfrm>
            <a:off x="5264457" y="3501501"/>
            <a:ext cx="622691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b="1" dirty="0">
                <a:solidFill>
                  <a:srgbClr val="FF0000"/>
                </a:solidFill>
              </a:rPr>
              <a:t>②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486AD462-EE0C-4478-B40C-6126601C9B8D}"/>
              </a:ext>
            </a:extLst>
          </p:cNvPr>
          <p:cNvSpPr/>
          <p:nvPr/>
        </p:nvSpPr>
        <p:spPr>
          <a:xfrm>
            <a:off x="11639862" y="4885046"/>
            <a:ext cx="44330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b="1" dirty="0">
                <a:solidFill>
                  <a:srgbClr val="FF0000"/>
                </a:solidFill>
              </a:rPr>
              <a:t>③</a:t>
            </a:r>
          </a:p>
        </p:txBody>
      </p:sp>
      <p:sp>
        <p:nvSpPr>
          <p:cNvPr id="14" name="직사각형 13"/>
          <p:cNvSpPr/>
          <p:nvPr/>
        </p:nvSpPr>
        <p:spPr>
          <a:xfrm>
            <a:off x="298326" y="2122430"/>
            <a:ext cx="5125272" cy="29472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dirty="0"/>
              <a:t>① 질문할 문제를 선택합니다</a:t>
            </a:r>
            <a:r>
              <a:rPr lang="en-US" altLang="ko-KR" dirty="0"/>
              <a:t>. </a:t>
            </a:r>
            <a:r>
              <a:rPr lang="ko-KR" altLang="en-US" dirty="0"/>
              <a:t>문제에 관한 질문이 아닌 경우</a:t>
            </a:r>
            <a:r>
              <a:rPr lang="en-US" altLang="ko-KR" dirty="0"/>
              <a:t>, “</a:t>
            </a:r>
            <a:r>
              <a:rPr lang="en-US" altLang="ko-K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General issue</a:t>
            </a:r>
            <a:r>
              <a:rPr lang="en-US" altLang="ko-KR" dirty="0"/>
              <a:t>”</a:t>
            </a:r>
            <a:r>
              <a:rPr lang="ko-KR" altLang="en-US" dirty="0"/>
              <a:t>를 선택해주세요</a:t>
            </a:r>
            <a:r>
              <a:rPr lang="en-US" altLang="ko-KR" dirty="0"/>
              <a:t>.</a:t>
            </a:r>
          </a:p>
          <a:p>
            <a:pPr>
              <a:lnSpc>
                <a:spcPct val="150000"/>
              </a:lnSpc>
            </a:pPr>
            <a:endParaRPr lang="en-US" altLang="ko-KR" dirty="0"/>
          </a:p>
          <a:p>
            <a:pPr>
              <a:lnSpc>
                <a:spcPct val="150000"/>
              </a:lnSpc>
            </a:pPr>
            <a:r>
              <a:rPr lang="ko-KR" altLang="en-US" dirty="0"/>
              <a:t>② 질문 내용을 입력 후</a:t>
            </a:r>
            <a:endParaRPr lang="en-US" altLang="ko-KR" dirty="0"/>
          </a:p>
          <a:p>
            <a:pPr>
              <a:lnSpc>
                <a:spcPct val="150000"/>
              </a:lnSpc>
            </a:pPr>
            <a:endParaRPr lang="en-US" altLang="ko-KR" dirty="0"/>
          </a:p>
          <a:p>
            <a:pPr>
              <a:lnSpc>
                <a:spcPct val="150000"/>
              </a:lnSpc>
            </a:pPr>
            <a:r>
              <a:rPr lang="ko-KR" altLang="en-US" dirty="0"/>
              <a:t>③ </a:t>
            </a:r>
            <a:r>
              <a:rPr lang="en-US" altLang="ko-KR" dirty="0"/>
              <a:t>“</a:t>
            </a:r>
            <a:r>
              <a:rPr lang="en-US" altLang="ko-K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Send</a:t>
            </a:r>
            <a:r>
              <a:rPr lang="en-US" altLang="ko-KR" dirty="0"/>
              <a:t>” </a:t>
            </a:r>
            <a:r>
              <a:rPr lang="ko-KR" altLang="en-US" dirty="0"/>
              <a:t>버튼을 누르면 조교에게</a:t>
            </a:r>
            <a:r>
              <a:rPr lang="en-US" altLang="ko-KR" dirty="0"/>
              <a:t> clarification</a:t>
            </a:r>
            <a:r>
              <a:rPr lang="ko-KR" altLang="en-US" dirty="0"/>
              <a:t>이 전달됩니다</a:t>
            </a:r>
            <a:r>
              <a:rPr lang="en-US" altLang="ko-KR" dirty="0"/>
              <a:t>.</a:t>
            </a:r>
          </a:p>
        </p:txBody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74253DD1-AC43-4229-9DBA-B2E3B88BB8E2}"/>
              </a:ext>
            </a:extLst>
          </p:cNvPr>
          <p:cNvSpPr/>
          <p:nvPr/>
        </p:nvSpPr>
        <p:spPr>
          <a:xfrm>
            <a:off x="5623228" y="3066669"/>
            <a:ext cx="6016634" cy="369332"/>
          </a:xfrm>
          <a:prstGeom prst="roundRect">
            <a:avLst>
              <a:gd name="adj" fmla="val 21489"/>
            </a:avLst>
          </a:prstGeom>
          <a:noFill/>
          <a:ln w="38100">
            <a:solidFill>
              <a:srgbClr val="FF000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15126FC3-717D-47A3-83AF-6C69D24A74A6}"/>
              </a:ext>
            </a:extLst>
          </p:cNvPr>
          <p:cNvSpPr/>
          <p:nvPr/>
        </p:nvSpPr>
        <p:spPr>
          <a:xfrm>
            <a:off x="5633508" y="3717841"/>
            <a:ext cx="6016634" cy="1102768"/>
          </a:xfrm>
          <a:prstGeom prst="roundRect">
            <a:avLst>
              <a:gd name="adj" fmla="val 15961"/>
            </a:avLst>
          </a:prstGeom>
          <a:noFill/>
          <a:ln w="38100">
            <a:solidFill>
              <a:srgbClr val="FF000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E61747B4-63B1-426A-B32E-048FA59E42EA}"/>
              </a:ext>
            </a:extLst>
          </p:cNvPr>
          <p:cNvSpPr/>
          <p:nvPr/>
        </p:nvSpPr>
        <p:spPr>
          <a:xfrm>
            <a:off x="10909300" y="5130052"/>
            <a:ext cx="717862" cy="369332"/>
          </a:xfrm>
          <a:prstGeom prst="roundRect">
            <a:avLst>
              <a:gd name="adj" fmla="val 21489"/>
            </a:avLst>
          </a:prstGeom>
          <a:noFill/>
          <a:ln w="38100">
            <a:solidFill>
              <a:srgbClr val="FF000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8581859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 rotWithShape="1">
          <a:blip r:embed="rId2"/>
          <a:srcRect t="7816" r="2361" b="41379"/>
          <a:stretch/>
        </p:blipFill>
        <p:spPr>
          <a:xfrm>
            <a:off x="5515297" y="1795034"/>
            <a:ext cx="5487322" cy="3450066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0" y="298260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chemeClr val="accent1">
                    <a:lumMod val="75000"/>
                  </a:schemeClr>
                </a:solidFill>
              </a:rPr>
              <a:t>Clarification</a:t>
            </a:r>
          </a:p>
        </p:txBody>
      </p:sp>
      <p:sp>
        <p:nvSpPr>
          <p:cNvPr id="14" name="직사각형 13"/>
          <p:cNvSpPr/>
          <p:nvPr/>
        </p:nvSpPr>
        <p:spPr>
          <a:xfrm>
            <a:off x="1368475" y="2908115"/>
            <a:ext cx="3648025" cy="8697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dirty="0"/>
              <a:t>답변이 오면 다음과 같이 홈 화면 오른쪽에서 확인하실 수 있습니다</a:t>
            </a:r>
            <a:r>
              <a:rPr lang="en-US" altLang="ko-KR" dirty="0"/>
              <a:t>.</a:t>
            </a:r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21A3918D-D47A-40BA-AD31-7DCDE3FE43E0}"/>
              </a:ext>
            </a:extLst>
          </p:cNvPr>
          <p:cNvSpPr/>
          <p:nvPr/>
        </p:nvSpPr>
        <p:spPr>
          <a:xfrm>
            <a:off x="8216900" y="3048000"/>
            <a:ext cx="2568525" cy="1696648"/>
          </a:xfrm>
          <a:prstGeom prst="roundRect">
            <a:avLst>
              <a:gd name="adj" fmla="val 12437"/>
            </a:avLst>
          </a:prstGeom>
          <a:noFill/>
          <a:ln w="38100">
            <a:solidFill>
              <a:srgbClr val="FF000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0075783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/>
          <p:cNvSpPr txBox="1"/>
          <p:nvPr/>
        </p:nvSpPr>
        <p:spPr>
          <a:xfrm>
            <a:off x="0" y="298260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chemeClr val="accent1">
                    <a:lumMod val="75000"/>
                  </a:schemeClr>
                </a:solidFill>
              </a:rPr>
              <a:t>Problem Text</a:t>
            </a: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 rotWithShape="1">
          <a:blip r:embed="rId2"/>
          <a:srcRect b="8182"/>
          <a:stretch/>
        </p:blipFill>
        <p:spPr>
          <a:xfrm>
            <a:off x="4538883" y="1373083"/>
            <a:ext cx="6762362" cy="4968787"/>
          </a:xfrm>
          <a:prstGeom prst="rect">
            <a:avLst/>
          </a:prstGeom>
        </p:spPr>
      </p:pic>
      <p:sp>
        <p:nvSpPr>
          <p:cNvPr id="3" name="직사각형 2"/>
          <p:cNvSpPr/>
          <p:nvPr/>
        </p:nvSpPr>
        <p:spPr>
          <a:xfrm>
            <a:off x="2058101" y="2059675"/>
            <a:ext cx="196399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b="1" dirty="0">
                <a:solidFill>
                  <a:srgbClr val="0070C0"/>
                </a:solidFill>
              </a:rPr>
              <a:t>문제에 대한 설명</a:t>
            </a:r>
          </a:p>
        </p:txBody>
      </p:sp>
      <p:sp>
        <p:nvSpPr>
          <p:cNvPr id="6" name="직사각형 5"/>
          <p:cNvSpPr/>
          <p:nvPr/>
        </p:nvSpPr>
        <p:spPr>
          <a:xfrm>
            <a:off x="2832351" y="1387805"/>
            <a:ext cx="118974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b="1" dirty="0">
                <a:solidFill>
                  <a:srgbClr val="0070C0"/>
                </a:solidFill>
              </a:rPr>
              <a:t>문제 제목</a:t>
            </a:r>
          </a:p>
        </p:txBody>
      </p:sp>
      <p:sp>
        <p:nvSpPr>
          <p:cNvPr id="7" name="직사각형 6"/>
          <p:cNvSpPr/>
          <p:nvPr/>
        </p:nvSpPr>
        <p:spPr>
          <a:xfrm>
            <a:off x="1596436" y="2875605"/>
            <a:ext cx="242566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b="1" dirty="0">
                <a:solidFill>
                  <a:srgbClr val="0070C0"/>
                </a:solidFill>
              </a:rPr>
              <a:t>프로그램의 입력 형식</a:t>
            </a:r>
          </a:p>
        </p:txBody>
      </p:sp>
      <p:sp>
        <p:nvSpPr>
          <p:cNvPr id="9" name="직사각형 8"/>
          <p:cNvSpPr/>
          <p:nvPr/>
        </p:nvSpPr>
        <p:spPr>
          <a:xfrm>
            <a:off x="1596436" y="3705077"/>
            <a:ext cx="242566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b="1" dirty="0">
                <a:solidFill>
                  <a:srgbClr val="0070C0"/>
                </a:solidFill>
              </a:rPr>
              <a:t>프로그램의 출력 형식</a:t>
            </a:r>
          </a:p>
        </p:txBody>
      </p:sp>
      <p:sp>
        <p:nvSpPr>
          <p:cNvPr id="10" name="직사각형 9"/>
          <p:cNvSpPr/>
          <p:nvPr/>
        </p:nvSpPr>
        <p:spPr>
          <a:xfrm>
            <a:off x="2601518" y="5014731"/>
            <a:ext cx="142058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b="1" dirty="0">
                <a:solidFill>
                  <a:srgbClr val="0070C0"/>
                </a:solidFill>
              </a:rPr>
              <a:t>입출력 예시</a:t>
            </a:r>
          </a:p>
        </p:txBody>
      </p:sp>
    </p:spTree>
    <p:extLst>
      <p:ext uri="{BB962C8B-B14F-4D97-AF65-F5344CB8AC3E}">
        <p14:creationId xmlns:p14="http://schemas.microsoft.com/office/powerpoint/2010/main" val="381960211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/>
          <p:cNvSpPr txBox="1"/>
          <p:nvPr/>
        </p:nvSpPr>
        <p:spPr>
          <a:xfrm>
            <a:off x="0" y="298260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chemeClr val="accent1">
                    <a:lumMod val="75000"/>
                  </a:schemeClr>
                </a:solidFill>
              </a:rPr>
              <a:t>Time Complexity</a:t>
            </a:r>
          </a:p>
        </p:txBody>
      </p:sp>
      <p:graphicFrame>
        <p:nvGraphicFramePr>
          <p:cNvPr id="12" name="표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70865215"/>
              </p:ext>
            </p:extLst>
          </p:nvPr>
        </p:nvGraphicFramePr>
        <p:xfrm>
          <a:off x="3118181" y="4534521"/>
          <a:ext cx="5953628" cy="1962836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297681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7681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9070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500" dirty="0"/>
                        <a:t>n(</a:t>
                      </a:r>
                      <a:r>
                        <a:rPr lang="ko-KR" altLang="en-US" sz="2500" dirty="0"/>
                        <a:t>데이터의 크기</a:t>
                      </a:r>
                      <a:r>
                        <a:rPr lang="en-US" altLang="ko-KR" sz="2500" dirty="0"/>
                        <a:t>)</a:t>
                      </a:r>
                      <a:endParaRPr lang="ko-KR" altLang="en-US" sz="2500" dirty="0"/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500" dirty="0" err="1"/>
                        <a:t>시간복잡도</a:t>
                      </a:r>
                      <a:endParaRPr lang="ko-KR" altLang="en-US" sz="2500" dirty="0"/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070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500" dirty="0"/>
                        <a:t>10,000,000</a:t>
                      </a:r>
                      <a:endParaRPr lang="ko-KR" altLang="en-US" sz="2500" dirty="0"/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500" dirty="0"/>
                        <a:t>O(n)</a:t>
                      </a:r>
                      <a:endParaRPr lang="ko-KR" altLang="en-US" sz="2500" dirty="0"/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070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500" dirty="0"/>
                        <a:t>100,000</a:t>
                      </a:r>
                      <a:endParaRPr lang="ko-KR" altLang="en-US" sz="2500" dirty="0"/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500" dirty="0"/>
                        <a:t>O(n * log n)</a:t>
                      </a:r>
                      <a:endParaRPr lang="ko-KR" altLang="en-US" sz="2500" dirty="0"/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070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500" dirty="0"/>
                        <a:t>1,000~5,000</a:t>
                      </a:r>
                      <a:endParaRPr lang="ko-KR" altLang="en-US" sz="2500" dirty="0"/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500" dirty="0"/>
                        <a:t>O(n</a:t>
                      </a:r>
                      <a:r>
                        <a:rPr lang="en-US" altLang="ko-KR" sz="2500" baseline="30000" dirty="0"/>
                        <a:t>2</a:t>
                      </a:r>
                      <a:r>
                        <a:rPr lang="en-US" altLang="ko-KR" sz="2500" dirty="0"/>
                        <a:t>)</a:t>
                      </a:r>
                      <a:endParaRPr lang="ko-KR" altLang="en-US" sz="2500" dirty="0"/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pic>
        <p:nvPicPr>
          <p:cNvPr id="4" name="그림 3"/>
          <p:cNvPicPr>
            <a:picLocks noChangeAspect="1"/>
          </p:cNvPicPr>
          <p:nvPr/>
        </p:nvPicPr>
        <p:blipFill rotWithShape="1">
          <a:blip r:embed="rId2"/>
          <a:srcRect l="19504" t="34413"/>
          <a:stretch/>
        </p:blipFill>
        <p:spPr>
          <a:xfrm>
            <a:off x="1412844" y="2720367"/>
            <a:ext cx="10062506" cy="1008965"/>
          </a:xfrm>
          <a:prstGeom prst="rect">
            <a:avLst/>
          </a:prstGeom>
          <a:noFill/>
          <a:ln w="19050">
            <a:solidFill>
              <a:schemeClr val="tx1">
                <a:lumMod val="50000"/>
                <a:lumOff val="5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4" name="직사각형 13"/>
          <p:cNvSpPr/>
          <p:nvPr/>
        </p:nvSpPr>
        <p:spPr>
          <a:xfrm>
            <a:off x="1446101" y="1299600"/>
            <a:ext cx="9761161" cy="29472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ko-KR" altLang="en-US" dirty="0"/>
              <a:t>프로그램 문제의 입력 형식에서는 보통 입력되는 데이터의 크기가 주어집니다</a:t>
            </a:r>
            <a:r>
              <a:rPr lang="en-US" altLang="ko-KR" dirty="0"/>
              <a:t>.</a:t>
            </a:r>
          </a:p>
          <a:p>
            <a:pPr marL="285750" indent="-285750" algn="just">
              <a:lnSpc>
                <a:spcPct val="150000"/>
              </a:lnSpc>
              <a:buFontTx/>
              <a:buChar char="-"/>
            </a:pPr>
            <a:r>
              <a:rPr lang="ko-KR" altLang="en-US" dirty="0"/>
              <a:t>형식에서 언급되는 크기 및 기타 조건에 대한 예외 처리는 생략하셔도 됩니다</a:t>
            </a:r>
            <a:r>
              <a:rPr lang="en-US" altLang="ko-KR" dirty="0"/>
              <a:t>.</a:t>
            </a:r>
          </a:p>
          <a:p>
            <a:pPr marL="285750" indent="-285750" algn="just">
              <a:lnSpc>
                <a:spcPct val="150000"/>
              </a:lnSpc>
              <a:buFontTx/>
              <a:buChar char="-"/>
            </a:pPr>
            <a:r>
              <a:rPr lang="en-US" altLang="ko-KR" dirty="0"/>
              <a:t>N</a:t>
            </a:r>
            <a:r>
              <a:rPr lang="ko-KR" altLang="en-US" dirty="0"/>
              <a:t>은 </a:t>
            </a:r>
            <a:r>
              <a:rPr lang="en-US" altLang="ko-KR" dirty="0"/>
              <a:t>10</a:t>
            </a:r>
            <a:r>
              <a:rPr lang="ko-KR" altLang="en-US" dirty="0"/>
              <a:t>만 이하의 자연수이다</a:t>
            </a:r>
            <a:r>
              <a:rPr lang="en-US" altLang="ko-KR" dirty="0"/>
              <a:t>. </a:t>
            </a:r>
            <a:r>
              <a:rPr lang="en-US" altLang="ko-KR" dirty="0">
                <a:sym typeface="Wingdings" panose="05000000000000000000" pitchFamily="2" charset="2"/>
              </a:rPr>
              <a:t> </a:t>
            </a:r>
            <a:r>
              <a:rPr lang="en-US" altLang="ko-KR" dirty="0"/>
              <a:t>if N &lt;= 100,000: (</a:t>
            </a:r>
            <a:r>
              <a:rPr lang="ko-KR" altLang="en-US" dirty="0"/>
              <a:t>필요 없음</a:t>
            </a:r>
            <a:r>
              <a:rPr lang="en-US" altLang="ko-KR" dirty="0"/>
              <a:t>)</a:t>
            </a:r>
            <a:endParaRPr lang="en-US" altLang="ko-KR" dirty="0">
              <a:sym typeface="Wingdings" panose="05000000000000000000" pitchFamily="2" charset="2"/>
            </a:endParaRPr>
          </a:p>
          <a:p>
            <a:pPr algn="just">
              <a:lnSpc>
                <a:spcPct val="150000"/>
              </a:lnSpc>
            </a:pPr>
            <a:endParaRPr lang="en-US" altLang="ko-KR" dirty="0">
              <a:sym typeface="Wingdings" panose="05000000000000000000" pitchFamily="2" charset="2"/>
            </a:endParaRPr>
          </a:p>
          <a:p>
            <a:pPr algn="just">
              <a:lnSpc>
                <a:spcPct val="150000"/>
              </a:lnSpc>
            </a:pPr>
            <a:endParaRPr lang="en-US" altLang="ko-KR" dirty="0">
              <a:sym typeface="Wingdings" panose="05000000000000000000" pitchFamily="2" charset="2"/>
            </a:endParaRPr>
          </a:p>
          <a:p>
            <a:pPr algn="just">
              <a:lnSpc>
                <a:spcPct val="150000"/>
              </a:lnSpc>
            </a:pPr>
            <a:endParaRPr lang="en-US" altLang="ko-KR" dirty="0">
              <a:sym typeface="Wingdings" panose="05000000000000000000" pitchFamily="2" charset="2"/>
            </a:endParaRPr>
          </a:p>
          <a:p>
            <a:pPr algn="just">
              <a:lnSpc>
                <a:spcPct val="150000"/>
              </a:lnSpc>
            </a:pPr>
            <a:r>
              <a:rPr lang="ko-KR" altLang="en-US" dirty="0">
                <a:sym typeface="Wingdings" panose="05000000000000000000" pitchFamily="2" charset="2"/>
              </a:rPr>
              <a:t>주어진 입력 데이터의 크기를 통해서 실습 문제에서 요구하는 시간복잡도가 추측 가능합니다</a:t>
            </a:r>
            <a:r>
              <a:rPr lang="en-US" altLang="ko-KR" dirty="0">
                <a:sym typeface="Wingdings" panose="05000000000000000000" pitchFamily="2" charset="2"/>
              </a:rPr>
              <a:t>.</a:t>
            </a:r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9F81E751-8FB7-4AC8-8389-FBA94E953D72}"/>
              </a:ext>
            </a:extLst>
          </p:cNvPr>
          <p:cNvSpPr/>
          <p:nvPr/>
        </p:nvSpPr>
        <p:spPr>
          <a:xfrm>
            <a:off x="6185938" y="3266077"/>
            <a:ext cx="3304326" cy="325845"/>
          </a:xfrm>
          <a:prstGeom prst="roundRect">
            <a:avLst>
              <a:gd name="adj" fmla="val 21489"/>
            </a:avLst>
          </a:prstGeom>
          <a:noFill/>
          <a:ln w="38100">
            <a:solidFill>
              <a:srgbClr val="FF000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5779317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/>
          <p:cNvSpPr txBox="1"/>
          <p:nvPr/>
        </p:nvSpPr>
        <p:spPr>
          <a:xfrm>
            <a:off x="0" y="298260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3600" b="1" dirty="0">
                <a:solidFill>
                  <a:schemeClr val="accent1">
                    <a:lumMod val="75000"/>
                  </a:schemeClr>
                </a:solidFill>
              </a:rPr>
              <a:t>기본 라이브러리</a:t>
            </a:r>
            <a:endParaRPr lang="en-US" sz="36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14" name="직사각형 13"/>
          <p:cNvSpPr/>
          <p:nvPr/>
        </p:nvSpPr>
        <p:spPr>
          <a:xfrm>
            <a:off x="1701770" y="1393384"/>
            <a:ext cx="9304273" cy="46092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dirty="0"/>
              <a:t>알고리즘 실습에서는 </a:t>
            </a:r>
            <a:r>
              <a:rPr lang="en-US" altLang="ko-KR" dirty="0"/>
              <a:t>Python 3</a:t>
            </a:r>
            <a:r>
              <a:rPr lang="ko-KR" altLang="en-US" dirty="0"/>
              <a:t>가 제공하는 기본 라이브러리</a:t>
            </a:r>
            <a:r>
              <a:rPr lang="en-US" altLang="ko-KR" dirty="0"/>
              <a:t>(math, </a:t>
            </a:r>
            <a:r>
              <a:rPr lang="en-US" altLang="ko-KR" dirty="0" err="1"/>
              <a:t>heapq</a:t>
            </a:r>
            <a:r>
              <a:rPr lang="en-US" altLang="ko-KR" dirty="0"/>
              <a:t> </a:t>
            </a:r>
            <a:r>
              <a:rPr lang="ko-KR" altLang="en-US" dirty="0"/>
              <a:t>등</a:t>
            </a:r>
            <a:r>
              <a:rPr lang="en-US" altLang="ko-KR" dirty="0"/>
              <a:t>)</a:t>
            </a:r>
            <a:r>
              <a:rPr lang="ko-KR" altLang="en-US" dirty="0"/>
              <a:t>만을 이용해서 실습을 하게 됩니다</a:t>
            </a:r>
            <a:r>
              <a:rPr lang="en-US" altLang="ko-KR" dirty="0"/>
              <a:t>. </a:t>
            </a:r>
            <a:r>
              <a:rPr lang="ko-KR" altLang="en-US" dirty="0"/>
              <a:t>따라서 </a:t>
            </a:r>
            <a:r>
              <a:rPr lang="en-US" altLang="ko-KR" dirty="0" err="1"/>
              <a:t>numpy</a:t>
            </a:r>
            <a:r>
              <a:rPr lang="en-US" altLang="ko-KR" dirty="0"/>
              <a:t> </a:t>
            </a:r>
            <a:r>
              <a:rPr lang="ko-KR" altLang="en-US" dirty="0"/>
              <a:t>등을 사용할 수 없음을 주의해주세요</a:t>
            </a:r>
            <a:r>
              <a:rPr lang="en-US" altLang="ko-KR" dirty="0"/>
              <a:t>.</a:t>
            </a:r>
          </a:p>
          <a:p>
            <a:pPr>
              <a:lnSpc>
                <a:spcPct val="150000"/>
              </a:lnSpc>
            </a:pPr>
            <a:endParaRPr lang="en-US" altLang="ko-KR" dirty="0"/>
          </a:p>
          <a:p>
            <a:pPr>
              <a:lnSpc>
                <a:spcPct val="150000"/>
              </a:lnSpc>
            </a:pPr>
            <a:r>
              <a:rPr lang="en-US" altLang="ko-KR" dirty="0"/>
              <a:t>※ </a:t>
            </a:r>
            <a:r>
              <a:rPr lang="ko-KR" altLang="en-US" dirty="0"/>
              <a:t>정적</a:t>
            </a:r>
            <a:r>
              <a:rPr lang="en-US" altLang="ko-KR" dirty="0"/>
              <a:t> </a:t>
            </a:r>
            <a:r>
              <a:rPr lang="ko-KR" altLang="en-US" dirty="0"/>
              <a:t>배열</a:t>
            </a:r>
            <a:r>
              <a:rPr lang="en-US" altLang="ko-KR" dirty="0"/>
              <a:t>(Array)</a:t>
            </a:r>
            <a:r>
              <a:rPr lang="ko-KR" altLang="en-US" dirty="0"/>
              <a:t> 만드는 방법</a:t>
            </a:r>
            <a:r>
              <a:rPr lang="en-US" altLang="ko-KR" dirty="0"/>
              <a:t>: List</a:t>
            </a:r>
            <a:r>
              <a:rPr lang="ko-KR" altLang="en-US" dirty="0"/>
              <a:t>를 이용합니다</a:t>
            </a:r>
            <a:r>
              <a:rPr lang="en-US" altLang="ko-KR" dirty="0"/>
              <a:t>. (</a:t>
            </a:r>
            <a:r>
              <a:rPr lang="en-US" altLang="ko-KR" dirty="0" err="1">
                <a:solidFill>
                  <a:schemeClr val="bg2">
                    <a:lumMod val="75000"/>
                  </a:schemeClr>
                </a:solidFill>
              </a:rPr>
              <a:t>Initial_Data</a:t>
            </a:r>
            <a:r>
              <a:rPr lang="ko-KR" altLang="en-US" dirty="0">
                <a:solidFill>
                  <a:schemeClr val="bg2">
                    <a:lumMod val="75000"/>
                  </a:schemeClr>
                </a:solidFill>
              </a:rPr>
              <a:t>는 직접 값을 넣는 곳</a:t>
            </a:r>
            <a:r>
              <a:rPr lang="en-US" altLang="ko-KR" dirty="0"/>
              <a:t>)</a:t>
            </a: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ko-KR" altLang="en-US" dirty="0"/>
              <a:t>크기 </a:t>
            </a:r>
            <a:r>
              <a:rPr lang="en-US" altLang="ko-KR" dirty="0"/>
              <a:t>N</a:t>
            </a:r>
            <a:r>
              <a:rPr lang="ko-KR" altLang="en-US" dirty="0"/>
              <a:t>의 </a:t>
            </a:r>
            <a:r>
              <a:rPr lang="en-US" altLang="ko-KR" dirty="0"/>
              <a:t>1</a:t>
            </a:r>
            <a:r>
              <a:rPr lang="ko-KR" altLang="en-US" dirty="0"/>
              <a:t>차원 배열</a:t>
            </a:r>
            <a:r>
              <a:rPr lang="en-US" altLang="ko-KR" dirty="0"/>
              <a:t>: </a:t>
            </a:r>
            <a:r>
              <a:rPr lang="en-US" altLang="ko-KR" dirty="0" err="1"/>
              <a:t>Arr</a:t>
            </a:r>
            <a:r>
              <a:rPr lang="en-US" altLang="ko-KR" dirty="0"/>
              <a:t> = [</a:t>
            </a:r>
            <a:r>
              <a:rPr lang="en-US" altLang="ko-KR" dirty="0" err="1">
                <a:solidFill>
                  <a:schemeClr val="bg2">
                    <a:lumMod val="75000"/>
                  </a:schemeClr>
                </a:solidFill>
              </a:rPr>
              <a:t>Initial_Data</a:t>
            </a:r>
            <a:r>
              <a:rPr lang="en-US" altLang="ko-KR" dirty="0"/>
              <a:t>]</a:t>
            </a:r>
            <a:r>
              <a:rPr lang="ko-KR" altLang="en-US" dirty="0"/>
              <a:t>*</a:t>
            </a:r>
            <a:r>
              <a:rPr lang="en-US" altLang="ko-KR" dirty="0"/>
              <a:t>N</a:t>
            </a:r>
          </a:p>
          <a:p>
            <a:pPr marL="285750" indent="-285750">
              <a:lnSpc>
                <a:spcPct val="150000"/>
              </a:lnSpc>
              <a:buFontTx/>
              <a:buChar char="-"/>
            </a:pPr>
            <a:endParaRPr lang="en-US" altLang="ko-KR" dirty="0"/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en-US" altLang="ko-KR" dirty="0"/>
              <a:t>N</a:t>
            </a:r>
            <a:r>
              <a:rPr lang="ko-KR" altLang="en-US" dirty="0"/>
              <a:t>*</a:t>
            </a:r>
            <a:r>
              <a:rPr lang="en-US" altLang="ko-KR" dirty="0"/>
              <a:t>N 2</a:t>
            </a:r>
            <a:r>
              <a:rPr lang="ko-KR" altLang="en-US" dirty="0"/>
              <a:t>차원 배열</a:t>
            </a:r>
            <a:r>
              <a:rPr lang="en-US" altLang="ko-KR" dirty="0"/>
              <a:t>: Matrix = [[</a:t>
            </a:r>
            <a:r>
              <a:rPr lang="en-US" altLang="ko-KR" dirty="0" err="1">
                <a:solidFill>
                  <a:schemeClr val="bg2">
                    <a:lumMod val="75000"/>
                  </a:schemeClr>
                </a:solidFill>
              </a:rPr>
              <a:t>Initial_Data</a:t>
            </a:r>
            <a:r>
              <a:rPr lang="en-US" altLang="ko-KR" dirty="0"/>
              <a:t>]</a:t>
            </a:r>
            <a:r>
              <a:rPr lang="ko-KR" altLang="en-US" dirty="0"/>
              <a:t>*</a:t>
            </a:r>
            <a:r>
              <a:rPr lang="en-US" altLang="ko-KR" dirty="0"/>
              <a:t>N for _ in range(N)]</a:t>
            </a: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en-US" altLang="ko-KR" dirty="0"/>
              <a:t>N</a:t>
            </a:r>
            <a:r>
              <a:rPr lang="ko-KR" altLang="en-US" dirty="0"/>
              <a:t>*</a:t>
            </a:r>
            <a:r>
              <a:rPr lang="en-US" altLang="ko-KR" dirty="0"/>
              <a:t>M 2</a:t>
            </a:r>
            <a:r>
              <a:rPr lang="ko-KR" altLang="en-US" dirty="0"/>
              <a:t>차원 배열</a:t>
            </a:r>
            <a:r>
              <a:rPr lang="en-US" altLang="ko-KR" dirty="0"/>
              <a:t>: Matrix = [[</a:t>
            </a:r>
            <a:r>
              <a:rPr lang="en-US" altLang="ko-KR" dirty="0" err="1">
                <a:solidFill>
                  <a:schemeClr val="bg2">
                    <a:lumMod val="75000"/>
                  </a:schemeClr>
                </a:solidFill>
              </a:rPr>
              <a:t>Initial_Data</a:t>
            </a:r>
            <a:r>
              <a:rPr lang="en-US" altLang="ko-KR" dirty="0"/>
              <a:t>]</a:t>
            </a:r>
            <a:r>
              <a:rPr lang="ko-KR" altLang="en-US" dirty="0"/>
              <a:t>*</a:t>
            </a:r>
            <a:r>
              <a:rPr lang="en-US" altLang="ko-KR" dirty="0"/>
              <a:t>M for _ in range(N)]</a:t>
            </a:r>
          </a:p>
          <a:p>
            <a:pPr marL="285750" indent="-285750">
              <a:lnSpc>
                <a:spcPct val="150000"/>
              </a:lnSpc>
              <a:buFontTx/>
              <a:buChar char="-"/>
            </a:pPr>
            <a:endParaRPr lang="en-US" altLang="ko-KR" dirty="0"/>
          </a:p>
          <a:p>
            <a:pPr>
              <a:lnSpc>
                <a:spcPct val="150000"/>
              </a:lnSpc>
            </a:pPr>
            <a:r>
              <a:rPr lang="en-US" altLang="ko-KR" dirty="0"/>
              <a:t>※ </a:t>
            </a:r>
            <a:r>
              <a:rPr lang="ko-KR" altLang="en-US" dirty="0"/>
              <a:t>정해진 크기를 가지게 만들었으나</a:t>
            </a:r>
            <a:r>
              <a:rPr lang="en-US" altLang="ko-KR" dirty="0"/>
              <a:t>, </a:t>
            </a:r>
            <a:r>
              <a:rPr lang="ko-KR" altLang="en-US" dirty="0"/>
              <a:t>언제든 </a:t>
            </a:r>
            <a:r>
              <a:rPr lang="en-US" altLang="ko-KR" dirty="0"/>
              <a:t>Append</a:t>
            </a:r>
            <a:r>
              <a:rPr lang="ko-KR" altLang="en-US" dirty="0"/>
              <a:t>나 </a:t>
            </a:r>
            <a:r>
              <a:rPr lang="en-US" altLang="ko-KR" dirty="0"/>
              <a:t>Pop </a:t>
            </a:r>
            <a:r>
              <a:rPr lang="ko-KR" altLang="en-US" dirty="0"/>
              <a:t>등을 이용하여 크기를 바꿀 수 있습니다</a:t>
            </a:r>
            <a:r>
              <a:rPr lang="en-US" altLang="ko-KR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52240760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/>
          <p:cNvSpPr txBox="1"/>
          <p:nvPr/>
        </p:nvSpPr>
        <p:spPr>
          <a:xfrm>
            <a:off x="0" y="298260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chemeClr val="accent1">
                    <a:lumMod val="75000"/>
                  </a:schemeClr>
                </a:solidFill>
              </a:rPr>
              <a:t>01. A+B (1)</a:t>
            </a:r>
          </a:p>
        </p:txBody>
      </p:sp>
      <p:sp>
        <p:nvSpPr>
          <p:cNvPr id="4" name="직사각형 3"/>
          <p:cNvSpPr/>
          <p:nvPr/>
        </p:nvSpPr>
        <p:spPr>
          <a:xfrm>
            <a:off x="1510351" y="1357581"/>
            <a:ext cx="9722508" cy="377827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dirty="0"/>
              <a:t>두 수를 입력 받아서 그 합을 출력하는 프로그램을 제출해봅시다</a:t>
            </a:r>
            <a:r>
              <a:rPr lang="en-US" altLang="ko-KR" dirty="0"/>
              <a:t>.</a:t>
            </a:r>
          </a:p>
          <a:p>
            <a:pPr>
              <a:lnSpc>
                <a:spcPct val="150000"/>
              </a:lnSpc>
            </a:pPr>
            <a:endParaRPr lang="en-US" altLang="ko-KR" dirty="0"/>
          </a:p>
          <a:p>
            <a:pPr>
              <a:lnSpc>
                <a:spcPct val="150000"/>
              </a:lnSpc>
            </a:pPr>
            <a:endParaRPr lang="en-US" altLang="ko-KR" dirty="0"/>
          </a:p>
          <a:p>
            <a:pPr>
              <a:lnSpc>
                <a:spcPct val="150000"/>
              </a:lnSpc>
            </a:pPr>
            <a:r>
              <a:rPr lang="en-US" altLang="ko-KR" dirty="0"/>
              <a:t>* Hint: input() </a:t>
            </a:r>
            <a:r>
              <a:rPr lang="ko-KR" altLang="en-US" dirty="0"/>
              <a:t>함수를 사용할 때에 괄호 안에 문구가 있으면 해당 문구가 출력으로 인식되어 </a:t>
            </a:r>
            <a:r>
              <a:rPr lang="en-US" altLang="ko-KR" dirty="0"/>
              <a:t>wrong answer</a:t>
            </a:r>
            <a:r>
              <a:rPr lang="ko-KR" altLang="en-US" dirty="0"/>
              <a:t>가 나오게 됩니다</a:t>
            </a:r>
            <a:r>
              <a:rPr lang="en-US" altLang="ko-KR" dirty="0"/>
              <a:t>.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dirty="0"/>
          </a:p>
          <a:p>
            <a:pPr>
              <a:lnSpc>
                <a:spcPct val="150000"/>
              </a:lnSpc>
            </a:pPr>
            <a:endParaRPr lang="en-US" altLang="ko-KR" dirty="0"/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en-US" altLang="ko-KR" dirty="0"/>
              <a:t>input(‘</a:t>
            </a:r>
            <a:r>
              <a:rPr lang="ko-KR" altLang="en-US" dirty="0"/>
              <a:t>두 수를 입력 받습니다</a:t>
            </a:r>
            <a:r>
              <a:rPr lang="en-US" altLang="ko-KR" dirty="0"/>
              <a:t>.’)      </a:t>
            </a:r>
            <a:r>
              <a:rPr lang="en-US" altLang="ko-KR" dirty="0">
                <a:sym typeface="Wingdings" panose="05000000000000000000" pitchFamily="2" charset="2"/>
              </a:rPr>
              <a:t></a:t>
            </a:r>
            <a:r>
              <a:rPr lang="en-US" altLang="ko-KR" dirty="0"/>
              <a:t>     </a:t>
            </a:r>
            <a:r>
              <a:rPr lang="en-US" altLang="ko-K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X</a:t>
            </a: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en-US" altLang="ko-KR" dirty="0"/>
              <a:t>input()                                    </a:t>
            </a:r>
            <a:r>
              <a:rPr lang="en-US" altLang="ko-KR" dirty="0">
                <a:sym typeface="Wingdings" panose="05000000000000000000" pitchFamily="2" charset="2"/>
              </a:rPr>
              <a:t></a:t>
            </a:r>
            <a:r>
              <a:rPr lang="en-US" altLang="ko-KR" dirty="0"/>
              <a:t>     </a:t>
            </a:r>
            <a:r>
              <a:rPr lang="en-US" altLang="ko-K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</a:t>
            </a:r>
          </a:p>
        </p:txBody>
      </p:sp>
    </p:spTree>
    <p:extLst>
      <p:ext uri="{BB962C8B-B14F-4D97-AF65-F5344CB8AC3E}">
        <p14:creationId xmlns:p14="http://schemas.microsoft.com/office/powerpoint/2010/main" val="13257464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직사각형 7"/>
          <p:cNvSpPr/>
          <p:nvPr/>
        </p:nvSpPr>
        <p:spPr>
          <a:xfrm>
            <a:off x="1002351" y="1161732"/>
            <a:ext cx="1018729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ko-KR" altLang="en-US" dirty="0"/>
              <a:t>테스트 케이스만큼 입력을 받아서</a:t>
            </a:r>
            <a:r>
              <a:rPr lang="en-US" altLang="ko-KR" dirty="0"/>
              <a:t>, </a:t>
            </a:r>
            <a:r>
              <a:rPr lang="ko-KR" altLang="en-US" dirty="0"/>
              <a:t>각각의 </a:t>
            </a:r>
            <a:r>
              <a:rPr lang="en-US" altLang="ko-KR" dirty="0"/>
              <a:t>A+B</a:t>
            </a:r>
            <a:r>
              <a:rPr lang="ko-KR" altLang="en-US" dirty="0"/>
              <a:t>를 전부 구하는 프로그램을 구현합시다</a:t>
            </a:r>
            <a:r>
              <a:rPr lang="en-US" altLang="ko-KR" dirty="0"/>
              <a:t>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0" y="298260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chemeClr val="accent1">
                    <a:lumMod val="75000"/>
                  </a:schemeClr>
                </a:solidFill>
              </a:rPr>
              <a:t>02. A+B (2)</a:t>
            </a:r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 rotWithShape="1">
          <a:blip r:embed="rId2"/>
          <a:srcRect l="18518"/>
          <a:stretch/>
        </p:blipFill>
        <p:spPr>
          <a:xfrm>
            <a:off x="5232399" y="1882934"/>
            <a:ext cx="2266257" cy="4591050"/>
          </a:xfrm>
          <a:prstGeom prst="rect">
            <a:avLst/>
          </a:prstGeom>
        </p:spPr>
      </p:pic>
      <p:sp>
        <p:nvSpPr>
          <p:cNvPr id="5" name="직사각형 4"/>
          <p:cNvSpPr/>
          <p:nvPr/>
        </p:nvSpPr>
        <p:spPr>
          <a:xfrm>
            <a:off x="5232399" y="1882934"/>
            <a:ext cx="2266258" cy="1352999"/>
          </a:xfrm>
          <a:prstGeom prst="rect">
            <a:avLst/>
          </a:prstGeom>
          <a:noFill/>
          <a:ln w="635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직사각형 5"/>
          <p:cNvSpPr/>
          <p:nvPr/>
        </p:nvSpPr>
        <p:spPr>
          <a:xfrm>
            <a:off x="5232399" y="3856234"/>
            <a:ext cx="2266258" cy="733253"/>
          </a:xfrm>
          <a:prstGeom prst="rect">
            <a:avLst/>
          </a:prstGeom>
          <a:noFill/>
          <a:ln w="635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직사각형 6"/>
          <p:cNvSpPr/>
          <p:nvPr/>
        </p:nvSpPr>
        <p:spPr>
          <a:xfrm>
            <a:off x="5232399" y="5126023"/>
            <a:ext cx="2266258" cy="741377"/>
          </a:xfrm>
          <a:prstGeom prst="rect">
            <a:avLst/>
          </a:prstGeom>
          <a:noFill/>
          <a:ln w="635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/>
          <p:cNvSpPr txBox="1"/>
          <p:nvPr/>
        </p:nvSpPr>
        <p:spPr>
          <a:xfrm>
            <a:off x="9573748" y="2882392"/>
            <a:ext cx="2103461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&lt;</a:t>
            </a:r>
            <a:r>
              <a:rPr lang="ko-KR" altLang="en-US" dirty="0"/>
              <a:t>출력 예시</a:t>
            </a:r>
            <a:r>
              <a:rPr lang="en-US" altLang="ko-KR" dirty="0"/>
              <a:t>&gt;</a:t>
            </a:r>
          </a:p>
          <a:p>
            <a:endParaRPr lang="en-US" altLang="ko-KR" dirty="0"/>
          </a:p>
          <a:p>
            <a:r>
              <a:rPr lang="en-US" altLang="ko-KR" dirty="0"/>
              <a:t>10 #1</a:t>
            </a:r>
            <a:r>
              <a:rPr lang="ko-KR" altLang="en-US" dirty="0"/>
              <a:t>번 테스트 답</a:t>
            </a:r>
            <a:endParaRPr lang="en-US" altLang="ko-KR" dirty="0"/>
          </a:p>
          <a:p>
            <a:r>
              <a:rPr lang="en-US" altLang="ko-KR" dirty="0"/>
              <a:t>-5 #2</a:t>
            </a:r>
            <a:r>
              <a:rPr lang="ko-KR" altLang="en-US" dirty="0"/>
              <a:t>번 테스트 답</a:t>
            </a:r>
            <a:endParaRPr lang="en-US" altLang="ko-KR" dirty="0"/>
          </a:p>
          <a:p>
            <a:r>
              <a:rPr lang="en-US" altLang="ko-KR" dirty="0"/>
              <a:t>13 #3</a:t>
            </a:r>
            <a:r>
              <a:rPr lang="ko-KR" altLang="en-US" dirty="0"/>
              <a:t>번 테스트 답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21961" y="3301295"/>
            <a:ext cx="2412333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&lt;</a:t>
            </a:r>
            <a:r>
              <a:rPr lang="ko-KR" altLang="en-US" dirty="0"/>
              <a:t>입력 예시</a:t>
            </a:r>
            <a:r>
              <a:rPr lang="en-US" altLang="ko-KR" dirty="0"/>
              <a:t>&gt;</a:t>
            </a:r>
          </a:p>
          <a:p>
            <a:endParaRPr lang="en-US" altLang="ko-KR" dirty="0"/>
          </a:p>
          <a:p>
            <a:r>
              <a:rPr lang="en-US" altLang="ko-KR" dirty="0"/>
              <a:t>3 #</a:t>
            </a:r>
            <a:r>
              <a:rPr lang="ko-KR" altLang="en-US" dirty="0"/>
              <a:t>테스트케이스 수</a:t>
            </a:r>
            <a:endParaRPr lang="en-US" altLang="ko-KR" dirty="0"/>
          </a:p>
          <a:p>
            <a:r>
              <a:rPr lang="en-US" altLang="ko-KR" dirty="0"/>
              <a:t>2 8 #1</a:t>
            </a:r>
            <a:r>
              <a:rPr lang="ko-KR" altLang="en-US" dirty="0"/>
              <a:t>번 테스트</a:t>
            </a:r>
            <a:endParaRPr lang="en-US" altLang="ko-KR" dirty="0"/>
          </a:p>
          <a:p>
            <a:r>
              <a:rPr lang="en-US" altLang="ko-KR" dirty="0"/>
              <a:t>-7 2 #2</a:t>
            </a:r>
            <a:r>
              <a:rPr lang="ko-KR" altLang="en-US" dirty="0"/>
              <a:t>번 테스트</a:t>
            </a:r>
            <a:endParaRPr lang="en-US" altLang="ko-KR" dirty="0"/>
          </a:p>
          <a:p>
            <a:r>
              <a:rPr lang="en-US" altLang="ko-KR" dirty="0"/>
              <a:t>23 -10 #3</a:t>
            </a:r>
            <a:r>
              <a:rPr lang="ko-KR" altLang="en-US" dirty="0"/>
              <a:t>번 테스트</a:t>
            </a:r>
          </a:p>
        </p:txBody>
      </p:sp>
      <p:cxnSp>
        <p:nvCxnSpPr>
          <p:cNvPr id="11" name="직선 화살표 연결선 10"/>
          <p:cNvCxnSpPr>
            <a:cxnSpLocks/>
            <a:stCxn id="5" idx="1"/>
            <a:endCxn id="10" idx="3"/>
          </p:cNvCxnSpPr>
          <p:nvPr/>
        </p:nvCxnSpPr>
        <p:spPr>
          <a:xfrm flipH="1">
            <a:off x="4134294" y="2559434"/>
            <a:ext cx="1098105" cy="1619024"/>
          </a:xfrm>
          <a:prstGeom prst="straightConnector1">
            <a:avLst/>
          </a:prstGeom>
          <a:ln w="127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직선 화살표 연결선 11"/>
          <p:cNvCxnSpPr>
            <a:stCxn id="6" idx="1"/>
            <a:endCxn id="10" idx="3"/>
          </p:cNvCxnSpPr>
          <p:nvPr/>
        </p:nvCxnSpPr>
        <p:spPr>
          <a:xfrm flipH="1" flipV="1">
            <a:off x="4134294" y="4178458"/>
            <a:ext cx="1098105" cy="44403"/>
          </a:xfrm>
          <a:prstGeom prst="straightConnector1">
            <a:avLst/>
          </a:prstGeom>
          <a:ln w="127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직선 화살표 연결선 12"/>
          <p:cNvCxnSpPr>
            <a:stCxn id="7" idx="1"/>
            <a:endCxn id="10" idx="3"/>
          </p:cNvCxnSpPr>
          <p:nvPr/>
        </p:nvCxnSpPr>
        <p:spPr>
          <a:xfrm flipH="1" flipV="1">
            <a:off x="4134294" y="4178458"/>
            <a:ext cx="1098105" cy="1318254"/>
          </a:xfrm>
          <a:prstGeom prst="straightConnector1">
            <a:avLst/>
          </a:prstGeom>
          <a:ln w="127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직선 화살표 연결선 13"/>
          <p:cNvCxnSpPr>
            <a:endCxn id="9" idx="1"/>
          </p:cNvCxnSpPr>
          <p:nvPr/>
        </p:nvCxnSpPr>
        <p:spPr>
          <a:xfrm>
            <a:off x="7498656" y="3505200"/>
            <a:ext cx="2075092" cy="115856"/>
          </a:xfrm>
          <a:prstGeom prst="straightConnector1">
            <a:avLst/>
          </a:prstGeom>
          <a:ln w="127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직선 화살표 연결선 15"/>
          <p:cNvCxnSpPr>
            <a:endCxn id="9" idx="1"/>
          </p:cNvCxnSpPr>
          <p:nvPr/>
        </p:nvCxnSpPr>
        <p:spPr>
          <a:xfrm flipV="1">
            <a:off x="7498656" y="3621056"/>
            <a:ext cx="2075092" cy="1230344"/>
          </a:xfrm>
          <a:prstGeom prst="straightConnector1">
            <a:avLst/>
          </a:prstGeom>
          <a:ln w="127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직선 화살표 연결선 16"/>
          <p:cNvCxnSpPr>
            <a:endCxn id="9" idx="1"/>
          </p:cNvCxnSpPr>
          <p:nvPr/>
        </p:nvCxnSpPr>
        <p:spPr>
          <a:xfrm flipV="1">
            <a:off x="7498655" y="3621056"/>
            <a:ext cx="2075093" cy="2504594"/>
          </a:xfrm>
          <a:prstGeom prst="straightConnector1">
            <a:avLst/>
          </a:prstGeom>
          <a:ln w="127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5749579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직사각형 7"/>
          <p:cNvSpPr/>
          <p:nvPr/>
        </p:nvSpPr>
        <p:spPr>
          <a:xfrm>
            <a:off x="1238972" y="1427811"/>
            <a:ext cx="9714055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ko-KR" altLang="en-US" dirty="0"/>
              <a:t>테스트 케이스만큼 리스트를 입력 받고</a:t>
            </a:r>
            <a:r>
              <a:rPr lang="en-US" altLang="ko-KR" dirty="0"/>
              <a:t>, </a:t>
            </a:r>
            <a:r>
              <a:rPr lang="ko-KR" altLang="en-US" dirty="0"/>
              <a:t>그 리스트의 합을 출력하는 프로그램을 작성합시다</a:t>
            </a:r>
            <a:r>
              <a:rPr lang="en-US" altLang="ko-KR" dirty="0"/>
              <a:t>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0" y="298260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chemeClr val="accent1">
                    <a:lumMod val="75000"/>
                  </a:schemeClr>
                </a:solidFill>
              </a:rPr>
              <a:t>03. </a:t>
            </a:r>
            <a:r>
              <a:rPr lang="ko-KR" altLang="en-US" sz="3600" b="1" dirty="0">
                <a:solidFill>
                  <a:schemeClr val="accent1">
                    <a:lumMod val="75000"/>
                  </a:schemeClr>
                </a:solidFill>
              </a:rPr>
              <a:t>리스트 합</a:t>
            </a:r>
            <a:endParaRPr lang="en-US" sz="3600" b="1" dirty="0">
              <a:solidFill>
                <a:schemeClr val="accent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5236473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직사각형 7"/>
          <p:cNvSpPr/>
          <p:nvPr/>
        </p:nvSpPr>
        <p:spPr>
          <a:xfrm>
            <a:off x="2004703" y="1369938"/>
            <a:ext cx="6433241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dirty="0"/>
              <a:t>가장 기본적이고 중요한 자료 구조인 </a:t>
            </a:r>
            <a:r>
              <a:rPr lang="ko-KR" altLang="en-US" dirty="0">
                <a:solidFill>
                  <a:srgbClr val="FF0000"/>
                </a:solidFill>
              </a:rPr>
              <a:t>스택</a:t>
            </a:r>
            <a:r>
              <a:rPr lang="ko-KR" altLang="en-US" dirty="0"/>
              <a:t>을 구현합니다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en-US" altLang="ko-KR" dirty="0"/>
              <a:t>* Hint: list</a:t>
            </a:r>
            <a:r>
              <a:rPr lang="ko-KR" altLang="en-US" dirty="0"/>
              <a:t>의 </a:t>
            </a:r>
            <a:r>
              <a:rPr lang="en-US" altLang="ko-KR" dirty="0"/>
              <a:t>pop() </a:t>
            </a:r>
            <a:r>
              <a:rPr lang="ko-KR" altLang="en-US" dirty="0"/>
              <a:t>함수를 사용합시다</a:t>
            </a:r>
            <a:r>
              <a:rPr lang="en-US" altLang="ko-KR" dirty="0"/>
              <a:t>!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0" y="298260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3600" b="1" dirty="0">
                <a:solidFill>
                  <a:schemeClr val="accent1">
                    <a:lumMod val="75000"/>
                  </a:schemeClr>
                </a:solidFill>
              </a:rPr>
              <a:t>04. </a:t>
            </a:r>
            <a:r>
              <a:rPr lang="ko-KR" altLang="en-US" sz="3600" b="1" dirty="0">
                <a:solidFill>
                  <a:schemeClr val="accent1">
                    <a:lumMod val="75000"/>
                  </a:schemeClr>
                </a:solidFill>
              </a:rPr>
              <a:t>스택 구현하기</a:t>
            </a:r>
            <a:endParaRPr lang="en-US" sz="36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2" name="원통 1"/>
          <p:cNvSpPr/>
          <p:nvPr/>
        </p:nvSpPr>
        <p:spPr>
          <a:xfrm>
            <a:off x="2554760" y="3455082"/>
            <a:ext cx="1158074" cy="2515266"/>
          </a:xfrm>
          <a:prstGeom prst="can">
            <a:avLst>
              <a:gd name="adj" fmla="val 14000"/>
            </a:avLst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타원 2"/>
          <p:cNvSpPr/>
          <p:nvPr/>
        </p:nvSpPr>
        <p:spPr>
          <a:xfrm>
            <a:off x="2876047" y="5328941"/>
            <a:ext cx="515500" cy="515500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2</a:t>
            </a:r>
            <a:endParaRPr lang="ko-KR" altLang="en-US" dirty="0"/>
          </a:p>
        </p:txBody>
      </p:sp>
      <p:sp>
        <p:nvSpPr>
          <p:cNvPr id="6" name="타원 5"/>
          <p:cNvSpPr/>
          <p:nvPr/>
        </p:nvSpPr>
        <p:spPr>
          <a:xfrm>
            <a:off x="2876047" y="4771306"/>
            <a:ext cx="515500" cy="515500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4</a:t>
            </a:r>
            <a:endParaRPr lang="ko-KR" altLang="en-US" dirty="0"/>
          </a:p>
        </p:txBody>
      </p:sp>
      <p:sp>
        <p:nvSpPr>
          <p:cNvPr id="7" name="타원 6"/>
          <p:cNvSpPr/>
          <p:nvPr/>
        </p:nvSpPr>
        <p:spPr>
          <a:xfrm>
            <a:off x="1957901" y="2597560"/>
            <a:ext cx="515500" cy="515500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1</a:t>
            </a:r>
            <a:endParaRPr lang="ko-KR" altLang="en-US" dirty="0"/>
          </a:p>
        </p:txBody>
      </p:sp>
      <p:sp>
        <p:nvSpPr>
          <p:cNvPr id="4" name="오른쪽 화살표 3"/>
          <p:cNvSpPr/>
          <p:nvPr/>
        </p:nvSpPr>
        <p:spPr>
          <a:xfrm rot="1800000">
            <a:off x="2561241" y="2963269"/>
            <a:ext cx="558459" cy="472580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TextBox 4"/>
          <p:cNvSpPr txBox="1"/>
          <p:nvPr/>
        </p:nvSpPr>
        <p:spPr>
          <a:xfrm>
            <a:off x="2731499" y="2622675"/>
            <a:ext cx="6880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push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73277522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직사각형 7"/>
          <p:cNvSpPr/>
          <p:nvPr/>
        </p:nvSpPr>
        <p:spPr>
          <a:xfrm>
            <a:off x="2004703" y="1369938"/>
            <a:ext cx="6433241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dirty="0"/>
              <a:t>가장 기본적이고 중요한 자료 구조인 </a:t>
            </a:r>
            <a:r>
              <a:rPr lang="ko-KR" altLang="en-US" dirty="0">
                <a:solidFill>
                  <a:srgbClr val="FF0000"/>
                </a:solidFill>
              </a:rPr>
              <a:t>스택</a:t>
            </a:r>
            <a:r>
              <a:rPr lang="ko-KR" altLang="en-US" dirty="0"/>
              <a:t>을 구현합니다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en-US" altLang="ko-KR" dirty="0"/>
              <a:t>* Hint: list</a:t>
            </a:r>
            <a:r>
              <a:rPr lang="ko-KR" altLang="en-US" dirty="0"/>
              <a:t>의 </a:t>
            </a:r>
            <a:r>
              <a:rPr lang="en-US" altLang="ko-KR" dirty="0"/>
              <a:t>pop() </a:t>
            </a:r>
            <a:r>
              <a:rPr lang="ko-KR" altLang="en-US" dirty="0"/>
              <a:t>함수를 사용합시다</a:t>
            </a:r>
            <a:r>
              <a:rPr lang="en-US" altLang="ko-KR" dirty="0"/>
              <a:t>!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0" y="298260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3600" b="1" dirty="0">
                <a:solidFill>
                  <a:schemeClr val="accent1">
                    <a:lumMod val="75000"/>
                  </a:schemeClr>
                </a:solidFill>
              </a:rPr>
              <a:t>04. </a:t>
            </a:r>
            <a:r>
              <a:rPr lang="ko-KR" altLang="en-US" sz="3600" b="1" dirty="0">
                <a:solidFill>
                  <a:schemeClr val="accent1">
                    <a:lumMod val="75000"/>
                  </a:schemeClr>
                </a:solidFill>
              </a:rPr>
              <a:t>스택 구현하기</a:t>
            </a:r>
            <a:endParaRPr lang="en-US" sz="36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2" name="원통 1"/>
          <p:cNvSpPr/>
          <p:nvPr/>
        </p:nvSpPr>
        <p:spPr>
          <a:xfrm>
            <a:off x="2554760" y="3455082"/>
            <a:ext cx="1158074" cy="2515266"/>
          </a:xfrm>
          <a:prstGeom prst="can">
            <a:avLst>
              <a:gd name="adj" fmla="val 14000"/>
            </a:avLst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타원 2"/>
          <p:cNvSpPr/>
          <p:nvPr/>
        </p:nvSpPr>
        <p:spPr>
          <a:xfrm>
            <a:off x="2876047" y="5328941"/>
            <a:ext cx="515500" cy="515500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2</a:t>
            </a:r>
            <a:endParaRPr lang="ko-KR" altLang="en-US" dirty="0"/>
          </a:p>
        </p:txBody>
      </p:sp>
      <p:sp>
        <p:nvSpPr>
          <p:cNvPr id="6" name="타원 5"/>
          <p:cNvSpPr/>
          <p:nvPr/>
        </p:nvSpPr>
        <p:spPr>
          <a:xfrm>
            <a:off x="2876047" y="4771306"/>
            <a:ext cx="515500" cy="515500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4</a:t>
            </a:r>
            <a:endParaRPr lang="ko-KR" altLang="en-US" dirty="0"/>
          </a:p>
        </p:txBody>
      </p:sp>
      <p:sp>
        <p:nvSpPr>
          <p:cNvPr id="7" name="타원 6"/>
          <p:cNvSpPr/>
          <p:nvPr/>
        </p:nvSpPr>
        <p:spPr>
          <a:xfrm>
            <a:off x="1957901" y="2597560"/>
            <a:ext cx="515500" cy="515500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1</a:t>
            </a:r>
            <a:endParaRPr lang="ko-KR" altLang="en-US" dirty="0"/>
          </a:p>
        </p:txBody>
      </p:sp>
      <p:sp>
        <p:nvSpPr>
          <p:cNvPr id="4" name="오른쪽 화살표 3"/>
          <p:cNvSpPr/>
          <p:nvPr/>
        </p:nvSpPr>
        <p:spPr>
          <a:xfrm rot="1800000">
            <a:off x="2561241" y="2963269"/>
            <a:ext cx="558459" cy="472580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TextBox 4"/>
          <p:cNvSpPr txBox="1"/>
          <p:nvPr/>
        </p:nvSpPr>
        <p:spPr>
          <a:xfrm>
            <a:off x="2731499" y="2622675"/>
            <a:ext cx="6880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push</a:t>
            </a:r>
            <a:endParaRPr lang="ko-KR" altLang="en-US" dirty="0"/>
          </a:p>
        </p:txBody>
      </p:sp>
      <p:sp>
        <p:nvSpPr>
          <p:cNvPr id="10" name="원통 9"/>
          <p:cNvSpPr/>
          <p:nvPr/>
        </p:nvSpPr>
        <p:spPr>
          <a:xfrm>
            <a:off x="4807719" y="3455082"/>
            <a:ext cx="1158074" cy="2515266"/>
          </a:xfrm>
          <a:prstGeom prst="can">
            <a:avLst>
              <a:gd name="adj" fmla="val 14000"/>
            </a:avLst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타원 10"/>
          <p:cNvSpPr/>
          <p:nvPr/>
        </p:nvSpPr>
        <p:spPr>
          <a:xfrm>
            <a:off x="5129006" y="5328941"/>
            <a:ext cx="515500" cy="515500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2</a:t>
            </a:r>
            <a:endParaRPr lang="ko-KR" altLang="en-US" dirty="0"/>
          </a:p>
        </p:txBody>
      </p:sp>
      <p:sp>
        <p:nvSpPr>
          <p:cNvPr id="12" name="타원 11"/>
          <p:cNvSpPr/>
          <p:nvPr/>
        </p:nvSpPr>
        <p:spPr>
          <a:xfrm>
            <a:off x="5129006" y="4771306"/>
            <a:ext cx="515500" cy="515500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4</a:t>
            </a:r>
            <a:endParaRPr lang="ko-KR" altLang="en-US" dirty="0"/>
          </a:p>
        </p:txBody>
      </p:sp>
      <p:sp>
        <p:nvSpPr>
          <p:cNvPr id="13" name="타원 12"/>
          <p:cNvSpPr/>
          <p:nvPr/>
        </p:nvSpPr>
        <p:spPr>
          <a:xfrm>
            <a:off x="4221204" y="2597560"/>
            <a:ext cx="515500" cy="515500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3</a:t>
            </a:r>
            <a:endParaRPr lang="ko-KR" altLang="en-US" dirty="0"/>
          </a:p>
        </p:txBody>
      </p:sp>
      <p:sp>
        <p:nvSpPr>
          <p:cNvPr id="14" name="오른쪽 화살표 13"/>
          <p:cNvSpPr/>
          <p:nvPr/>
        </p:nvSpPr>
        <p:spPr>
          <a:xfrm rot="1800000">
            <a:off x="4824544" y="2963269"/>
            <a:ext cx="558459" cy="472580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TextBox 15"/>
          <p:cNvSpPr txBox="1"/>
          <p:nvPr/>
        </p:nvSpPr>
        <p:spPr>
          <a:xfrm>
            <a:off x="4994802" y="2622675"/>
            <a:ext cx="6880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push</a:t>
            </a:r>
            <a:endParaRPr lang="ko-KR" altLang="en-US" dirty="0"/>
          </a:p>
        </p:txBody>
      </p:sp>
      <p:sp>
        <p:nvSpPr>
          <p:cNvPr id="23" name="타원 22"/>
          <p:cNvSpPr/>
          <p:nvPr/>
        </p:nvSpPr>
        <p:spPr>
          <a:xfrm>
            <a:off x="5129006" y="4207836"/>
            <a:ext cx="515500" cy="515500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1</a:t>
            </a:r>
            <a:endParaRPr lang="ko-KR" altLang="en-US" dirty="0"/>
          </a:p>
        </p:txBody>
      </p:sp>
      <p:sp>
        <p:nvSpPr>
          <p:cNvPr id="9" name="아래쪽 화살표 8"/>
          <p:cNvSpPr/>
          <p:nvPr/>
        </p:nvSpPr>
        <p:spPr>
          <a:xfrm rot="16200000">
            <a:off x="3376546" y="4721442"/>
            <a:ext cx="1767461" cy="650513"/>
          </a:xfrm>
          <a:prstGeom prst="downArrow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2312925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직사각형 7"/>
          <p:cNvSpPr/>
          <p:nvPr/>
        </p:nvSpPr>
        <p:spPr>
          <a:xfrm>
            <a:off x="2004703" y="1369938"/>
            <a:ext cx="6433241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dirty="0"/>
              <a:t>가장 기본적이고 중요한 자료 구조인 </a:t>
            </a:r>
            <a:r>
              <a:rPr lang="ko-KR" altLang="en-US" dirty="0">
                <a:solidFill>
                  <a:srgbClr val="FF0000"/>
                </a:solidFill>
              </a:rPr>
              <a:t>스택</a:t>
            </a:r>
            <a:r>
              <a:rPr lang="ko-KR" altLang="en-US" dirty="0"/>
              <a:t>을 구현합니다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en-US" altLang="ko-KR" dirty="0"/>
              <a:t>* Hint: list</a:t>
            </a:r>
            <a:r>
              <a:rPr lang="ko-KR" altLang="en-US" dirty="0"/>
              <a:t>의 </a:t>
            </a:r>
            <a:r>
              <a:rPr lang="en-US" altLang="ko-KR" dirty="0"/>
              <a:t>pop() </a:t>
            </a:r>
            <a:r>
              <a:rPr lang="ko-KR" altLang="en-US" dirty="0"/>
              <a:t>함수를 사용합시다</a:t>
            </a:r>
            <a:r>
              <a:rPr lang="en-US" altLang="ko-KR" dirty="0"/>
              <a:t>!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0" y="298260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3600" b="1" dirty="0">
                <a:solidFill>
                  <a:schemeClr val="accent1">
                    <a:lumMod val="75000"/>
                  </a:schemeClr>
                </a:solidFill>
              </a:rPr>
              <a:t>04. </a:t>
            </a:r>
            <a:r>
              <a:rPr lang="ko-KR" altLang="en-US" sz="3600" b="1" dirty="0">
                <a:solidFill>
                  <a:schemeClr val="accent1">
                    <a:lumMod val="75000"/>
                  </a:schemeClr>
                </a:solidFill>
              </a:rPr>
              <a:t>스택 구현하기</a:t>
            </a:r>
            <a:endParaRPr lang="en-US" sz="36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2" name="원통 1"/>
          <p:cNvSpPr/>
          <p:nvPr/>
        </p:nvSpPr>
        <p:spPr>
          <a:xfrm>
            <a:off x="2554760" y="3455082"/>
            <a:ext cx="1158074" cy="2515266"/>
          </a:xfrm>
          <a:prstGeom prst="can">
            <a:avLst>
              <a:gd name="adj" fmla="val 14000"/>
            </a:avLst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타원 2"/>
          <p:cNvSpPr/>
          <p:nvPr/>
        </p:nvSpPr>
        <p:spPr>
          <a:xfrm>
            <a:off x="2876047" y="5328941"/>
            <a:ext cx="515500" cy="515500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2</a:t>
            </a:r>
            <a:endParaRPr lang="ko-KR" altLang="en-US" dirty="0"/>
          </a:p>
        </p:txBody>
      </p:sp>
      <p:sp>
        <p:nvSpPr>
          <p:cNvPr id="6" name="타원 5"/>
          <p:cNvSpPr/>
          <p:nvPr/>
        </p:nvSpPr>
        <p:spPr>
          <a:xfrm>
            <a:off x="2876047" y="4771306"/>
            <a:ext cx="515500" cy="515500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4</a:t>
            </a:r>
            <a:endParaRPr lang="ko-KR" altLang="en-US" dirty="0"/>
          </a:p>
        </p:txBody>
      </p:sp>
      <p:sp>
        <p:nvSpPr>
          <p:cNvPr id="7" name="타원 6"/>
          <p:cNvSpPr/>
          <p:nvPr/>
        </p:nvSpPr>
        <p:spPr>
          <a:xfrm>
            <a:off x="1957901" y="2597560"/>
            <a:ext cx="515500" cy="515500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1</a:t>
            </a:r>
            <a:endParaRPr lang="ko-KR" altLang="en-US" dirty="0"/>
          </a:p>
        </p:txBody>
      </p:sp>
      <p:sp>
        <p:nvSpPr>
          <p:cNvPr id="4" name="오른쪽 화살표 3"/>
          <p:cNvSpPr/>
          <p:nvPr/>
        </p:nvSpPr>
        <p:spPr>
          <a:xfrm rot="1800000">
            <a:off x="2561241" y="2963269"/>
            <a:ext cx="558459" cy="472580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TextBox 4"/>
          <p:cNvSpPr txBox="1"/>
          <p:nvPr/>
        </p:nvSpPr>
        <p:spPr>
          <a:xfrm>
            <a:off x="2731499" y="2622675"/>
            <a:ext cx="6880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push</a:t>
            </a:r>
            <a:endParaRPr lang="ko-KR" altLang="en-US" dirty="0"/>
          </a:p>
        </p:txBody>
      </p:sp>
      <p:sp>
        <p:nvSpPr>
          <p:cNvPr id="10" name="원통 9"/>
          <p:cNvSpPr/>
          <p:nvPr/>
        </p:nvSpPr>
        <p:spPr>
          <a:xfrm>
            <a:off x="4807719" y="3455082"/>
            <a:ext cx="1158074" cy="2515266"/>
          </a:xfrm>
          <a:prstGeom prst="can">
            <a:avLst>
              <a:gd name="adj" fmla="val 14000"/>
            </a:avLst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타원 10"/>
          <p:cNvSpPr/>
          <p:nvPr/>
        </p:nvSpPr>
        <p:spPr>
          <a:xfrm>
            <a:off x="5129006" y="5328941"/>
            <a:ext cx="515500" cy="515500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2</a:t>
            </a:r>
            <a:endParaRPr lang="ko-KR" altLang="en-US" dirty="0"/>
          </a:p>
        </p:txBody>
      </p:sp>
      <p:sp>
        <p:nvSpPr>
          <p:cNvPr id="12" name="타원 11"/>
          <p:cNvSpPr/>
          <p:nvPr/>
        </p:nvSpPr>
        <p:spPr>
          <a:xfrm>
            <a:off x="5129006" y="4771306"/>
            <a:ext cx="515500" cy="515500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4</a:t>
            </a:r>
            <a:endParaRPr lang="ko-KR" altLang="en-US" dirty="0"/>
          </a:p>
        </p:txBody>
      </p:sp>
      <p:sp>
        <p:nvSpPr>
          <p:cNvPr id="13" name="타원 12"/>
          <p:cNvSpPr/>
          <p:nvPr/>
        </p:nvSpPr>
        <p:spPr>
          <a:xfrm>
            <a:off x="4221204" y="2597560"/>
            <a:ext cx="515500" cy="515500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3</a:t>
            </a:r>
            <a:endParaRPr lang="ko-KR" altLang="en-US" dirty="0"/>
          </a:p>
        </p:txBody>
      </p:sp>
      <p:sp>
        <p:nvSpPr>
          <p:cNvPr id="14" name="오른쪽 화살표 13"/>
          <p:cNvSpPr/>
          <p:nvPr/>
        </p:nvSpPr>
        <p:spPr>
          <a:xfrm rot="1800000">
            <a:off x="4824544" y="2963269"/>
            <a:ext cx="558459" cy="472580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TextBox 15"/>
          <p:cNvSpPr txBox="1"/>
          <p:nvPr/>
        </p:nvSpPr>
        <p:spPr>
          <a:xfrm>
            <a:off x="4994802" y="2622675"/>
            <a:ext cx="6880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push</a:t>
            </a:r>
            <a:endParaRPr lang="ko-KR" altLang="en-US" dirty="0"/>
          </a:p>
        </p:txBody>
      </p:sp>
      <p:sp>
        <p:nvSpPr>
          <p:cNvPr id="23" name="타원 22"/>
          <p:cNvSpPr/>
          <p:nvPr/>
        </p:nvSpPr>
        <p:spPr>
          <a:xfrm>
            <a:off x="5129006" y="4207836"/>
            <a:ext cx="515500" cy="515500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1</a:t>
            </a:r>
            <a:endParaRPr lang="ko-KR" altLang="en-US" dirty="0"/>
          </a:p>
        </p:txBody>
      </p:sp>
      <p:sp>
        <p:nvSpPr>
          <p:cNvPr id="25" name="원통 24"/>
          <p:cNvSpPr/>
          <p:nvPr/>
        </p:nvSpPr>
        <p:spPr>
          <a:xfrm>
            <a:off x="7121048" y="3455082"/>
            <a:ext cx="1158074" cy="2515266"/>
          </a:xfrm>
          <a:prstGeom prst="can">
            <a:avLst>
              <a:gd name="adj" fmla="val 14000"/>
            </a:avLst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6" name="타원 25"/>
          <p:cNvSpPr/>
          <p:nvPr/>
        </p:nvSpPr>
        <p:spPr>
          <a:xfrm>
            <a:off x="7442335" y="5328941"/>
            <a:ext cx="515500" cy="515500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2</a:t>
            </a:r>
            <a:endParaRPr lang="ko-KR" altLang="en-US" dirty="0"/>
          </a:p>
        </p:txBody>
      </p:sp>
      <p:sp>
        <p:nvSpPr>
          <p:cNvPr id="27" name="타원 26"/>
          <p:cNvSpPr/>
          <p:nvPr/>
        </p:nvSpPr>
        <p:spPr>
          <a:xfrm>
            <a:off x="7442335" y="4771306"/>
            <a:ext cx="515500" cy="515500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4</a:t>
            </a:r>
            <a:endParaRPr lang="ko-KR" altLang="en-US" dirty="0"/>
          </a:p>
        </p:txBody>
      </p:sp>
      <p:sp>
        <p:nvSpPr>
          <p:cNvPr id="28" name="타원 27"/>
          <p:cNvSpPr/>
          <p:nvPr/>
        </p:nvSpPr>
        <p:spPr>
          <a:xfrm>
            <a:off x="7442335" y="4207836"/>
            <a:ext cx="515500" cy="515500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1</a:t>
            </a:r>
            <a:endParaRPr lang="ko-KR" altLang="en-US" dirty="0"/>
          </a:p>
        </p:txBody>
      </p:sp>
      <p:sp>
        <p:nvSpPr>
          <p:cNvPr id="29" name="타원 28"/>
          <p:cNvSpPr/>
          <p:nvPr/>
        </p:nvSpPr>
        <p:spPr>
          <a:xfrm>
            <a:off x="7442335" y="3647468"/>
            <a:ext cx="515500" cy="515500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3</a:t>
            </a:r>
            <a:endParaRPr lang="ko-KR" altLang="en-US" dirty="0"/>
          </a:p>
        </p:txBody>
      </p:sp>
      <p:sp>
        <p:nvSpPr>
          <p:cNvPr id="9" name="아래쪽 화살표 8"/>
          <p:cNvSpPr/>
          <p:nvPr/>
        </p:nvSpPr>
        <p:spPr>
          <a:xfrm rot="16200000">
            <a:off x="3376546" y="4721442"/>
            <a:ext cx="1767461" cy="650513"/>
          </a:xfrm>
          <a:prstGeom prst="downArrow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0" name="아래쪽 화살표 29"/>
          <p:cNvSpPr/>
          <p:nvPr/>
        </p:nvSpPr>
        <p:spPr>
          <a:xfrm rot="16200000">
            <a:off x="5659690" y="4721442"/>
            <a:ext cx="1767461" cy="650513"/>
          </a:xfrm>
          <a:prstGeom prst="downArrow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3372214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직사각형 7"/>
          <p:cNvSpPr/>
          <p:nvPr/>
        </p:nvSpPr>
        <p:spPr>
          <a:xfrm>
            <a:off x="2004703" y="1369938"/>
            <a:ext cx="6433241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dirty="0"/>
              <a:t>가장 기본적이고 중요한 자료 구조인 </a:t>
            </a:r>
            <a:r>
              <a:rPr lang="ko-KR" altLang="en-US" dirty="0">
                <a:solidFill>
                  <a:srgbClr val="FF0000"/>
                </a:solidFill>
              </a:rPr>
              <a:t>스택</a:t>
            </a:r>
            <a:r>
              <a:rPr lang="ko-KR" altLang="en-US" dirty="0"/>
              <a:t>을 구현합니다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en-US" altLang="ko-KR" dirty="0"/>
              <a:t>* Hint: list</a:t>
            </a:r>
            <a:r>
              <a:rPr lang="ko-KR" altLang="en-US" dirty="0"/>
              <a:t>의 </a:t>
            </a:r>
            <a:r>
              <a:rPr lang="en-US" altLang="ko-KR" dirty="0"/>
              <a:t>pop() </a:t>
            </a:r>
            <a:r>
              <a:rPr lang="ko-KR" altLang="en-US" dirty="0"/>
              <a:t>함수를 사용합시다</a:t>
            </a:r>
            <a:r>
              <a:rPr lang="en-US" altLang="ko-KR" dirty="0"/>
              <a:t>!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0" y="298260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3600" b="1" dirty="0">
                <a:solidFill>
                  <a:schemeClr val="accent1">
                    <a:lumMod val="75000"/>
                  </a:schemeClr>
                </a:solidFill>
              </a:rPr>
              <a:t>04. </a:t>
            </a:r>
            <a:r>
              <a:rPr lang="ko-KR" altLang="en-US" sz="3600" b="1" dirty="0">
                <a:solidFill>
                  <a:schemeClr val="accent1">
                    <a:lumMod val="75000"/>
                  </a:schemeClr>
                </a:solidFill>
              </a:rPr>
              <a:t>스택 구현하기</a:t>
            </a:r>
            <a:endParaRPr lang="en-US" sz="36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2" name="원통 1"/>
          <p:cNvSpPr/>
          <p:nvPr/>
        </p:nvSpPr>
        <p:spPr>
          <a:xfrm>
            <a:off x="2554760" y="3455082"/>
            <a:ext cx="1158074" cy="2515266"/>
          </a:xfrm>
          <a:prstGeom prst="can">
            <a:avLst>
              <a:gd name="adj" fmla="val 14000"/>
            </a:avLst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타원 2"/>
          <p:cNvSpPr/>
          <p:nvPr/>
        </p:nvSpPr>
        <p:spPr>
          <a:xfrm>
            <a:off x="2876047" y="5328941"/>
            <a:ext cx="515500" cy="515500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2</a:t>
            </a:r>
            <a:endParaRPr lang="ko-KR" altLang="en-US" dirty="0"/>
          </a:p>
        </p:txBody>
      </p:sp>
      <p:sp>
        <p:nvSpPr>
          <p:cNvPr id="6" name="타원 5"/>
          <p:cNvSpPr/>
          <p:nvPr/>
        </p:nvSpPr>
        <p:spPr>
          <a:xfrm>
            <a:off x="2876047" y="4771306"/>
            <a:ext cx="515500" cy="515500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4</a:t>
            </a:r>
            <a:endParaRPr lang="ko-KR" altLang="en-US" dirty="0"/>
          </a:p>
        </p:txBody>
      </p:sp>
      <p:sp>
        <p:nvSpPr>
          <p:cNvPr id="7" name="타원 6"/>
          <p:cNvSpPr/>
          <p:nvPr/>
        </p:nvSpPr>
        <p:spPr>
          <a:xfrm>
            <a:off x="1957901" y="2597560"/>
            <a:ext cx="515500" cy="515500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1</a:t>
            </a:r>
            <a:endParaRPr lang="ko-KR" altLang="en-US" dirty="0"/>
          </a:p>
        </p:txBody>
      </p:sp>
      <p:sp>
        <p:nvSpPr>
          <p:cNvPr id="4" name="오른쪽 화살표 3"/>
          <p:cNvSpPr/>
          <p:nvPr/>
        </p:nvSpPr>
        <p:spPr>
          <a:xfrm rot="1800000">
            <a:off x="2561241" y="2963269"/>
            <a:ext cx="558459" cy="472580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TextBox 4"/>
          <p:cNvSpPr txBox="1"/>
          <p:nvPr/>
        </p:nvSpPr>
        <p:spPr>
          <a:xfrm>
            <a:off x="2731499" y="2622675"/>
            <a:ext cx="6880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push</a:t>
            </a:r>
            <a:endParaRPr lang="ko-KR" altLang="en-US" dirty="0"/>
          </a:p>
        </p:txBody>
      </p:sp>
      <p:sp>
        <p:nvSpPr>
          <p:cNvPr id="10" name="원통 9"/>
          <p:cNvSpPr/>
          <p:nvPr/>
        </p:nvSpPr>
        <p:spPr>
          <a:xfrm>
            <a:off x="4807719" y="3455082"/>
            <a:ext cx="1158074" cy="2515266"/>
          </a:xfrm>
          <a:prstGeom prst="can">
            <a:avLst>
              <a:gd name="adj" fmla="val 14000"/>
            </a:avLst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타원 10"/>
          <p:cNvSpPr/>
          <p:nvPr/>
        </p:nvSpPr>
        <p:spPr>
          <a:xfrm>
            <a:off x="5129006" y="5328941"/>
            <a:ext cx="515500" cy="515500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2</a:t>
            </a:r>
            <a:endParaRPr lang="ko-KR" altLang="en-US" dirty="0"/>
          </a:p>
        </p:txBody>
      </p:sp>
      <p:sp>
        <p:nvSpPr>
          <p:cNvPr id="12" name="타원 11"/>
          <p:cNvSpPr/>
          <p:nvPr/>
        </p:nvSpPr>
        <p:spPr>
          <a:xfrm>
            <a:off x="5129006" y="4771306"/>
            <a:ext cx="515500" cy="515500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4</a:t>
            </a:r>
            <a:endParaRPr lang="ko-KR" altLang="en-US" dirty="0"/>
          </a:p>
        </p:txBody>
      </p:sp>
      <p:sp>
        <p:nvSpPr>
          <p:cNvPr id="13" name="타원 12"/>
          <p:cNvSpPr/>
          <p:nvPr/>
        </p:nvSpPr>
        <p:spPr>
          <a:xfrm>
            <a:off x="4221204" y="2597560"/>
            <a:ext cx="515500" cy="515500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3</a:t>
            </a:r>
            <a:endParaRPr lang="ko-KR" altLang="en-US" dirty="0"/>
          </a:p>
        </p:txBody>
      </p:sp>
      <p:sp>
        <p:nvSpPr>
          <p:cNvPr id="14" name="오른쪽 화살표 13"/>
          <p:cNvSpPr/>
          <p:nvPr/>
        </p:nvSpPr>
        <p:spPr>
          <a:xfrm rot="1800000">
            <a:off x="4824544" y="2963269"/>
            <a:ext cx="558459" cy="472580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TextBox 15"/>
          <p:cNvSpPr txBox="1"/>
          <p:nvPr/>
        </p:nvSpPr>
        <p:spPr>
          <a:xfrm>
            <a:off x="4994802" y="2622675"/>
            <a:ext cx="6880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push</a:t>
            </a:r>
            <a:endParaRPr lang="ko-KR" altLang="en-US" dirty="0"/>
          </a:p>
        </p:txBody>
      </p:sp>
      <p:sp>
        <p:nvSpPr>
          <p:cNvPr id="17" name="원통 16"/>
          <p:cNvSpPr/>
          <p:nvPr/>
        </p:nvSpPr>
        <p:spPr>
          <a:xfrm>
            <a:off x="9434377" y="3455082"/>
            <a:ext cx="1158074" cy="2515266"/>
          </a:xfrm>
          <a:prstGeom prst="can">
            <a:avLst>
              <a:gd name="adj" fmla="val 14000"/>
            </a:avLst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타원 17"/>
          <p:cNvSpPr/>
          <p:nvPr/>
        </p:nvSpPr>
        <p:spPr>
          <a:xfrm>
            <a:off x="9755664" y="5328941"/>
            <a:ext cx="515500" cy="515500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2</a:t>
            </a:r>
            <a:endParaRPr lang="ko-KR" altLang="en-US" dirty="0"/>
          </a:p>
        </p:txBody>
      </p:sp>
      <p:sp>
        <p:nvSpPr>
          <p:cNvPr id="19" name="타원 18"/>
          <p:cNvSpPr/>
          <p:nvPr/>
        </p:nvSpPr>
        <p:spPr>
          <a:xfrm>
            <a:off x="9755664" y="4771306"/>
            <a:ext cx="515500" cy="515500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4</a:t>
            </a:r>
            <a:endParaRPr lang="ko-KR" altLang="en-US" dirty="0"/>
          </a:p>
        </p:txBody>
      </p:sp>
      <p:sp>
        <p:nvSpPr>
          <p:cNvPr id="20" name="타원 19"/>
          <p:cNvSpPr/>
          <p:nvPr/>
        </p:nvSpPr>
        <p:spPr>
          <a:xfrm>
            <a:off x="10694396" y="2590842"/>
            <a:ext cx="515500" cy="515500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3</a:t>
            </a:r>
            <a:endParaRPr lang="ko-KR" altLang="en-US" dirty="0"/>
          </a:p>
        </p:txBody>
      </p:sp>
      <p:sp>
        <p:nvSpPr>
          <p:cNvPr id="21" name="오른쪽 화살표 20"/>
          <p:cNvSpPr/>
          <p:nvPr/>
        </p:nvSpPr>
        <p:spPr>
          <a:xfrm rot="19800000">
            <a:off x="10074675" y="2917516"/>
            <a:ext cx="558459" cy="472580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" name="TextBox 21"/>
          <p:cNvSpPr txBox="1"/>
          <p:nvPr/>
        </p:nvSpPr>
        <p:spPr>
          <a:xfrm>
            <a:off x="9755663" y="2576922"/>
            <a:ext cx="5982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pop</a:t>
            </a:r>
            <a:endParaRPr lang="ko-KR" altLang="en-US" dirty="0"/>
          </a:p>
        </p:txBody>
      </p:sp>
      <p:sp>
        <p:nvSpPr>
          <p:cNvPr id="23" name="타원 22"/>
          <p:cNvSpPr/>
          <p:nvPr/>
        </p:nvSpPr>
        <p:spPr>
          <a:xfrm>
            <a:off x="5129006" y="4207836"/>
            <a:ext cx="515500" cy="515500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1</a:t>
            </a:r>
            <a:endParaRPr lang="ko-KR" altLang="en-US" dirty="0"/>
          </a:p>
        </p:txBody>
      </p:sp>
      <p:sp>
        <p:nvSpPr>
          <p:cNvPr id="24" name="타원 23"/>
          <p:cNvSpPr/>
          <p:nvPr/>
        </p:nvSpPr>
        <p:spPr>
          <a:xfrm>
            <a:off x="9755664" y="4207836"/>
            <a:ext cx="515500" cy="515500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1</a:t>
            </a:r>
            <a:endParaRPr lang="ko-KR" altLang="en-US" dirty="0"/>
          </a:p>
        </p:txBody>
      </p:sp>
      <p:sp>
        <p:nvSpPr>
          <p:cNvPr id="25" name="원통 24"/>
          <p:cNvSpPr/>
          <p:nvPr/>
        </p:nvSpPr>
        <p:spPr>
          <a:xfrm>
            <a:off x="7121048" y="3455082"/>
            <a:ext cx="1158074" cy="2515266"/>
          </a:xfrm>
          <a:prstGeom prst="can">
            <a:avLst>
              <a:gd name="adj" fmla="val 14000"/>
            </a:avLst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6" name="타원 25"/>
          <p:cNvSpPr/>
          <p:nvPr/>
        </p:nvSpPr>
        <p:spPr>
          <a:xfrm>
            <a:off x="7442335" y="5328941"/>
            <a:ext cx="515500" cy="515500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2</a:t>
            </a:r>
            <a:endParaRPr lang="ko-KR" altLang="en-US" dirty="0"/>
          </a:p>
        </p:txBody>
      </p:sp>
      <p:sp>
        <p:nvSpPr>
          <p:cNvPr id="27" name="타원 26"/>
          <p:cNvSpPr/>
          <p:nvPr/>
        </p:nvSpPr>
        <p:spPr>
          <a:xfrm>
            <a:off x="7442335" y="4771306"/>
            <a:ext cx="515500" cy="515500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4</a:t>
            </a:r>
            <a:endParaRPr lang="ko-KR" altLang="en-US" dirty="0"/>
          </a:p>
        </p:txBody>
      </p:sp>
      <p:sp>
        <p:nvSpPr>
          <p:cNvPr id="28" name="타원 27"/>
          <p:cNvSpPr/>
          <p:nvPr/>
        </p:nvSpPr>
        <p:spPr>
          <a:xfrm>
            <a:off x="7442335" y="4207836"/>
            <a:ext cx="515500" cy="515500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1</a:t>
            </a:r>
            <a:endParaRPr lang="ko-KR" altLang="en-US" dirty="0"/>
          </a:p>
        </p:txBody>
      </p:sp>
      <p:sp>
        <p:nvSpPr>
          <p:cNvPr id="29" name="타원 28"/>
          <p:cNvSpPr/>
          <p:nvPr/>
        </p:nvSpPr>
        <p:spPr>
          <a:xfrm>
            <a:off x="7442335" y="3647468"/>
            <a:ext cx="515500" cy="515500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3</a:t>
            </a:r>
            <a:endParaRPr lang="ko-KR" altLang="en-US" dirty="0"/>
          </a:p>
        </p:txBody>
      </p:sp>
      <p:sp>
        <p:nvSpPr>
          <p:cNvPr id="9" name="아래쪽 화살표 8"/>
          <p:cNvSpPr/>
          <p:nvPr/>
        </p:nvSpPr>
        <p:spPr>
          <a:xfrm rot="16200000">
            <a:off x="3376546" y="4721442"/>
            <a:ext cx="1767461" cy="650513"/>
          </a:xfrm>
          <a:prstGeom prst="downArrow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0" name="아래쪽 화살표 29"/>
          <p:cNvSpPr/>
          <p:nvPr/>
        </p:nvSpPr>
        <p:spPr>
          <a:xfrm rot="16200000">
            <a:off x="5659690" y="4721442"/>
            <a:ext cx="1767461" cy="650513"/>
          </a:xfrm>
          <a:prstGeom prst="downArrow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1" name="아래쪽 화살표 30"/>
          <p:cNvSpPr/>
          <p:nvPr/>
        </p:nvSpPr>
        <p:spPr>
          <a:xfrm rot="16200000">
            <a:off x="7973019" y="4721442"/>
            <a:ext cx="1767461" cy="650513"/>
          </a:xfrm>
          <a:prstGeom prst="downArrow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4203678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직사각형 7"/>
          <p:cNvSpPr/>
          <p:nvPr/>
        </p:nvSpPr>
        <p:spPr>
          <a:xfrm>
            <a:off x="2004703" y="1369938"/>
            <a:ext cx="10187297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dirty="0"/>
              <a:t>가장 기본적이고 중요한 자료 구조인 </a:t>
            </a:r>
            <a:r>
              <a:rPr lang="ko-KR" altLang="en-US" dirty="0">
                <a:solidFill>
                  <a:srgbClr val="FF0000"/>
                </a:solidFill>
              </a:rPr>
              <a:t>큐</a:t>
            </a:r>
            <a:r>
              <a:rPr lang="ko-KR" altLang="en-US" dirty="0"/>
              <a:t>를 구현합니다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</p:txBody>
      </p:sp>
      <p:sp>
        <p:nvSpPr>
          <p:cNvPr id="15" name="TextBox 14"/>
          <p:cNvSpPr txBox="1"/>
          <p:nvPr/>
        </p:nvSpPr>
        <p:spPr>
          <a:xfrm>
            <a:off x="0" y="298260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3600" b="1" dirty="0">
                <a:solidFill>
                  <a:schemeClr val="accent1">
                    <a:lumMod val="75000"/>
                  </a:schemeClr>
                </a:solidFill>
              </a:rPr>
              <a:t>05. </a:t>
            </a:r>
            <a:r>
              <a:rPr lang="ko-KR" altLang="en-US" sz="3600" b="1" dirty="0">
                <a:solidFill>
                  <a:schemeClr val="accent1">
                    <a:lumMod val="75000"/>
                  </a:schemeClr>
                </a:solidFill>
              </a:rPr>
              <a:t>큐 구현하기</a:t>
            </a:r>
            <a:endParaRPr lang="en-US" sz="36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2" name="원통 1"/>
          <p:cNvSpPr/>
          <p:nvPr/>
        </p:nvSpPr>
        <p:spPr>
          <a:xfrm rot="16200000">
            <a:off x="3547215" y="1401402"/>
            <a:ext cx="1076686" cy="3308684"/>
          </a:xfrm>
          <a:prstGeom prst="can">
            <a:avLst>
              <a:gd name="adj" fmla="val 14000"/>
            </a:avLst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타원 5"/>
          <p:cNvSpPr/>
          <p:nvPr/>
        </p:nvSpPr>
        <p:spPr>
          <a:xfrm>
            <a:off x="5093838" y="2797993"/>
            <a:ext cx="515500" cy="515500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2</a:t>
            </a:r>
            <a:endParaRPr lang="ko-KR" altLang="en-US" dirty="0"/>
          </a:p>
        </p:txBody>
      </p:sp>
      <p:sp>
        <p:nvSpPr>
          <p:cNvPr id="7" name="타원 6"/>
          <p:cNvSpPr/>
          <p:nvPr/>
        </p:nvSpPr>
        <p:spPr>
          <a:xfrm>
            <a:off x="4459200" y="2797993"/>
            <a:ext cx="515500" cy="515500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4</a:t>
            </a:r>
            <a:endParaRPr lang="ko-KR" altLang="en-US" dirty="0"/>
          </a:p>
        </p:txBody>
      </p:sp>
      <p:sp>
        <p:nvSpPr>
          <p:cNvPr id="9" name="타원 8"/>
          <p:cNvSpPr/>
          <p:nvPr/>
        </p:nvSpPr>
        <p:spPr>
          <a:xfrm>
            <a:off x="1393789" y="2797993"/>
            <a:ext cx="515500" cy="515500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1</a:t>
            </a:r>
            <a:endParaRPr lang="ko-KR" alt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1211025" y="3268392"/>
            <a:ext cx="1436612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dirty="0"/>
              <a:t>Push</a:t>
            </a:r>
          </a:p>
          <a:p>
            <a:pPr algn="ctr"/>
            <a:r>
              <a:rPr lang="en-US" altLang="ko-KR" dirty="0"/>
              <a:t>(</a:t>
            </a:r>
            <a:r>
              <a:rPr lang="en-US" altLang="ko-KR" dirty="0" err="1"/>
              <a:t>Enqueue</a:t>
            </a:r>
            <a:r>
              <a:rPr lang="en-US" altLang="ko-KR" dirty="0"/>
              <a:t>)</a:t>
            </a:r>
          </a:p>
          <a:p>
            <a:pPr algn="ctr"/>
            <a:r>
              <a:rPr lang="en-US" altLang="ko-KR" dirty="0"/>
              <a:t>(.append(1))</a:t>
            </a:r>
            <a:endParaRPr lang="ko-KR" altLang="en-US" dirty="0"/>
          </a:p>
        </p:txBody>
      </p:sp>
      <p:sp>
        <p:nvSpPr>
          <p:cNvPr id="17" name="오른쪽 화살표 16"/>
          <p:cNvSpPr/>
          <p:nvPr/>
        </p:nvSpPr>
        <p:spPr>
          <a:xfrm>
            <a:off x="1947578" y="2818189"/>
            <a:ext cx="558459" cy="472580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9189722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직사각형 7"/>
          <p:cNvSpPr/>
          <p:nvPr/>
        </p:nvSpPr>
        <p:spPr>
          <a:xfrm>
            <a:off x="2004703" y="1369938"/>
            <a:ext cx="10187297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dirty="0"/>
              <a:t>가장 기본적이고 중요한 자료 구조인 </a:t>
            </a:r>
            <a:r>
              <a:rPr lang="ko-KR" altLang="en-US" dirty="0">
                <a:solidFill>
                  <a:srgbClr val="FF0000"/>
                </a:solidFill>
              </a:rPr>
              <a:t>큐</a:t>
            </a:r>
            <a:r>
              <a:rPr lang="ko-KR" altLang="en-US" dirty="0"/>
              <a:t>를 구현합니다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</p:txBody>
      </p:sp>
      <p:sp>
        <p:nvSpPr>
          <p:cNvPr id="15" name="TextBox 14"/>
          <p:cNvSpPr txBox="1"/>
          <p:nvPr/>
        </p:nvSpPr>
        <p:spPr>
          <a:xfrm>
            <a:off x="0" y="298260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3600" b="1" dirty="0">
                <a:solidFill>
                  <a:schemeClr val="accent1">
                    <a:lumMod val="75000"/>
                  </a:schemeClr>
                </a:solidFill>
              </a:rPr>
              <a:t>05. </a:t>
            </a:r>
            <a:r>
              <a:rPr lang="ko-KR" altLang="en-US" sz="3600" b="1" dirty="0">
                <a:solidFill>
                  <a:schemeClr val="accent1">
                    <a:lumMod val="75000"/>
                  </a:schemeClr>
                </a:solidFill>
              </a:rPr>
              <a:t>큐 구현하기</a:t>
            </a:r>
            <a:endParaRPr lang="en-US" sz="36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2" name="원통 1"/>
          <p:cNvSpPr/>
          <p:nvPr/>
        </p:nvSpPr>
        <p:spPr>
          <a:xfrm rot="16200000">
            <a:off x="3547215" y="1401402"/>
            <a:ext cx="1076686" cy="3308684"/>
          </a:xfrm>
          <a:prstGeom prst="can">
            <a:avLst>
              <a:gd name="adj" fmla="val 14000"/>
            </a:avLst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타원 5"/>
          <p:cNvSpPr/>
          <p:nvPr/>
        </p:nvSpPr>
        <p:spPr>
          <a:xfrm>
            <a:off x="5093838" y="2797993"/>
            <a:ext cx="515500" cy="515500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2</a:t>
            </a:r>
            <a:endParaRPr lang="ko-KR" altLang="en-US" dirty="0"/>
          </a:p>
        </p:txBody>
      </p:sp>
      <p:sp>
        <p:nvSpPr>
          <p:cNvPr id="7" name="타원 6"/>
          <p:cNvSpPr/>
          <p:nvPr/>
        </p:nvSpPr>
        <p:spPr>
          <a:xfrm>
            <a:off x="4459200" y="2797993"/>
            <a:ext cx="515500" cy="515500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4</a:t>
            </a:r>
            <a:endParaRPr lang="ko-KR" altLang="en-US" dirty="0"/>
          </a:p>
        </p:txBody>
      </p:sp>
      <p:sp>
        <p:nvSpPr>
          <p:cNvPr id="9" name="타원 8"/>
          <p:cNvSpPr/>
          <p:nvPr/>
        </p:nvSpPr>
        <p:spPr>
          <a:xfrm>
            <a:off x="1393789" y="2797993"/>
            <a:ext cx="515500" cy="515500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1</a:t>
            </a:r>
            <a:endParaRPr lang="ko-KR" alt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1211025" y="3268392"/>
            <a:ext cx="1436612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dirty="0"/>
              <a:t>Push</a:t>
            </a:r>
          </a:p>
          <a:p>
            <a:pPr algn="ctr"/>
            <a:r>
              <a:rPr lang="en-US" altLang="ko-KR" dirty="0"/>
              <a:t>(</a:t>
            </a:r>
            <a:r>
              <a:rPr lang="en-US" altLang="ko-KR" dirty="0" err="1"/>
              <a:t>Enqueue</a:t>
            </a:r>
            <a:r>
              <a:rPr lang="en-US" altLang="ko-KR" dirty="0"/>
              <a:t>)</a:t>
            </a:r>
          </a:p>
          <a:p>
            <a:pPr algn="ctr"/>
            <a:r>
              <a:rPr lang="en-US" altLang="ko-KR" dirty="0"/>
              <a:t>(.append(1))</a:t>
            </a:r>
            <a:endParaRPr lang="ko-KR" altLang="en-US" dirty="0"/>
          </a:p>
        </p:txBody>
      </p:sp>
      <p:sp>
        <p:nvSpPr>
          <p:cNvPr id="17" name="오른쪽 화살표 16"/>
          <p:cNvSpPr/>
          <p:nvPr/>
        </p:nvSpPr>
        <p:spPr>
          <a:xfrm>
            <a:off x="1947578" y="2818189"/>
            <a:ext cx="558459" cy="472580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2" name="원통 31"/>
          <p:cNvSpPr/>
          <p:nvPr/>
        </p:nvSpPr>
        <p:spPr>
          <a:xfrm rot="16200000">
            <a:off x="8883883" y="1401402"/>
            <a:ext cx="1076686" cy="3308684"/>
          </a:xfrm>
          <a:prstGeom prst="can">
            <a:avLst>
              <a:gd name="adj" fmla="val 14000"/>
            </a:avLst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3" name="타원 32"/>
          <p:cNvSpPr/>
          <p:nvPr/>
        </p:nvSpPr>
        <p:spPr>
          <a:xfrm>
            <a:off x="10430506" y="2797993"/>
            <a:ext cx="515500" cy="515500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2</a:t>
            </a:r>
            <a:endParaRPr lang="ko-KR" altLang="en-US" dirty="0"/>
          </a:p>
        </p:txBody>
      </p:sp>
      <p:sp>
        <p:nvSpPr>
          <p:cNvPr id="34" name="타원 33"/>
          <p:cNvSpPr/>
          <p:nvPr/>
        </p:nvSpPr>
        <p:spPr>
          <a:xfrm>
            <a:off x="9795868" y="2797993"/>
            <a:ext cx="515500" cy="515500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4</a:t>
            </a:r>
            <a:endParaRPr lang="ko-KR" altLang="en-US" dirty="0"/>
          </a:p>
        </p:txBody>
      </p:sp>
      <p:sp>
        <p:nvSpPr>
          <p:cNvPr id="35" name="타원 34"/>
          <p:cNvSpPr/>
          <p:nvPr/>
        </p:nvSpPr>
        <p:spPr>
          <a:xfrm>
            <a:off x="6730457" y="2797993"/>
            <a:ext cx="515500" cy="515500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3</a:t>
            </a:r>
            <a:endParaRPr lang="ko-KR" altLang="en-US" dirty="0"/>
          </a:p>
        </p:txBody>
      </p:sp>
      <p:sp>
        <p:nvSpPr>
          <p:cNvPr id="36" name="TextBox 35"/>
          <p:cNvSpPr txBox="1"/>
          <p:nvPr/>
        </p:nvSpPr>
        <p:spPr>
          <a:xfrm>
            <a:off x="6547692" y="3268392"/>
            <a:ext cx="1436612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dirty="0"/>
              <a:t>Push</a:t>
            </a:r>
          </a:p>
          <a:p>
            <a:pPr algn="ctr"/>
            <a:r>
              <a:rPr lang="en-US" altLang="ko-KR" dirty="0"/>
              <a:t>(</a:t>
            </a:r>
            <a:r>
              <a:rPr lang="en-US" altLang="ko-KR" dirty="0" err="1"/>
              <a:t>Enqueue</a:t>
            </a:r>
            <a:r>
              <a:rPr lang="en-US" altLang="ko-KR" dirty="0"/>
              <a:t>)</a:t>
            </a:r>
          </a:p>
          <a:p>
            <a:pPr algn="ctr"/>
            <a:r>
              <a:rPr lang="en-US" altLang="ko-KR" dirty="0"/>
              <a:t>(.append(3))</a:t>
            </a:r>
            <a:endParaRPr lang="ko-KR" altLang="en-US" dirty="0"/>
          </a:p>
        </p:txBody>
      </p:sp>
      <p:sp>
        <p:nvSpPr>
          <p:cNvPr id="37" name="오른쪽 화살표 36"/>
          <p:cNvSpPr/>
          <p:nvPr/>
        </p:nvSpPr>
        <p:spPr>
          <a:xfrm>
            <a:off x="7284246" y="2818189"/>
            <a:ext cx="558459" cy="472580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8" name="타원 37"/>
          <p:cNvSpPr/>
          <p:nvPr/>
        </p:nvSpPr>
        <p:spPr>
          <a:xfrm>
            <a:off x="9164476" y="2797993"/>
            <a:ext cx="515500" cy="515500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1</a:t>
            </a:r>
            <a:endParaRPr lang="ko-KR" altLang="en-US" dirty="0"/>
          </a:p>
        </p:txBody>
      </p:sp>
      <p:sp>
        <p:nvSpPr>
          <p:cNvPr id="3" name="아래쪽 화살표 2"/>
          <p:cNvSpPr/>
          <p:nvPr/>
        </p:nvSpPr>
        <p:spPr>
          <a:xfrm rot="16200000">
            <a:off x="5688142" y="2731449"/>
            <a:ext cx="1068056" cy="652160"/>
          </a:xfrm>
          <a:prstGeom prst="downArrow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0179768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직사각형 7"/>
          <p:cNvSpPr/>
          <p:nvPr/>
        </p:nvSpPr>
        <p:spPr>
          <a:xfrm>
            <a:off x="2004703" y="1369938"/>
            <a:ext cx="10187297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dirty="0"/>
              <a:t>가장 기본적이고 중요한 자료 구조인 </a:t>
            </a:r>
            <a:r>
              <a:rPr lang="ko-KR" altLang="en-US" dirty="0">
                <a:solidFill>
                  <a:srgbClr val="FF0000"/>
                </a:solidFill>
              </a:rPr>
              <a:t>큐</a:t>
            </a:r>
            <a:r>
              <a:rPr lang="ko-KR" altLang="en-US" dirty="0"/>
              <a:t>를 구현합니다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</p:txBody>
      </p:sp>
      <p:sp>
        <p:nvSpPr>
          <p:cNvPr id="15" name="TextBox 14"/>
          <p:cNvSpPr txBox="1"/>
          <p:nvPr/>
        </p:nvSpPr>
        <p:spPr>
          <a:xfrm>
            <a:off x="0" y="298260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3600" b="1" dirty="0">
                <a:solidFill>
                  <a:schemeClr val="accent1">
                    <a:lumMod val="75000"/>
                  </a:schemeClr>
                </a:solidFill>
              </a:rPr>
              <a:t>05. </a:t>
            </a:r>
            <a:r>
              <a:rPr lang="ko-KR" altLang="en-US" sz="3600" b="1" dirty="0">
                <a:solidFill>
                  <a:schemeClr val="accent1">
                    <a:lumMod val="75000"/>
                  </a:schemeClr>
                </a:solidFill>
              </a:rPr>
              <a:t>큐 구현하기</a:t>
            </a:r>
            <a:endParaRPr lang="en-US" sz="36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2" name="원통 1"/>
          <p:cNvSpPr/>
          <p:nvPr/>
        </p:nvSpPr>
        <p:spPr>
          <a:xfrm rot="16200000">
            <a:off x="3547215" y="1401402"/>
            <a:ext cx="1076686" cy="3308684"/>
          </a:xfrm>
          <a:prstGeom prst="can">
            <a:avLst>
              <a:gd name="adj" fmla="val 14000"/>
            </a:avLst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타원 5"/>
          <p:cNvSpPr/>
          <p:nvPr/>
        </p:nvSpPr>
        <p:spPr>
          <a:xfrm>
            <a:off x="5093838" y="2797993"/>
            <a:ext cx="515500" cy="515500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2</a:t>
            </a:r>
            <a:endParaRPr lang="ko-KR" altLang="en-US" dirty="0"/>
          </a:p>
        </p:txBody>
      </p:sp>
      <p:sp>
        <p:nvSpPr>
          <p:cNvPr id="7" name="타원 6"/>
          <p:cNvSpPr/>
          <p:nvPr/>
        </p:nvSpPr>
        <p:spPr>
          <a:xfrm>
            <a:off x="4459200" y="2797993"/>
            <a:ext cx="515500" cy="515500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4</a:t>
            </a:r>
            <a:endParaRPr lang="ko-KR" altLang="en-US" dirty="0"/>
          </a:p>
        </p:txBody>
      </p:sp>
      <p:sp>
        <p:nvSpPr>
          <p:cNvPr id="9" name="타원 8"/>
          <p:cNvSpPr/>
          <p:nvPr/>
        </p:nvSpPr>
        <p:spPr>
          <a:xfrm>
            <a:off x="1393789" y="2797993"/>
            <a:ext cx="515500" cy="515500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1</a:t>
            </a:r>
            <a:endParaRPr lang="ko-KR" alt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1211025" y="3268392"/>
            <a:ext cx="1436612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dirty="0"/>
              <a:t>Push</a:t>
            </a:r>
          </a:p>
          <a:p>
            <a:pPr algn="ctr"/>
            <a:r>
              <a:rPr lang="en-US" altLang="ko-KR" dirty="0"/>
              <a:t>(</a:t>
            </a:r>
            <a:r>
              <a:rPr lang="en-US" altLang="ko-KR" dirty="0" err="1"/>
              <a:t>Enqueue</a:t>
            </a:r>
            <a:r>
              <a:rPr lang="en-US" altLang="ko-KR" dirty="0"/>
              <a:t>)</a:t>
            </a:r>
          </a:p>
          <a:p>
            <a:pPr algn="ctr"/>
            <a:r>
              <a:rPr lang="en-US" altLang="ko-KR" dirty="0"/>
              <a:t>(.append(1))</a:t>
            </a:r>
            <a:endParaRPr lang="ko-KR" altLang="en-US" dirty="0"/>
          </a:p>
        </p:txBody>
      </p:sp>
      <p:sp>
        <p:nvSpPr>
          <p:cNvPr id="17" name="오른쪽 화살표 16"/>
          <p:cNvSpPr/>
          <p:nvPr/>
        </p:nvSpPr>
        <p:spPr>
          <a:xfrm>
            <a:off x="1947578" y="2818189"/>
            <a:ext cx="558459" cy="472580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2" name="원통 31"/>
          <p:cNvSpPr/>
          <p:nvPr/>
        </p:nvSpPr>
        <p:spPr>
          <a:xfrm rot="16200000">
            <a:off x="8883883" y="1401402"/>
            <a:ext cx="1076686" cy="3308684"/>
          </a:xfrm>
          <a:prstGeom prst="can">
            <a:avLst>
              <a:gd name="adj" fmla="val 14000"/>
            </a:avLst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3" name="타원 32"/>
          <p:cNvSpPr/>
          <p:nvPr/>
        </p:nvSpPr>
        <p:spPr>
          <a:xfrm>
            <a:off x="10430506" y="2797993"/>
            <a:ext cx="515500" cy="515500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2</a:t>
            </a:r>
            <a:endParaRPr lang="ko-KR" altLang="en-US" dirty="0"/>
          </a:p>
        </p:txBody>
      </p:sp>
      <p:sp>
        <p:nvSpPr>
          <p:cNvPr id="34" name="타원 33"/>
          <p:cNvSpPr/>
          <p:nvPr/>
        </p:nvSpPr>
        <p:spPr>
          <a:xfrm>
            <a:off x="9795868" y="2797993"/>
            <a:ext cx="515500" cy="515500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4</a:t>
            </a:r>
            <a:endParaRPr lang="ko-KR" altLang="en-US" dirty="0"/>
          </a:p>
        </p:txBody>
      </p:sp>
      <p:sp>
        <p:nvSpPr>
          <p:cNvPr id="35" name="타원 34"/>
          <p:cNvSpPr/>
          <p:nvPr/>
        </p:nvSpPr>
        <p:spPr>
          <a:xfrm>
            <a:off x="6730457" y="2797993"/>
            <a:ext cx="515500" cy="515500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3</a:t>
            </a:r>
            <a:endParaRPr lang="ko-KR" altLang="en-US" dirty="0"/>
          </a:p>
        </p:txBody>
      </p:sp>
      <p:sp>
        <p:nvSpPr>
          <p:cNvPr id="36" name="TextBox 35"/>
          <p:cNvSpPr txBox="1"/>
          <p:nvPr/>
        </p:nvSpPr>
        <p:spPr>
          <a:xfrm>
            <a:off x="6547692" y="3268392"/>
            <a:ext cx="1436612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dirty="0"/>
              <a:t>Push</a:t>
            </a:r>
          </a:p>
          <a:p>
            <a:pPr algn="ctr"/>
            <a:r>
              <a:rPr lang="en-US" altLang="ko-KR" dirty="0"/>
              <a:t>(</a:t>
            </a:r>
            <a:r>
              <a:rPr lang="en-US" altLang="ko-KR" dirty="0" err="1"/>
              <a:t>Enqueue</a:t>
            </a:r>
            <a:r>
              <a:rPr lang="en-US" altLang="ko-KR" dirty="0"/>
              <a:t>)</a:t>
            </a:r>
          </a:p>
          <a:p>
            <a:pPr algn="ctr"/>
            <a:r>
              <a:rPr lang="en-US" altLang="ko-KR" dirty="0"/>
              <a:t>(.append(3))</a:t>
            </a:r>
            <a:endParaRPr lang="ko-KR" altLang="en-US" dirty="0"/>
          </a:p>
        </p:txBody>
      </p:sp>
      <p:sp>
        <p:nvSpPr>
          <p:cNvPr id="37" name="오른쪽 화살표 36"/>
          <p:cNvSpPr/>
          <p:nvPr/>
        </p:nvSpPr>
        <p:spPr>
          <a:xfrm>
            <a:off x="7284246" y="2818189"/>
            <a:ext cx="558459" cy="472580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8" name="타원 37"/>
          <p:cNvSpPr/>
          <p:nvPr/>
        </p:nvSpPr>
        <p:spPr>
          <a:xfrm>
            <a:off x="9164476" y="2797993"/>
            <a:ext cx="515500" cy="515500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1</a:t>
            </a:r>
            <a:endParaRPr lang="ko-KR" altLang="en-US" dirty="0"/>
          </a:p>
        </p:txBody>
      </p:sp>
      <p:sp>
        <p:nvSpPr>
          <p:cNvPr id="46" name="원통 45"/>
          <p:cNvSpPr/>
          <p:nvPr/>
        </p:nvSpPr>
        <p:spPr>
          <a:xfrm rot="16200000">
            <a:off x="3547215" y="3549715"/>
            <a:ext cx="1076686" cy="3308684"/>
          </a:xfrm>
          <a:prstGeom prst="can">
            <a:avLst>
              <a:gd name="adj" fmla="val 14000"/>
            </a:avLst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7" name="타원 46"/>
          <p:cNvSpPr/>
          <p:nvPr/>
        </p:nvSpPr>
        <p:spPr>
          <a:xfrm>
            <a:off x="5093838" y="4946306"/>
            <a:ext cx="515500" cy="515500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2</a:t>
            </a:r>
            <a:endParaRPr lang="ko-KR" altLang="en-US" dirty="0"/>
          </a:p>
        </p:txBody>
      </p:sp>
      <p:sp>
        <p:nvSpPr>
          <p:cNvPr id="48" name="타원 47"/>
          <p:cNvSpPr/>
          <p:nvPr/>
        </p:nvSpPr>
        <p:spPr>
          <a:xfrm>
            <a:off x="4459200" y="4946306"/>
            <a:ext cx="515500" cy="515500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4</a:t>
            </a:r>
            <a:endParaRPr lang="ko-KR" altLang="en-US" dirty="0"/>
          </a:p>
        </p:txBody>
      </p:sp>
      <p:sp>
        <p:nvSpPr>
          <p:cNvPr id="52" name="타원 51"/>
          <p:cNvSpPr/>
          <p:nvPr/>
        </p:nvSpPr>
        <p:spPr>
          <a:xfrm>
            <a:off x="3827808" y="4946306"/>
            <a:ext cx="515500" cy="515500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1</a:t>
            </a:r>
            <a:endParaRPr lang="ko-KR" altLang="en-US" dirty="0"/>
          </a:p>
        </p:txBody>
      </p:sp>
      <p:sp>
        <p:nvSpPr>
          <p:cNvPr id="53" name="타원 52"/>
          <p:cNvSpPr/>
          <p:nvPr/>
        </p:nvSpPr>
        <p:spPr>
          <a:xfrm>
            <a:off x="3197678" y="4946306"/>
            <a:ext cx="515500" cy="515500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3</a:t>
            </a:r>
            <a:endParaRPr lang="ko-KR" altLang="en-US" dirty="0"/>
          </a:p>
        </p:txBody>
      </p:sp>
      <p:sp>
        <p:nvSpPr>
          <p:cNvPr id="3" name="아래쪽 화살표 2"/>
          <p:cNvSpPr/>
          <p:nvPr/>
        </p:nvSpPr>
        <p:spPr>
          <a:xfrm rot="16200000">
            <a:off x="5688142" y="2731449"/>
            <a:ext cx="1068056" cy="652160"/>
          </a:xfrm>
          <a:prstGeom prst="downArrow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8" name="아래쪽 화살표 57"/>
          <p:cNvSpPr/>
          <p:nvPr/>
        </p:nvSpPr>
        <p:spPr>
          <a:xfrm rot="2700000">
            <a:off x="5688142" y="3803820"/>
            <a:ext cx="1068056" cy="652160"/>
          </a:xfrm>
          <a:prstGeom prst="downArrow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4557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직사각형 7"/>
          <p:cNvSpPr/>
          <p:nvPr/>
        </p:nvSpPr>
        <p:spPr>
          <a:xfrm>
            <a:off x="2004703" y="1369938"/>
            <a:ext cx="10187297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dirty="0"/>
              <a:t>가장 기본적이고 중요한 자료 구조인 </a:t>
            </a:r>
            <a:r>
              <a:rPr lang="ko-KR" altLang="en-US" dirty="0">
                <a:solidFill>
                  <a:srgbClr val="FF0000"/>
                </a:solidFill>
              </a:rPr>
              <a:t>큐</a:t>
            </a:r>
            <a:r>
              <a:rPr lang="ko-KR" altLang="en-US" dirty="0"/>
              <a:t>를 구현합니다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</p:txBody>
      </p:sp>
      <p:sp>
        <p:nvSpPr>
          <p:cNvPr id="15" name="TextBox 14"/>
          <p:cNvSpPr txBox="1"/>
          <p:nvPr/>
        </p:nvSpPr>
        <p:spPr>
          <a:xfrm>
            <a:off x="0" y="298260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3600" b="1" dirty="0">
                <a:solidFill>
                  <a:schemeClr val="accent1">
                    <a:lumMod val="75000"/>
                  </a:schemeClr>
                </a:solidFill>
              </a:rPr>
              <a:t>05. </a:t>
            </a:r>
            <a:r>
              <a:rPr lang="ko-KR" altLang="en-US" sz="3600" b="1" dirty="0">
                <a:solidFill>
                  <a:schemeClr val="accent1">
                    <a:lumMod val="75000"/>
                  </a:schemeClr>
                </a:solidFill>
              </a:rPr>
              <a:t>큐 구현하기</a:t>
            </a:r>
            <a:endParaRPr lang="en-US" sz="36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2" name="원통 1"/>
          <p:cNvSpPr/>
          <p:nvPr/>
        </p:nvSpPr>
        <p:spPr>
          <a:xfrm rot="16200000">
            <a:off x="3547215" y="1401402"/>
            <a:ext cx="1076686" cy="3308684"/>
          </a:xfrm>
          <a:prstGeom prst="can">
            <a:avLst>
              <a:gd name="adj" fmla="val 14000"/>
            </a:avLst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타원 5"/>
          <p:cNvSpPr/>
          <p:nvPr/>
        </p:nvSpPr>
        <p:spPr>
          <a:xfrm>
            <a:off x="5093838" y="2797993"/>
            <a:ext cx="515500" cy="515500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2</a:t>
            </a:r>
            <a:endParaRPr lang="ko-KR" altLang="en-US" dirty="0"/>
          </a:p>
        </p:txBody>
      </p:sp>
      <p:sp>
        <p:nvSpPr>
          <p:cNvPr id="7" name="타원 6"/>
          <p:cNvSpPr/>
          <p:nvPr/>
        </p:nvSpPr>
        <p:spPr>
          <a:xfrm>
            <a:off x="4459200" y="2797993"/>
            <a:ext cx="515500" cy="515500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4</a:t>
            </a:r>
            <a:endParaRPr lang="ko-KR" altLang="en-US" dirty="0"/>
          </a:p>
        </p:txBody>
      </p:sp>
      <p:sp>
        <p:nvSpPr>
          <p:cNvPr id="9" name="타원 8"/>
          <p:cNvSpPr/>
          <p:nvPr/>
        </p:nvSpPr>
        <p:spPr>
          <a:xfrm>
            <a:off x="1393789" y="2797993"/>
            <a:ext cx="515500" cy="515500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1</a:t>
            </a:r>
            <a:endParaRPr lang="ko-KR" alt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1211025" y="3268392"/>
            <a:ext cx="1436612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dirty="0"/>
              <a:t>Push</a:t>
            </a:r>
          </a:p>
          <a:p>
            <a:pPr algn="ctr"/>
            <a:r>
              <a:rPr lang="en-US" altLang="ko-KR" dirty="0"/>
              <a:t>(</a:t>
            </a:r>
            <a:r>
              <a:rPr lang="en-US" altLang="ko-KR" dirty="0" err="1"/>
              <a:t>Enqueue</a:t>
            </a:r>
            <a:r>
              <a:rPr lang="en-US" altLang="ko-KR" dirty="0"/>
              <a:t>)</a:t>
            </a:r>
          </a:p>
          <a:p>
            <a:pPr algn="ctr"/>
            <a:r>
              <a:rPr lang="en-US" altLang="ko-KR" dirty="0"/>
              <a:t>(.append(1))</a:t>
            </a:r>
            <a:endParaRPr lang="ko-KR" altLang="en-US" dirty="0"/>
          </a:p>
        </p:txBody>
      </p:sp>
      <p:sp>
        <p:nvSpPr>
          <p:cNvPr id="17" name="오른쪽 화살표 16"/>
          <p:cNvSpPr/>
          <p:nvPr/>
        </p:nvSpPr>
        <p:spPr>
          <a:xfrm>
            <a:off x="1947578" y="2818189"/>
            <a:ext cx="558459" cy="472580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2" name="원통 31"/>
          <p:cNvSpPr/>
          <p:nvPr/>
        </p:nvSpPr>
        <p:spPr>
          <a:xfrm rot="16200000">
            <a:off x="8883883" y="1401402"/>
            <a:ext cx="1076686" cy="3308684"/>
          </a:xfrm>
          <a:prstGeom prst="can">
            <a:avLst>
              <a:gd name="adj" fmla="val 14000"/>
            </a:avLst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3" name="타원 32"/>
          <p:cNvSpPr/>
          <p:nvPr/>
        </p:nvSpPr>
        <p:spPr>
          <a:xfrm>
            <a:off x="10430506" y="2797993"/>
            <a:ext cx="515500" cy="515500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2</a:t>
            </a:r>
            <a:endParaRPr lang="ko-KR" altLang="en-US" dirty="0"/>
          </a:p>
        </p:txBody>
      </p:sp>
      <p:sp>
        <p:nvSpPr>
          <p:cNvPr id="34" name="타원 33"/>
          <p:cNvSpPr/>
          <p:nvPr/>
        </p:nvSpPr>
        <p:spPr>
          <a:xfrm>
            <a:off x="9795868" y="2797993"/>
            <a:ext cx="515500" cy="515500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4</a:t>
            </a:r>
            <a:endParaRPr lang="ko-KR" altLang="en-US" dirty="0"/>
          </a:p>
        </p:txBody>
      </p:sp>
      <p:sp>
        <p:nvSpPr>
          <p:cNvPr id="35" name="타원 34"/>
          <p:cNvSpPr/>
          <p:nvPr/>
        </p:nvSpPr>
        <p:spPr>
          <a:xfrm>
            <a:off x="6730457" y="2797993"/>
            <a:ext cx="515500" cy="515500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3</a:t>
            </a:r>
            <a:endParaRPr lang="ko-KR" altLang="en-US" dirty="0"/>
          </a:p>
        </p:txBody>
      </p:sp>
      <p:sp>
        <p:nvSpPr>
          <p:cNvPr id="36" name="TextBox 35"/>
          <p:cNvSpPr txBox="1"/>
          <p:nvPr/>
        </p:nvSpPr>
        <p:spPr>
          <a:xfrm>
            <a:off x="6547692" y="3268392"/>
            <a:ext cx="1436612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dirty="0"/>
              <a:t>Push</a:t>
            </a:r>
          </a:p>
          <a:p>
            <a:pPr algn="ctr"/>
            <a:r>
              <a:rPr lang="en-US" altLang="ko-KR" dirty="0"/>
              <a:t>(</a:t>
            </a:r>
            <a:r>
              <a:rPr lang="en-US" altLang="ko-KR" dirty="0" err="1"/>
              <a:t>Enqueue</a:t>
            </a:r>
            <a:r>
              <a:rPr lang="en-US" altLang="ko-KR" dirty="0"/>
              <a:t>)</a:t>
            </a:r>
          </a:p>
          <a:p>
            <a:pPr algn="ctr"/>
            <a:r>
              <a:rPr lang="en-US" altLang="ko-KR" dirty="0"/>
              <a:t>(.append(3))</a:t>
            </a:r>
            <a:endParaRPr lang="ko-KR" altLang="en-US" dirty="0"/>
          </a:p>
        </p:txBody>
      </p:sp>
      <p:sp>
        <p:nvSpPr>
          <p:cNvPr id="37" name="오른쪽 화살표 36"/>
          <p:cNvSpPr/>
          <p:nvPr/>
        </p:nvSpPr>
        <p:spPr>
          <a:xfrm>
            <a:off x="7284246" y="2818189"/>
            <a:ext cx="558459" cy="472580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8" name="타원 37"/>
          <p:cNvSpPr/>
          <p:nvPr/>
        </p:nvSpPr>
        <p:spPr>
          <a:xfrm>
            <a:off x="9164476" y="2797993"/>
            <a:ext cx="515500" cy="515500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1</a:t>
            </a:r>
            <a:endParaRPr lang="ko-KR" altLang="en-US" dirty="0"/>
          </a:p>
        </p:txBody>
      </p:sp>
      <p:sp>
        <p:nvSpPr>
          <p:cNvPr id="39" name="원통 38"/>
          <p:cNvSpPr/>
          <p:nvPr/>
        </p:nvSpPr>
        <p:spPr>
          <a:xfrm rot="16200000">
            <a:off x="7767085" y="3549715"/>
            <a:ext cx="1076686" cy="3308684"/>
          </a:xfrm>
          <a:prstGeom prst="can">
            <a:avLst>
              <a:gd name="adj" fmla="val 14000"/>
            </a:avLst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0" name="타원 39"/>
          <p:cNvSpPr/>
          <p:nvPr/>
        </p:nvSpPr>
        <p:spPr>
          <a:xfrm>
            <a:off x="10598292" y="4946306"/>
            <a:ext cx="515500" cy="515500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2</a:t>
            </a:r>
            <a:endParaRPr lang="ko-KR" altLang="en-US" dirty="0"/>
          </a:p>
        </p:txBody>
      </p:sp>
      <p:sp>
        <p:nvSpPr>
          <p:cNvPr id="42" name="타원 41"/>
          <p:cNvSpPr/>
          <p:nvPr/>
        </p:nvSpPr>
        <p:spPr>
          <a:xfrm>
            <a:off x="8050240" y="4946306"/>
            <a:ext cx="515500" cy="515500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3</a:t>
            </a:r>
            <a:endParaRPr lang="ko-KR" altLang="en-US" dirty="0"/>
          </a:p>
        </p:txBody>
      </p:sp>
      <p:sp>
        <p:nvSpPr>
          <p:cNvPr id="43" name="TextBox 42"/>
          <p:cNvSpPr txBox="1"/>
          <p:nvPr/>
        </p:nvSpPr>
        <p:spPr>
          <a:xfrm>
            <a:off x="10222695" y="5416705"/>
            <a:ext cx="1266692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dirty="0"/>
              <a:t>Pop</a:t>
            </a:r>
          </a:p>
          <a:p>
            <a:pPr algn="ctr"/>
            <a:r>
              <a:rPr lang="en-US" altLang="ko-KR" dirty="0"/>
              <a:t>(</a:t>
            </a:r>
            <a:r>
              <a:rPr lang="en-US" altLang="ko-KR" dirty="0" err="1"/>
              <a:t>Dequeue</a:t>
            </a:r>
            <a:r>
              <a:rPr lang="en-US" altLang="ko-KR" dirty="0"/>
              <a:t>)</a:t>
            </a:r>
          </a:p>
          <a:p>
            <a:pPr algn="ctr"/>
            <a:r>
              <a:rPr lang="en-US" altLang="ko-KR" dirty="0"/>
              <a:t>(.</a:t>
            </a:r>
            <a:r>
              <a:rPr lang="en-US" altLang="ko-KR" dirty="0" err="1"/>
              <a:t>popleft</a:t>
            </a:r>
            <a:r>
              <a:rPr lang="en-US" altLang="ko-KR" dirty="0"/>
              <a:t>())</a:t>
            </a:r>
            <a:endParaRPr lang="ko-KR" altLang="en-US" dirty="0"/>
          </a:p>
        </p:txBody>
      </p:sp>
      <p:sp>
        <p:nvSpPr>
          <p:cNvPr id="44" name="오른쪽 화살표 43"/>
          <p:cNvSpPr/>
          <p:nvPr/>
        </p:nvSpPr>
        <p:spPr>
          <a:xfrm>
            <a:off x="9999725" y="4966502"/>
            <a:ext cx="558459" cy="472580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5" name="타원 44"/>
          <p:cNvSpPr/>
          <p:nvPr/>
        </p:nvSpPr>
        <p:spPr>
          <a:xfrm>
            <a:off x="8680868" y="4946306"/>
            <a:ext cx="515500" cy="515500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1</a:t>
            </a:r>
            <a:endParaRPr lang="ko-KR" altLang="en-US" dirty="0"/>
          </a:p>
        </p:txBody>
      </p:sp>
      <p:sp>
        <p:nvSpPr>
          <p:cNvPr id="46" name="원통 45"/>
          <p:cNvSpPr/>
          <p:nvPr/>
        </p:nvSpPr>
        <p:spPr>
          <a:xfrm rot="16200000">
            <a:off x="3547215" y="3549715"/>
            <a:ext cx="1076686" cy="3308684"/>
          </a:xfrm>
          <a:prstGeom prst="can">
            <a:avLst>
              <a:gd name="adj" fmla="val 14000"/>
            </a:avLst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7" name="타원 46"/>
          <p:cNvSpPr/>
          <p:nvPr/>
        </p:nvSpPr>
        <p:spPr>
          <a:xfrm>
            <a:off x="5093838" y="4946306"/>
            <a:ext cx="515500" cy="515500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2</a:t>
            </a:r>
            <a:endParaRPr lang="ko-KR" altLang="en-US" dirty="0"/>
          </a:p>
        </p:txBody>
      </p:sp>
      <p:sp>
        <p:nvSpPr>
          <p:cNvPr id="48" name="타원 47"/>
          <p:cNvSpPr/>
          <p:nvPr/>
        </p:nvSpPr>
        <p:spPr>
          <a:xfrm>
            <a:off x="4459200" y="4946306"/>
            <a:ext cx="515500" cy="515500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4</a:t>
            </a:r>
            <a:endParaRPr lang="ko-KR" altLang="en-US" dirty="0"/>
          </a:p>
        </p:txBody>
      </p:sp>
      <p:sp>
        <p:nvSpPr>
          <p:cNvPr id="52" name="타원 51"/>
          <p:cNvSpPr/>
          <p:nvPr/>
        </p:nvSpPr>
        <p:spPr>
          <a:xfrm>
            <a:off x="3827808" y="4946306"/>
            <a:ext cx="515500" cy="515500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1</a:t>
            </a:r>
            <a:endParaRPr lang="ko-KR" altLang="en-US" dirty="0"/>
          </a:p>
        </p:txBody>
      </p:sp>
      <p:sp>
        <p:nvSpPr>
          <p:cNvPr id="53" name="타원 52"/>
          <p:cNvSpPr/>
          <p:nvPr/>
        </p:nvSpPr>
        <p:spPr>
          <a:xfrm>
            <a:off x="3197678" y="4946306"/>
            <a:ext cx="515500" cy="515500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3</a:t>
            </a:r>
            <a:endParaRPr lang="ko-KR" altLang="en-US" dirty="0"/>
          </a:p>
        </p:txBody>
      </p:sp>
      <p:sp>
        <p:nvSpPr>
          <p:cNvPr id="54" name="타원 53"/>
          <p:cNvSpPr/>
          <p:nvPr/>
        </p:nvSpPr>
        <p:spPr>
          <a:xfrm>
            <a:off x="9312260" y="4946306"/>
            <a:ext cx="515500" cy="515500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4</a:t>
            </a:r>
            <a:endParaRPr lang="ko-KR" altLang="en-US" dirty="0"/>
          </a:p>
        </p:txBody>
      </p:sp>
      <p:sp>
        <p:nvSpPr>
          <p:cNvPr id="3" name="아래쪽 화살표 2"/>
          <p:cNvSpPr/>
          <p:nvPr/>
        </p:nvSpPr>
        <p:spPr>
          <a:xfrm rot="16200000">
            <a:off x="5688142" y="2731449"/>
            <a:ext cx="1068056" cy="652160"/>
          </a:xfrm>
          <a:prstGeom prst="downArrow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7" name="아래쪽 화살표 56"/>
          <p:cNvSpPr/>
          <p:nvPr/>
        </p:nvSpPr>
        <p:spPr>
          <a:xfrm rot="16200000">
            <a:off x="5688142" y="4879762"/>
            <a:ext cx="1068056" cy="652160"/>
          </a:xfrm>
          <a:prstGeom prst="downArrow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8" name="아래쪽 화살표 57"/>
          <p:cNvSpPr/>
          <p:nvPr/>
        </p:nvSpPr>
        <p:spPr>
          <a:xfrm rot="2700000">
            <a:off x="5688142" y="3803820"/>
            <a:ext cx="1068056" cy="652160"/>
          </a:xfrm>
          <a:prstGeom prst="downArrow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7958849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직사각형 7"/>
          <p:cNvSpPr/>
          <p:nvPr/>
        </p:nvSpPr>
        <p:spPr>
          <a:xfrm>
            <a:off x="2004703" y="1372874"/>
            <a:ext cx="10187297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dirty="0"/>
              <a:t>가장 기본적이고 중요한 자료 구조 중 하나인 </a:t>
            </a:r>
            <a:r>
              <a:rPr lang="ko-KR" altLang="en-US" dirty="0">
                <a:solidFill>
                  <a:srgbClr val="FF0000"/>
                </a:solidFill>
              </a:rPr>
              <a:t>우선순위 큐</a:t>
            </a:r>
            <a:r>
              <a:rPr lang="ko-KR" altLang="en-US" dirty="0"/>
              <a:t>를 사용합니다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en-US" altLang="ko-KR" dirty="0"/>
              <a:t>* </a:t>
            </a:r>
            <a:r>
              <a:rPr lang="en-US" altLang="ko-KR" dirty="0" err="1"/>
              <a:t>heapq</a:t>
            </a:r>
            <a:r>
              <a:rPr lang="ko-KR" altLang="en-US" dirty="0"/>
              <a:t>를 이용해 보도록 합니다</a:t>
            </a:r>
            <a:r>
              <a:rPr lang="en-US" altLang="ko-KR" dirty="0"/>
              <a:t>. </a:t>
            </a:r>
          </a:p>
          <a:p>
            <a:r>
              <a:rPr lang="en-US" altLang="ko-KR" dirty="0"/>
              <a:t>* </a:t>
            </a:r>
            <a:r>
              <a:rPr lang="ko-KR" altLang="en-US" dirty="0"/>
              <a:t>주의</a:t>
            </a:r>
            <a:r>
              <a:rPr lang="en-US" altLang="ko-KR" dirty="0"/>
              <a:t>: </a:t>
            </a:r>
            <a:r>
              <a:rPr lang="ko-KR" altLang="en-US" dirty="0"/>
              <a:t>일반적으로 숫자가 작을수록 우선순위가 높다고 표현합니다</a:t>
            </a:r>
            <a:r>
              <a:rPr lang="en-US" altLang="ko-KR" dirty="0"/>
              <a:t>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0" y="298260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3600" b="1" dirty="0">
                <a:solidFill>
                  <a:schemeClr val="accent1">
                    <a:lumMod val="75000"/>
                  </a:schemeClr>
                </a:solidFill>
              </a:rPr>
              <a:t>06. </a:t>
            </a:r>
            <a:r>
              <a:rPr lang="ko-KR" altLang="en-US" sz="3600" b="1" dirty="0">
                <a:solidFill>
                  <a:schemeClr val="accent1">
                    <a:lumMod val="75000"/>
                  </a:schemeClr>
                </a:solidFill>
              </a:rPr>
              <a:t>우선순위 큐 사용하기</a:t>
            </a:r>
            <a:endParaRPr lang="en-US" sz="36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60" name="모서리가 둥근 직사각형 59"/>
          <p:cNvSpPr/>
          <p:nvPr/>
        </p:nvSpPr>
        <p:spPr>
          <a:xfrm>
            <a:off x="2341689" y="3761869"/>
            <a:ext cx="2192143" cy="2122384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1" name="오른쪽 화살표 60"/>
          <p:cNvSpPr/>
          <p:nvPr/>
        </p:nvSpPr>
        <p:spPr>
          <a:xfrm>
            <a:off x="4843583" y="4510934"/>
            <a:ext cx="518746" cy="624254"/>
          </a:xfrm>
          <a:prstGeom prst="right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2" name="오른쪽 화살표 61"/>
          <p:cNvSpPr/>
          <p:nvPr/>
        </p:nvSpPr>
        <p:spPr>
          <a:xfrm>
            <a:off x="8173974" y="4508912"/>
            <a:ext cx="518746" cy="624254"/>
          </a:xfrm>
          <a:prstGeom prst="right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6" name="모서리가 둥근 직사각형 65"/>
          <p:cNvSpPr/>
          <p:nvPr/>
        </p:nvSpPr>
        <p:spPr>
          <a:xfrm>
            <a:off x="5672080" y="3761868"/>
            <a:ext cx="2192143" cy="2122385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0" name="모서리가 둥근 직사각형 69"/>
          <p:cNvSpPr/>
          <p:nvPr/>
        </p:nvSpPr>
        <p:spPr>
          <a:xfrm>
            <a:off x="9002471" y="3761868"/>
            <a:ext cx="2192143" cy="2122385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5" name="오른쪽 화살표 74"/>
          <p:cNvSpPr/>
          <p:nvPr/>
        </p:nvSpPr>
        <p:spPr>
          <a:xfrm rot="2198643">
            <a:off x="1971446" y="3108134"/>
            <a:ext cx="558459" cy="472580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6" name="타원 75"/>
          <p:cNvSpPr/>
          <p:nvPr/>
        </p:nvSpPr>
        <p:spPr>
          <a:xfrm>
            <a:off x="1452375" y="2514291"/>
            <a:ext cx="515500" cy="515500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2</a:t>
            </a:r>
            <a:endParaRPr lang="ko-KR" altLang="en-US" dirty="0"/>
          </a:p>
        </p:txBody>
      </p:sp>
      <p:sp>
        <p:nvSpPr>
          <p:cNvPr id="78" name="타원 77"/>
          <p:cNvSpPr/>
          <p:nvPr/>
        </p:nvSpPr>
        <p:spPr>
          <a:xfrm>
            <a:off x="2626505" y="4160683"/>
            <a:ext cx="515500" cy="515500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1</a:t>
            </a:r>
            <a:endParaRPr lang="ko-KR" altLang="en-US" dirty="0"/>
          </a:p>
        </p:txBody>
      </p:sp>
      <p:sp>
        <p:nvSpPr>
          <p:cNvPr id="79" name="타원 78"/>
          <p:cNvSpPr/>
          <p:nvPr/>
        </p:nvSpPr>
        <p:spPr>
          <a:xfrm>
            <a:off x="3624618" y="4799602"/>
            <a:ext cx="515500" cy="515500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7</a:t>
            </a:r>
            <a:endParaRPr lang="ko-KR" altLang="en-US" dirty="0"/>
          </a:p>
        </p:txBody>
      </p:sp>
      <p:sp>
        <p:nvSpPr>
          <p:cNvPr id="80" name="타원 79"/>
          <p:cNvSpPr/>
          <p:nvPr/>
        </p:nvSpPr>
        <p:spPr>
          <a:xfrm>
            <a:off x="2799367" y="5057352"/>
            <a:ext cx="515500" cy="515500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5</a:t>
            </a:r>
            <a:endParaRPr lang="ko-KR" alt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2539994" y="2899611"/>
            <a:ext cx="25882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err="1"/>
              <a:t>heapq.heappush</a:t>
            </a:r>
            <a:r>
              <a:rPr lang="en-US" altLang="ko-KR" dirty="0"/>
              <a:t>(hq,2)</a:t>
            </a:r>
            <a:endParaRPr lang="ko-KR" altLang="en-US" dirty="0"/>
          </a:p>
        </p:txBody>
      </p:sp>
      <p:sp>
        <p:nvSpPr>
          <p:cNvPr id="81" name="타원 80"/>
          <p:cNvSpPr/>
          <p:nvPr/>
        </p:nvSpPr>
        <p:spPr>
          <a:xfrm>
            <a:off x="5849931" y="4160683"/>
            <a:ext cx="515500" cy="515500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1</a:t>
            </a:r>
            <a:endParaRPr lang="ko-KR" altLang="en-US" dirty="0"/>
          </a:p>
        </p:txBody>
      </p:sp>
      <p:sp>
        <p:nvSpPr>
          <p:cNvPr id="82" name="타원 81"/>
          <p:cNvSpPr/>
          <p:nvPr/>
        </p:nvSpPr>
        <p:spPr>
          <a:xfrm>
            <a:off x="6848044" y="4799602"/>
            <a:ext cx="515500" cy="515500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7</a:t>
            </a:r>
            <a:endParaRPr lang="ko-KR" altLang="en-US" dirty="0"/>
          </a:p>
        </p:txBody>
      </p:sp>
      <p:sp>
        <p:nvSpPr>
          <p:cNvPr id="83" name="타원 82"/>
          <p:cNvSpPr/>
          <p:nvPr/>
        </p:nvSpPr>
        <p:spPr>
          <a:xfrm>
            <a:off x="6022793" y="5057352"/>
            <a:ext cx="515500" cy="515500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5</a:t>
            </a:r>
            <a:endParaRPr lang="ko-KR" altLang="en-US" dirty="0"/>
          </a:p>
        </p:txBody>
      </p:sp>
      <p:sp>
        <p:nvSpPr>
          <p:cNvPr id="84" name="타원 83"/>
          <p:cNvSpPr/>
          <p:nvPr/>
        </p:nvSpPr>
        <p:spPr>
          <a:xfrm>
            <a:off x="6831600" y="3987832"/>
            <a:ext cx="515500" cy="515500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2</a:t>
            </a:r>
            <a:endParaRPr lang="ko-KR" altLang="en-US" dirty="0"/>
          </a:p>
        </p:txBody>
      </p:sp>
      <p:sp>
        <p:nvSpPr>
          <p:cNvPr id="85" name="TextBox 84"/>
          <p:cNvSpPr txBox="1"/>
          <p:nvPr/>
        </p:nvSpPr>
        <p:spPr>
          <a:xfrm>
            <a:off x="8808720" y="2899611"/>
            <a:ext cx="25132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err="1"/>
              <a:t>heapq.heappop</a:t>
            </a:r>
            <a:r>
              <a:rPr lang="en-US" altLang="ko-KR" dirty="0"/>
              <a:t>(</a:t>
            </a:r>
            <a:r>
              <a:rPr lang="en-US" altLang="ko-KR" dirty="0" err="1"/>
              <a:t>hq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86" name="타원 85"/>
          <p:cNvSpPr/>
          <p:nvPr/>
        </p:nvSpPr>
        <p:spPr>
          <a:xfrm>
            <a:off x="11535105" y="2667021"/>
            <a:ext cx="515500" cy="515500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1</a:t>
            </a:r>
            <a:endParaRPr lang="ko-KR" altLang="en-US" dirty="0"/>
          </a:p>
        </p:txBody>
      </p:sp>
      <p:sp>
        <p:nvSpPr>
          <p:cNvPr id="87" name="오른쪽 화살표 86"/>
          <p:cNvSpPr/>
          <p:nvPr/>
        </p:nvSpPr>
        <p:spPr>
          <a:xfrm rot="19800000">
            <a:off x="10915384" y="2993695"/>
            <a:ext cx="558459" cy="472580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3" name="타원 92"/>
          <p:cNvSpPr/>
          <p:nvPr/>
        </p:nvSpPr>
        <p:spPr>
          <a:xfrm>
            <a:off x="10150706" y="4799602"/>
            <a:ext cx="515500" cy="515500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7</a:t>
            </a:r>
            <a:endParaRPr lang="ko-KR" altLang="en-US" dirty="0"/>
          </a:p>
        </p:txBody>
      </p:sp>
      <p:sp>
        <p:nvSpPr>
          <p:cNvPr id="94" name="타원 93"/>
          <p:cNvSpPr/>
          <p:nvPr/>
        </p:nvSpPr>
        <p:spPr>
          <a:xfrm>
            <a:off x="9325455" y="5057352"/>
            <a:ext cx="515500" cy="515500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5</a:t>
            </a:r>
            <a:endParaRPr lang="ko-KR" altLang="en-US" dirty="0"/>
          </a:p>
        </p:txBody>
      </p:sp>
      <p:sp>
        <p:nvSpPr>
          <p:cNvPr id="95" name="타원 94"/>
          <p:cNvSpPr/>
          <p:nvPr/>
        </p:nvSpPr>
        <p:spPr>
          <a:xfrm>
            <a:off x="10134262" y="3987832"/>
            <a:ext cx="515500" cy="515500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2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5903015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직사각형 7"/>
          <p:cNvSpPr/>
          <p:nvPr/>
        </p:nvSpPr>
        <p:spPr>
          <a:xfrm>
            <a:off x="2004703" y="1369938"/>
            <a:ext cx="10187297" cy="43396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dirty="0"/>
              <a:t>괄호가 올바른 </a:t>
            </a:r>
            <a:r>
              <a:rPr lang="ko-KR" altLang="en-US" dirty="0" err="1"/>
              <a:t>괄호열인지</a:t>
            </a:r>
            <a:r>
              <a:rPr lang="ko-KR" altLang="en-US" dirty="0"/>
              <a:t> 체크하는 프로그램을 작성합니다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괄호의 개수는 </a:t>
            </a:r>
            <a:r>
              <a:rPr lang="en-US" altLang="ko-KR" b="1" dirty="0"/>
              <a:t>20</a:t>
            </a:r>
            <a:r>
              <a:rPr lang="ko-KR" altLang="en-US" b="1" dirty="0"/>
              <a:t>만개</a:t>
            </a:r>
            <a:r>
              <a:rPr lang="ko-KR" altLang="en-US" dirty="0"/>
              <a:t>를 넘지 않습니다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올바른 </a:t>
            </a:r>
            <a:r>
              <a:rPr lang="ko-KR" altLang="en-US" dirty="0" err="1"/>
              <a:t>괄호열</a:t>
            </a:r>
            <a:endParaRPr lang="en-US" altLang="ko-KR" dirty="0"/>
          </a:p>
          <a:p>
            <a:r>
              <a:rPr lang="en-US" altLang="ko-KR" sz="3000" dirty="0"/>
              <a:t>((()))</a:t>
            </a:r>
          </a:p>
          <a:p>
            <a:r>
              <a:rPr lang="en-US" altLang="ko-KR" sz="3000" dirty="0"/>
              <a:t>((){}[[]])</a:t>
            </a:r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Hint : </a:t>
            </a:r>
            <a:r>
              <a:rPr lang="ko-KR" altLang="en-US" dirty="0"/>
              <a:t>스택을 이용합니다</a:t>
            </a:r>
            <a:r>
              <a:rPr lang="en-US" altLang="ko-KR" dirty="0"/>
              <a:t>!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0" y="298260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3600" b="1" dirty="0">
                <a:solidFill>
                  <a:schemeClr val="accent1">
                    <a:lumMod val="75000"/>
                  </a:schemeClr>
                </a:solidFill>
              </a:rPr>
              <a:t>ADD01. </a:t>
            </a:r>
            <a:r>
              <a:rPr lang="ko-KR" altLang="en-US" sz="3600" b="1" dirty="0">
                <a:solidFill>
                  <a:schemeClr val="accent1">
                    <a:lumMod val="75000"/>
                  </a:schemeClr>
                </a:solidFill>
              </a:rPr>
              <a:t>괄호 검사</a:t>
            </a:r>
            <a:endParaRPr lang="en-US" sz="36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2" name="직사각형 1"/>
          <p:cNvSpPr/>
          <p:nvPr/>
        </p:nvSpPr>
        <p:spPr>
          <a:xfrm>
            <a:off x="5939029" y="2172980"/>
            <a:ext cx="6096000" cy="2677656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ko-KR" altLang="en-US" dirty="0"/>
              <a:t>올바르지 못한 </a:t>
            </a:r>
            <a:r>
              <a:rPr lang="ko-KR" altLang="en-US" dirty="0" err="1"/>
              <a:t>괄호열</a:t>
            </a:r>
            <a:endParaRPr lang="en-US" altLang="ko-KR" dirty="0"/>
          </a:p>
          <a:p>
            <a:r>
              <a:rPr lang="en-US" altLang="ko-KR" sz="3000" dirty="0"/>
              <a:t>(}</a:t>
            </a:r>
          </a:p>
          <a:p>
            <a:r>
              <a:rPr lang="en-US" altLang="ko-KR" sz="3000" dirty="0"/>
              <a:t>[(])</a:t>
            </a:r>
          </a:p>
          <a:p>
            <a:r>
              <a:rPr lang="en-US" altLang="ko-KR" sz="3000" dirty="0"/>
              <a:t>((((((]]]</a:t>
            </a:r>
          </a:p>
          <a:p>
            <a:r>
              <a:rPr lang="en-US" altLang="ko-KR" sz="3000" dirty="0"/>
              <a:t>))))((((</a:t>
            </a:r>
          </a:p>
          <a:p>
            <a:r>
              <a:rPr lang="en-US" altLang="ko-KR" sz="3000" dirty="0"/>
              <a:t>[[[[]]</a:t>
            </a:r>
          </a:p>
        </p:txBody>
      </p:sp>
    </p:spTree>
    <p:extLst>
      <p:ext uri="{BB962C8B-B14F-4D97-AF65-F5344CB8AC3E}">
        <p14:creationId xmlns:p14="http://schemas.microsoft.com/office/powerpoint/2010/main" val="247358469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/>
          <p:cNvSpPr txBox="1"/>
          <p:nvPr/>
        </p:nvSpPr>
        <p:spPr>
          <a:xfrm>
            <a:off x="0" y="298260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3600" b="1" dirty="0">
                <a:solidFill>
                  <a:schemeClr val="accent1">
                    <a:lumMod val="75000"/>
                  </a:schemeClr>
                </a:solidFill>
              </a:rPr>
              <a:t>ADD01. </a:t>
            </a:r>
            <a:r>
              <a:rPr lang="ko-KR" altLang="en-US" sz="3600" b="1" dirty="0">
                <a:solidFill>
                  <a:schemeClr val="accent1">
                    <a:lumMod val="75000"/>
                  </a:schemeClr>
                </a:solidFill>
              </a:rPr>
              <a:t>괄호 검사</a:t>
            </a:r>
            <a:endParaRPr lang="en-US" sz="36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3" name="직사각형 2"/>
          <p:cNvSpPr/>
          <p:nvPr/>
        </p:nvSpPr>
        <p:spPr>
          <a:xfrm>
            <a:off x="4390445" y="2274073"/>
            <a:ext cx="341111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5400" dirty="0"/>
              <a:t>( [ ] { ( ) } )</a:t>
            </a:r>
          </a:p>
        </p:txBody>
      </p:sp>
      <p:sp>
        <p:nvSpPr>
          <p:cNvPr id="5" name="직사각형 4"/>
          <p:cNvSpPr/>
          <p:nvPr/>
        </p:nvSpPr>
        <p:spPr>
          <a:xfrm>
            <a:off x="1905285" y="3546483"/>
            <a:ext cx="111921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b="1" dirty="0"/>
              <a:t>스택</a:t>
            </a:r>
            <a:r>
              <a:rPr lang="en-US" altLang="ko-KR" b="1" dirty="0"/>
              <a:t>: [  ]</a:t>
            </a:r>
            <a:endParaRPr lang="ko-KR" altLang="en-US" b="1" dirty="0"/>
          </a:p>
        </p:txBody>
      </p:sp>
      <p:sp>
        <p:nvSpPr>
          <p:cNvPr id="6" name="아래쪽 화살표 5"/>
          <p:cNvSpPr/>
          <p:nvPr/>
        </p:nvSpPr>
        <p:spPr>
          <a:xfrm rot="10800000">
            <a:off x="3975651" y="3283033"/>
            <a:ext cx="343231" cy="448116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직사각형 6"/>
          <p:cNvSpPr/>
          <p:nvPr/>
        </p:nvSpPr>
        <p:spPr>
          <a:xfrm>
            <a:off x="2004703" y="1369938"/>
            <a:ext cx="6250064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dirty="0"/>
              <a:t>Idea: </a:t>
            </a:r>
            <a:r>
              <a:rPr lang="ko-KR" altLang="en-US" dirty="0"/>
              <a:t>왼쪽 괄호가 나오면 </a:t>
            </a:r>
            <a:r>
              <a:rPr lang="en-US" altLang="ko-KR" dirty="0"/>
              <a:t>stack</a:t>
            </a:r>
            <a:r>
              <a:rPr lang="ko-KR" altLang="en-US" dirty="0"/>
              <a:t>에 </a:t>
            </a:r>
            <a:r>
              <a:rPr lang="en-US" altLang="ko-KR" dirty="0">
                <a:solidFill>
                  <a:srgbClr val="FF0000"/>
                </a:solidFill>
              </a:rPr>
              <a:t>push</a:t>
            </a:r>
            <a:r>
              <a:rPr lang="en-US" altLang="ko-KR" dirty="0"/>
              <a:t>,</a:t>
            </a:r>
          </a:p>
          <a:p>
            <a:r>
              <a:rPr lang="ko-KR" altLang="en-US" dirty="0"/>
              <a:t>오른쪽 괄호가 나오면 </a:t>
            </a:r>
            <a:r>
              <a:rPr lang="en-US" altLang="ko-KR" dirty="0"/>
              <a:t>stack</a:t>
            </a:r>
            <a:r>
              <a:rPr lang="ko-KR" altLang="en-US" dirty="0"/>
              <a:t>에서 </a:t>
            </a:r>
            <a:r>
              <a:rPr lang="en-US" altLang="ko-KR" dirty="0">
                <a:solidFill>
                  <a:srgbClr val="FF0000"/>
                </a:solidFill>
              </a:rPr>
              <a:t>pop</a:t>
            </a:r>
            <a:r>
              <a:rPr lang="en-US" altLang="ko-KR" dirty="0"/>
              <a:t> </a:t>
            </a:r>
            <a:r>
              <a:rPr lang="ko-KR" altLang="en-US" dirty="0"/>
              <a:t>한 뒤 비교하자</a:t>
            </a:r>
            <a:r>
              <a:rPr lang="en-US" altLang="ko-KR" dirty="0"/>
              <a:t>!</a:t>
            </a:r>
          </a:p>
        </p:txBody>
      </p:sp>
    </p:spTree>
    <p:extLst>
      <p:ext uri="{BB962C8B-B14F-4D97-AF65-F5344CB8AC3E}">
        <p14:creationId xmlns:p14="http://schemas.microsoft.com/office/powerpoint/2010/main" val="204527449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/>
          <p:cNvSpPr txBox="1"/>
          <p:nvPr/>
        </p:nvSpPr>
        <p:spPr>
          <a:xfrm>
            <a:off x="0" y="298260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3600" b="1" dirty="0">
                <a:solidFill>
                  <a:schemeClr val="accent1">
                    <a:lumMod val="75000"/>
                  </a:schemeClr>
                </a:solidFill>
              </a:rPr>
              <a:t>ADD01. </a:t>
            </a:r>
            <a:r>
              <a:rPr lang="ko-KR" altLang="en-US" sz="3600" b="1" dirty="0">
                <a:solidFill>
                  <a:schemeClr val="accent1">
                    <a:lumMod val="75000"/>
                  </a:schemeClr>
                </a:solidFill>
              </a:rPr>
              <a:t>괄호 검사</a:t>
            </a:r>
            <a:endParaRPr lang="en-US" sz="36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3" name="직사각형 2"/>
          <p:cNvSpPr/>
          <p:nvPr/>
        </p:nvSpPr>
        <p:spPr>
          <a:xfrm>
            <a:off x="4390445" y="2274073"/>
            <a:ext cx="341111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5400" dirty="0"/>
              <a:t>( [ ] { ( ) } )</a:t>
            </a:r>
          </a:p>
        </p:txBody>
      </p:sp>
      <p:sp>
        <p:nvSpPr>
          <p:cNvPr id="5" name="직사각형 4"/>
          <p:cNvSpPr/>
          <p:nvPr/>
        </p:nvSpPr>
        <p:spPr>
          <a:xfrm>
            <a:off x="1905285" y="3546483"/>
            <a:ext cx="129554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b="1" dirty="0"/>
              <a:t>스택</a:t>
            </a:r>
            <a:r>
              <a:rPr lang="en-US" altLang="ko-KR" b="1" dirty="0"/>
              <a:t>: [ </a:t>
            </a:r>
            <a:r>
              <a:rPr lang="en-US" altLang="ko-KR" dirty="0"/>
              <a:t>‘(‘ </a:t>
            </a:r>
            <a:r>
              <a:rPr lang="en-US" altLang="ko-KR" b="1" dirty="0"/>
              <a:t>]</a:t>
            </a:r>
            <a:endParaRPr lang="ko-KR" altLang="en-US" b="1" dirty="0"/>
          </a:p>
        </p:txBody>
      </p:sp>
      <p:sp>
        <p:nvSpPr>
          <p:cNvPr id="6" name="아래쪽 화살표 5"/>
          <p:cNvSpPr/>
          <p:nvPr/>
        </p:nvSpPr>
        <p:spPr>
          <a:xfrm rot="10800000">
            <a:off x="4436824" y="3283033"/>
            <a:ext cx="343231" cy="448116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9944F6E5-6A23-2CA6-8308-CD635A1A772E}"/>
              </a:ext>
            </a:extLst>
          </p:cNvPr>
          <p:cNvSpPr/>
          <p:nvPr/>
        </p:nvSpPr>
        <p:spPr>
          <a:xfrm>
            <a:off x="2004703" y="1369938"/>
            <a:ext cx="6250064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dirty="0"/>
              <a:t>Idea: </a:t>
            </a:r>
            <a:r>
              <a:rPr lang="ko-KR" altLang="en-US" dirty="0"/>
              <a:t>왼쪽 괄호가 나오면 </a:t>
            </a:r>
            <a:r>
              <a:rPr lang="en-US" altLang="ko-KR" dirty="0"/>
              <a:t>stack</a:t>
            </a:r>
            <a:r>
              <a:rPr lang="ko-KR" altLang="en-US" dirty="0"/>
              <a:t>에 </a:t>
            </a:r>
            <a:r>
              <a:rPr lang="en-US" altLang="ko-KR" dirty="0">
                <a:solidFill>
                  <a:srgbClr val="FF0000"/>
                </a:solidFill>
              </a:rPr>
              <a:t>push</a:t>
            </a:r>
            <a:r>
              <a:rPr lang="en-US" altLang="ko-KR" dirty="0"/>
              <a:t>,</a:t>
            </a:r>
          </a:p>
          <a:p>
            <a:r>
              <a:rPr lang="ko-KR" altLang="en-US" dirty="0"/>
              <a:t>오른쪽 괄호가 나오면 </a:t>
            </a:r>
            <a:r>
              <a:rPr lang="en-US" altLang="ko-KR" dirty="0"/>
              <a:t>stack</a:t>
            </a:r>
            <a:r>
              <a:rPr lang="ko-KR" altLang="en-US" dirty="0"/>
              <a:t>에서 </a:t>
            </a:r>
            <a:r>
              <a:rPr lang="en-US" altLang="ko-KR" dirty="0">
                <a:solidFill>
                  <a:srgbClr val="FF0000"/>
                </a:solidFill>
              </a:rPr>
              <a:t>pop</a:t>
            </a:r>
            <a:r>
              <a:rPr lang="en-US" altLang="ko-KR" dirty="0"/>
              <a:t> </a:t>
            </a:r>
            <a:r>
              <a:rPr lang="ko-KR" altLang="en-US" dirty="0"/>
              <a:t>한 뒤 비교하자</a:t>
            </a:r>
            <a:r>
              <a:rPr lang="en-US" altLang="ko-KR" dirty="0"/>
              <a:t>!</a:t>
            </a:r>
          </a:p>
        </p:txBody>
      </p:sp>
    </p:spTree>
    <p:extLst>
      <p:ext uri="{BB962C8B-B14F-4D97-AF65-F5344CB8AC3E}">
        <p14:creationId xmlns:p14="http://schemas.microsoft.com/office/powerpoint/2010/main" val="44512820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/>
          <p:cNvSpPr txBox="1"/>
          <p:nvPr/>
        </p:nvSpPr>
        <p:spPr>
          <a:xfrm>
            <a:off x="0" y="298260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3600" b="1" dirty="0">
                <a:solidFill>
                  <a:schemeClr val="accent1">
                    <a:lumMod val="75000"/>
                  </a:schemeClr>
                </a:solidFill>
              </a:rPr>
              <a:t>ADD01. </a:t>
            </a:r>
            <a:r>
              <a:rPr lang="ko-KR" altLang="en-US" sz="3600" b="1" dirty="0">
                <a:solidFill>
                  <a:schemeClr val="accent1">
                    <a:lumMod val="75000"/>
                  </a:schemeClr>
                </a:solidFill>
              </a:rPr>
              <a:t>괄호 검사</a:t>
            </a:r>
            <a:endParaRPr lang="en-US" sz="36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3" name="직사각형 2"/>
          <p:cNvSpPr/>
          <p:nvPr/>
        </p:nvSpPr>
        <p:spPr>
          <a:xfrm>
            <a:off x="4390445" y="2274073"/>
            <a:ext cx="341111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5400" dirty="0"/>
              <a:t>( [ ] { ( ) } )</a:t>
            </a:r>
          </a:p>
        </p:txBody>
      </p:sp>
      <p:sp>
        <p:nvSpPr>
          <p:cNvPr id="5" name="직사각형 4"/>
          <p:cNvSpPr/>
          <p:nvPr/>
        </p:nvSpPr>
        <p:spPr>
          <a:xfrm>
            <a:off x="1905285" y="3546483"/>
            <a:ext cx="154401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b="1" dirty="0"/>
              <a:t>스택</a:t>
            </a:r>
            <a:r>
              <a:rPr lang="en-US" altLang="ko-KR" b="1" dirty="0"/>
              <a:t>:</a:t>
            </a:r>
            <a:r>
              <a:rPr lang="en-US" altLang="ko-KR" dirty="0"/>
              <a:t> </a:t>
            </a:r>
            <a:r>
              <a:rPr lang="en-US" altLang="ko-KR" b="1" dirty="0"/>
              <a:t>[</a:t>
            </a:r>
            <a:r>
              <a:rPr lang="en-US" altLang="ko-KR" dirty="0"/>
              <a:t> ‘(‘ ’[‘ </a:t>
            </a:r>
            <a:r>
              <a:rPr lang="en-US" altLang="ko-KR" b="1" dirty="0"/>
              <a:t>]</a:t>
            </a:r>
            <a:endParaRPr lang="ko-KR" altLang="en-US" b="1" dirty="0"/>
          </a:p>
        </p:txBody>
      </p:sp>
      <p:sp>
        <p:nvSpPr>
          <p:cNvPr id="6" name="아래쪽 화살표 5"/>
          <p:cNvSpPr/>
          <p:nvPr/>
        </p:nvSpPr>
        <p:spPr>
          <a:xfrm rot="10800000">
            <a:off x="4874146" y="3283033"/>
            <a:ext cx="343231" cy="448116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2E8FC9D8-499D-02F3-B90A-015D6C736EF7}"/>
              </a:ext>
            </a:extLst>
          </p:cNvPr>
          <p:cNvSpPr/>
          <p:nvPr/>
        </p:nvSpPr>
        <p:spPr>
          <a:xfrm>
            <a:off x="2004703" y="1369938"/>
            <a:ext cx="6250064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dirty="0"/>
              <a:t>Idea: </a:t>
            </a:r>
            <a:r>
              <a:rPr lang="ko-KR" altLang="en-US" dirty="0"/>
              <a:t>왼쪽 괄호가 나오면 </a:t>
            </a:r>
            <a:r>
              <a:rPr lang="en-US" altLang="ko-KR" dirty="0"/>
              <a:t>stack</a:t>
            </a:r>
            <a:r>
              <a:rPr lang="ko-KR" altLang="en-US" dirty="0"/>
              <a:t>에 </a:t>
            </a:r>
            <a:r>
              <a:rPr lang="en-US" altLang="ko-KR" dirty="0">
                <a:solidFill>
                  <a:srgbClr val="FF0000"/>
                </a:solidFill>
              </a:rPr>
              <a:t>push</a:t>
            </a:r>
            <a:r>
              <a:rPr lang="en-US" altLang="ko-KR" dirty="0"/>
              <a:t>,</a:t>
            </a:r>
          </a:p>
          <a:p>
            <a:r>
              <a:rPr lang="ko-KR" altLang="en-US" dirty="0"/>
              <a:t>오른쪽 괄호가 나오면 </a:t>
            </a:r>
            <a:r>
              <a:rPr lang="en-US" altLang="ko-KR" dirty="0"/>
              <a:t>stack</a:t>
            </a:r>
            <a:r>
              <a:rPr lang="ko-KR" altLang="en-US" dirty="0"/>
              <a:t>에서 </a:t>
            </a:r>
            <a:r>
              <a:rPr lang="en-US" altLang="ko-KR" dirty="0">
                <a:solidFill>
                  <a:srgbClr val="FF0000"/>
                </a:solidFill>
              </a:rPr>
              <a:t>pop</a:t>
            </a:r>
            <a:r>
              <a:rPr lang="en-US" altLang="ko-KR" dirty="0"/>
              <a:t> </a:t>
            </a:r>
            <a:r>
              <a:rPr lang="ko-KR" altLang="en-US" dirty="0"/>
              <a:t>한 뒤 비교하자</a:t>
            </a:r>
            <a:r>
              <a:rPr lang="en-US" altLang="ko-KR" dirty="0"/>
              <a:t>!</a:t>
            </a:r>
          </a:p>
        </p:txBody>
      </p:sp>
    </p:spTree>
    <p:extLst>
      <p:ext uri="{BB962C8B-B14F-4D97-AF65-F5344CB8AC3E}">
        <p14:creationId xmlns:p14="http://schemas.microsoft.com/office/powerpoint/2010/main" val="219653590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/>
          <p:cNvSpPr txBox="1"/>
          <p:nvPr/>
        </p:nvSpPr>
        <p:spPr>
          <a:xfrm>
            <a:off x="0" y="298260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3600" b="1" dirty="0">
                <a:solidFill>
                  <a:schemeClr val="accent1">
                    <a:lumMod val="75000"/>
                  </a:schemeClr>
                </a:solidFill>
              </a:rPr>
              <a:t>ADD01. </a:t>
            </a:r>
            <a:r>
              <a:rPr lang="ko-KR" altLang="en-US" sz="3600" b="1" dirty="0">
                <a:solidFill>
                  <a:schemeClr val="accent1">
                    <a:lumMod val="75000"/>
                  </a:schemeClr>
                </a:solidFill>
              </a:rPr>
              <a:t>괄호 검사</a:t>
            </a:r>
            <a:endParaRPr lang="en-US" sz="36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3" name="직사각형 2"/>
          <p:cNvSpPr/>
          <p:nvPr/>
        </p:nvSpPr>
        <p:spPr>
          <a:xfrm>
            <a:off x="4390445" y="2274073"/>
            <a:ext cx="341111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5400" dirty="0"/>
              <a:t>( [ ] { ( ) } )</a:t>
            </a:r>
          </a:p>
        </p:txBody>
      </p:sp>
      <p:sp>
        <p:nvSpPr>
          <p:cNvPr id="5" name="직사각형 4"/>
          <p:cNvSpPr/>
          <p:nvPr/>
        </p:nvSpPr>
        <p:spPr>
          <a:xfrm>
            <a:off x="1905285" y="3546483"/>
            <a:ext cx="2629246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b="1" dirty="0"/>
              <a:t>스택</a:t>
            </a:r>
            <a:r>
              <a:rPr lang="en-US" altLang="ko-KR" b="1" dirty="0"/>
              <a:t>: [ </a:t>
            </a:r>
            <a:r>
              <a:rPr lang="en-US" altLang="ko-KR" dirty="0"/>
              <a:t>‘(‘ </a:t>
            </a:r>
            <a:r>
              <a:rPr lang="en-US" altLang="ko-KR" b="1" dirty="0"/>
              <a:t>]</a:t>
            </a:r>
          </a:p>
          <a:p>
            <a:r>
              <a:rPr lang="en-US" altLang="ko-KR" dirty="0"/>
              <a:t>‘[‘</a:t>
            </a:r>
            <a:r>
              <a:rPr lang="ko-KR" altLang="en-US" dirty="0"/>
              <a:t>와 </a:t>
            </a:r>
            <a:r>
              <a:rPr lang="en-US" altLang="ko-KR" dirty="0"/>
              <a:t>‘]’</a:t>
            </a:r>
            <a:r>
              <a:rPr lang="ko-KR" altLang="en-US" dirty="0"/>
              <a:t>의</a:t>
            </a:r>
            <a:r>
              <a:rPr lang="en-US" altLang="ko-KR" dirty="0"/>
              <a:t> </a:t>
            </a:r>
            <a:r>
              <a:rPr lang="ko-KR" altLang="en-US" dirty="0" err="1"/>
              <a:t>괄호열이</a:t>
            </a:r>
            <a:r>
              <a:rPr lang="ko-KR" altLang="en-US" dirty="0"/>
              <a:t> 맞음</a:t>
            </a:r>
          </a:p>
        </p:txBody>
      </p:sp>
      <p:sp>
        <p:nvSpPr>
          <p:cNvPr id="6" name="아래쪽 화살표 5"/>
          <p:cNvSpPr/>
          <p:nvPr/>
        </p:nvSpPr>
        <p:spPr>
          <a:xfrm rot="10800000">
            <a:off x="5279664" y="3283033"/>
            <a:ext cx="343231" cy="448116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88969671-2DC0-74B3-B074-F422F7CD09ED}"/>
              </a:ext>
            </a:extLst>
          </p:cNvPr>
          <p:cNvSpPr/>
          <p:nvPr/>
        </p:nvSpPr>
        <p:spPr>
          <a:xfrm>
            <a:off x="2004703" y="1369938"/>
            <a:ext cx="6250064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dirty="0"/>
              <a:t>Idea: </a:t>
            </a:r>
            <a:r>
              <a:rPr lang="ko-KR" altLang="en-US" dirty="0"/>
              <a:t>왼쪽 괄호가 나오면 </a:t>
            </a:r>
            <a:r>
              <a:rPr lang="en-US" altLang="ko-KR" dirty="0"/>
              <a:t>stack</a:t>
            </a:r>
            <a:r>
              <a:rPr lang="ko-KR" altLang="en-US" dirty="0"/>
              <a:t>에 </a:t>
            </a:r>
            <a:r>
              <a:rPr lang="en-US" altLang="ko-KR" dirty="0">
                <a:solidFill>
                  <a:srgbClr val="FF0000"/>
                </a:solidFill>
              </a:rPr>
              <a:t>push</a:t>
            </a:r>
            <a:r>
              <a:rPr lang="en-US" altLang="ko-KR" dirty="0"/>
              <a:t>,</a:t>
            </a:r>
          </a:p>
          <a:p>
            <a:r>
              <a:rPr lang="ko-KR" altLang="en-US" dirty="0"/>
              <a:t>오른쪽 괄호가 나오면 </a:t>
            </a:r>
            <a:r>
              <a:rPr lang="en-US" altLang="ko-KR" dirty="0"/>
              <a:t>stack</a:t>
            </a:r>
            <a:r>
              <a:rPr lang="ko-KR" altLang="en-US" dirty="0"/>
              <a:t>에서 </a:t>
            </a:r>
            <a:r>
              <a:rPr lang="en-US" altLang="ko-KR" dirty="0">
                <a:solidFill>
                  <a:srgbClr val="FF0000"/>
                </a:solidFill>
              </a:rPr>
              <a:t>pop</a:t>
            </a:r>
            <a:r>
              <a:rPr lang="en-US" altLang="ko-KR" dirty="0"/>
              <a:t> </a:t>
            </a:r>
            <a:r>
              <a:rPr lang="ko-KR" altLang="en-US" dirty="0"/>
              <a:t>한 뒤 비교하자</a:t>
            </a:r>
            <a:r>
              <a:rPr lang="en-US" altLang="ko-KR" dirty="0"/>
              <a:t>!</a:t>
            </a:r>
          </a:p>
        </p:txBody>
      </p:sp>
    </p:spTree>
    <p:extLst>
      <p:ext uri="{BB962C8B-B14F-4D97-AF65-F5344CB8AC3E}">
        <p14:creationId xmlns:p14="http://schemas.microsoft.com/office/powerpoint/2010/main" val="175103661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/>
          <p:cNvSpPr txBox="1"/>
          <p:nvPr/>
        </p:nvSpPr>
        <p:spPr>
          <a:xfrm>
            <a:off x="0" y="298260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3600" b="1" dirty="0">
                <a:solidFill>
                  <a:schemeClr val="accent1">
                    <a:lumMod val="75000"/>
                  </a:schemeClr>
                </a:solidFill>
              </a:rPr>
              <a:t>ADD01. </a:t>
            </a:r>
            <a:r>
              <a:rPr lang="ko-KR" altLang="en-US" sz="3600" b="1" dirty="0">
                <a:solidFill>
                  <a:schemeClr val="accent1">
                    <a:lumMod val="75000"/>
                  </a:schemeClr>
                </a:solidFill>
              </a:rPr>
              <a:t>괄호 검사</a:t>
            </a:r>
            <a:endParaRPr lang="en-US" sz="36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3" name="직사각형 2"/>
          <p:cNvSpPr/>
          <p:nvPr/>
        </p:nvSpPr>
        <p:spPr>
          <a:xfrm>
            <a:off x="4390445" y="2274073"/>
            <a:ext cx="341111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5400" dirty="0"/>
              <a:t>( [ ] { ( ) } )</a:t>
            </a:r>
          </a:p>
        </p:txBody>
      </p:sp>
      <p:sp>
        <p:nvSpPr>
          <p:cNvPr id="5" name="직사각형 4"/>
          <p:cNvSpPr/>
          <p:nvPr/>
        </p:nvSpPr>
        <p:spPr>
          <a:xfrm>
            <a:off x="1905285" y="3546483"/>
            <a:ext cx="155363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b="1" dirty="0"/>
              <a:t>스택</a:t>
            </a:r>
            <a:r>
              <a:rPr lang="en-US" altLang="ko-KR" b="1" dirty="0"/>
              <a:t>: [ </a:t>
            </a:r>
            <a:r>
              <a:rPr lang="en-US" altLang="ko-KR" dirty="0"/>
              <a:t>‘(‘ ’{‘ </a:t>
            </a:r>
            <a:r>
              <a:rPr lang="en-US" altLang="ko-KR" b="1" dirty="0"/>
              <a:t>]</a:t>
            </a:r>
            <a:endParaRPr lang="ko-KR" altLang="en-US" b="1" dirty="0"/>
          </a:p>
        </p:txBody>
      </p:sp>
      <p:sp>
        <p:nvSpPr>
          <p:cNvPr id="6" name="아래쪽 화살표 5"/>
          <p:cNvSpPr/>
          <p:nvPr/>
        </p:nvSpPr>
        <p:spPr>
          <a:xfrm rot="10800000">
            <a:off x="5764691" y="3283033"/>
            <a:ext cx="343231" cy="448116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3F02BDEC-4135-6EAD-BCA7-718FA2F470E9}"/>
              </a:ext>
            </a:extLst>
          </p:cNvPr>
          <p:cNvSpPr/>
          <p:nvPr/>
        </p:nvSpPr>
        <p:spPr>
          <a:xfrm>
            <a:off x="2004703" y="1369938"/>
            <a:ext cx="6250064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dirty="0"/>
              <a:t>Idea: </a:t>
            </a:r>
            <a:r>
              <a:rPr lang="ko-KR" altLang="en-US" dirty="0"/>
              <a:t>왼쪽 괄호가 나오면 </a:t>
            </a:r>
            <a:r>
              <a:rPr lang="en-US" altLang="ko-KR" dirty="0"/>
              <a:t>stack</a:t>
            </a:r>
            <a:r>
              <a:rPr lang="ko-KR" altLang="en-US" dirty="0"/>
              <a:t>에 </a:t>
            </a:r>
            <a:r>
              <a:rPr lang="en-US" altLang="ko-KR" dirty="0">
                <a:solidFill>
                  <a:srgbClr val="FF0000"/>
                </a:solidFill>
              </a:rPr>
              <a:t>push</a:t>
            </a:r>
            <a:r>
              <a:rPr lang="en-US" altLang="ko-KR" dirty="0"/>
              <a:t>,</a:t>
            </a:r>
          </a:p>
          <a:p>
            <a:r>
              <a:rPr lang="ko-KR" altLang="en-US" dirty="0"/>
              <a:t>오른쪽 괄호가 나오면 </a:t>
            </a:r>
            <a:r>
              <a:rPr lang="en-US" altLang="ko-KR" dirty="0"/>
              <a:t>stack</a:t>
            </a:r>
            <a:r>
              <a:rPr lang="ko-KR" altLang="en-US" dirty="0"/>
              <a:t>에서 </a:t>
            </a:r>
            <a:r>
              <a:rPr lang="en-US" altLang="ko-KR" dirty="0">
                <a:solidFill>
                  <a:srgbClr val="FF0000"/>
                </a:solidFill>
              </a:rPr>
              <a:t>pop</a:t>
            </a:r>
            <a:r>
              <a:rPr lang="en-US" altLang="ko-KR" dirty="0"/>
              <a:t> </a:t>
            </a:r>
            <a:r>
              <a:rPr lang="ko-KR" altLang="en-US" dirty="0"/>
              <a:t>한 뒤 비교하자</a:t>
            </a:r>
            <a:r>
              <a:rPr lang="en-US" altLang="ko-KR" dirty="0"/>
              <a:t>!</a:t>
            </a:r>
          </a:p>
        </p:txBody>
      </p:sp>
    </p:spTree>
    <p:extLst>
      <p:ext uri="{BB962C8B-B14F-4D97-AF65-F5344CB8AC3E}">
        <p14:creationId xmlns:p14="http://schemas.microsoft.com/office/powerpoint/2010/main" val="114902227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/>
          <p:cNvSpPr txBox="1"/>
          <p:nvPr/>
        </p:nvSpPr>
        <p:spPr>
          <a:xfrm>
            <a:off x="0" y="298260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3600" b="1" dirty="0">
                <a:solidFill>
                  <a:schemeClr val="accent1">
                    <a:lumMod val="75000"/>
                  </a:schemeClr>
                </a:solidFill>
              </a:rPr>
              <a:t>ADD01. </a:t>
            </a:r>
            <a:r>
              <a:rPr lang="ko-KR" altLang="en-US" sz="3600" b="1" dirty="0">
                <a:solidFill>
                  <a:schemeClr val="accent1">
                    <a:lumMod val="75000"/>
                  </a:schemeClr>
                </a:solidFill>
              </a:rPr>
              <a:t>괄호 검사</a:t>
            </a:r>
            <a:endParaRPr lang="en-US" sz="36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3" name="직사각형 2"/>
          <p:cNvSpPr/>
          <p:nvPr/>
        </p:nvSpPr>
        <p:spPr>
          <a:xfrm>
            <a:off x="4390445" y="2274073"/>
            <a:ext cx="341111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5400" dirty="0"/>
              <a:t>( [ ] { ( ) } )</a:t>
            </a:r>
          </a:p>
        </p:txBody>
      </p:sp>
      <p:sp>
        <p:nvSpPr>
          <p:cNvPr id="5" name="직사각형 4"/>
          <p:cNvSpPr/>
          <p:nvPr/>
        </p:nvSpPr>
        <p:spPr>
          <a:xfrm>
            <a:off x="1905285" y="3546483"/>
            <a:ext cx="181171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b="1" dirty="0"/>
              <a:t>스택</a:t>
            </a:r>
            <a:r>
              <a:rPr lang="en-US" altLang="ko-KR" b="1" dirty="0"/>
              <a:t>: [ </a:t>
            </a:r>
            <a:r>
              <a:rPr lang="en-US" altLang="ko-KR" dirty="0"/>
              <a:t>‘(‘ ’{‘ ’(‘ </a:t>
            </a:r>
            <a:r>
              <a:rPr lang="en-US" altLang="ko-KR" b="1" dirty="0"/>
              <a:t>]</a:t>
            </a:r>
            <a:endParaRPr lang="ko-KR" altLang="en-US" b="1" dirty="0"/>
          </a:p>
        </p:txBody>
      </p:sp>
      <p:sp>
        <p:nvSpPr>
          <p:cNvPr id="6" name="아래쪽 화살표 5"/>
          <p:cNvSpPr/>
          <p:nvPr/>
        </p:nvSpPr>
        <p:spPr>
          <a:xfrm rot="10800000">
            <a:off x="6233819" y="3283033"/>
            <a:ext cx="343231" cy="448116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BF576973-607B-8B80-4090-5912E307F64F}"/>
              </a:ext>
            </a:extLst>
          </p:cNvPr>
          <p:cNvSpPr/>
          <p:nvPr/>
        </p:nvSpPr>
        <p:spPr>
          <a:xfrm>
            <a:off x="2004703" y="1369938"/>
            <a:ext cx="6250064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dirty="0"/>
              <a:t>Idea: </a:t>
            </a:r>
            <a:r>
              <a:rPr lang="ko-KR" altLang="en-US" dirty="0"/>
              <a:t>왼쪽 괄호가 나오면 </a:t>
            </a:r>
            <a:r>
              <a:rPr lang="en-US" altLang="ko-KR" dirty="0"/>
              <a:t>stack</a:t>
            </a:r>
            <a:r>
              <a:rPr lang="ko-KR" altLang="en-US" dirty="0"/>
              <a:t>에 </a:t>
            </a:r>
            <a:r>
              <a:rPr lang="en-US" altLang="ko-KR" dirty="0">
                <a:solidFill>
                  <a:srgbClr val="FF0000"/>
                </a:solidFill>
              </a:rPr>
              <a:t>push</a:t>
            </a:r>
            <a:r>
              <a:rPr lang="en-US" altLang="ko-KR" dirty="0"/>
              <a:t>,</a:t>
            </a:r>
          </a:p>
          <a:p>
            <a:r>
              <a:rPr lang="ko-KR" altLang="en-US" dirty="0"/>
              <a:t>오른쪽 괄호가 나오면 </a:t>
            </a:r>
            <a:r>
              <a:rPr lang="en-US" altLang="ko-KR" dirty="0"/>
              <a:t>stack</a:t>
            </a:r>
            <a:r>
              <a:rPr lang="ko-KR" altLang="en-US" dirty="0"/>
              <a:t>에서 </a:t>
            </a:r>
            <a:r>
              <a:rPr lang="en-US" altLang="ko-KR" dirty="0">
                <a:solidFill>
                  <a:srgbClr val="FF0000"/>
                </a:solidFill>
              </a:rPr>
              <a:t>pop</a:t>
            </a:r>
            <a:r>
              <a:rPr lang="en-US" altLang="ko-KR" dirty="0"/>
              <a:t> </a:t>
            </a:r>
            <a:r>
              <a:rPr lang="ko-KR" altLang="en-US" dirty="0"/>
              <a:t>한 뒤 비교하자</a:t>
            </a:r>
            <a:r>
              <a:rPr lang="en-US" altLang="ko-KR" dirty="0"/>
              <a:t>!</a:t>
            </a:r>
          </a:p>
        </p:txBody>
      </p:sp>
    </p:spTree>
    <p:extLst>
      <p:ext uri="{BB962C8B-B14F-4D97-AF65-F5344CB8AC3E}">
        <p14:creationId xmlns:p14="http://schemas.microsoft.com/office/powerpoint/2010/main" val="204589482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/>
          <p:cNvSpPr txBox="1"/>
          <p:nvPr/>
        </p:nvSpPr>
        <p:spPr>
          <a:xfrm>
            <a:off x="0" y="298260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3600" b="1" dirty="0">
                <a:solidFill>
                  <a:schemeClr val="accent1">
                    <a:lumMod val="75000"/>
                  </a:schemeClr>
                </a:solidFill>
              </a:rPr>
              <a:t>ADD01. </a:t>
            </a:r>
            <a:r>
              <a:rPr lang="ko-KR" altLang="en-US" sz="3600" b="1" dirty="0">
                <a:solidFill>
                  <a:schemeClr val="accent1">
                    <a:lumMod val="75000"/>
                  </a:schemeClr>
                </a:solidFill>
              </a:rPr>
              <a:t>괄호 검사</a:t>
            </a:r>
            <a:endParaRPr lang="en-US" sz="36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3" name="직사각형 2"/>
          <p:cNvSpPr/>
          <p:nvPr/>
        </p:nvSpPr>
        <p:spPr>
          <a:xfrm>
            <a:off x="4390445" y="2274073"/>
            <a:ext cx="341111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5400" dirty="0"/>
              <a:t>( [ ] { ( ) } )</a:t>
            </a:r>
          </a:p>
        </p:txBody>
      </p:sp>
      <p:sp>
        <p:nvSpPr>
          <p:cNvPr id="5" name="직사각형 4"/>
          <p:cNvSpPr/>
          <p:nvPr/>
        </p:nvSpPr>
        <p:spPr>
          <a:xfrm>
            <a:off x="1905285" y="3546483"/>
            <a:ext cx="6014082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b="1" dirty="0"/>
              <a:t>스택</a:t>
            </a:r>
            <a:r>
              <a:rPr lang="en-US" altLang="ko-KR" b="1" dirty="0"/>
              <a:t>: [  ]</a:t>
            </a:r>
          </a:p>
          <a:p>
            <a:r>
              <a:rPr lang="ko-KR" altLang="en-US" dirty="0"/>
              <a:t>순서대로 </a:t>
            </a:r>
            <a:r>
              <a:rPr lang="en-US" altLang="ko-KR" dirty="0"/>
              <a:t>‘)’, ‘}’, ‘)’</a:t>
            </a:r>
            <a:r>
              <a:rPr lang="ko-KR" altLang="en-US" dirty="0"/>
              <a:t>이 스택에서 </a:t>
            </a:r>
            <a:r>
              <a:rPr lang="en-US" altLang="ko-KR" dirty="0"/>
              <a:t>pop</a:t>
            </a:r>
            <a:r>
              <a:rPr lang="ko-KR" altLang="en-US" dirty="0"/>
              <a:t>한 왼쪽 괄호들과 맞음</a:t>
            </a:r>
          </a:p>
        </p:txBody>
      </p:sp>
      <p:sp>
        <p:nvSpPr>
          <p:cNvPr id="6" name="아래쪽 화살표 5"/>
          <p:cNvSpPr/>
          <p:nvPr/>
        </p:nvSpPr>
        <p:spPr>
          <a:xfrm rot="10800000">
            <a:off x="7521929" y="3283033"/>
            <a:ext cx="343231" cy="448116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6C13C769-B6C5-91E9-2AC8-D5AA4C960C4A}"/>
              </a:ext>
            </a:extLst>
          </p:cNvPr>
          <p:cNvSpPr/>
          <p:nvPr/>
        </p:nvSpPr>
        <p:spPr>
          <a:xfrm>
            <a:off x="2004703" y="1369938"/>
            <a:ext cx="6250064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dirty="0"/>
              <a:t>Idea: </a:t>
            </a:r>
            <a:r>
              <a:rPr lang="ko-KR" altLang="en-US" dirty="0"/>
              <a:t>왼쪽 괄호가 나오면 </a:t>
            </a:r>
            <a:r>
              <a:rPr lang="en-US" altLang="ko-KR" dirty="0"/>
              <a:t>stack</a:t>
            </a:r>
            <a:r>
              <a:rPr lang="ko-KR" altLang="en-US" dirty="0"/>
              <a:t>에 </a:t>
            </a:r>
            <a:r>
              <a:rPr lang="en-US" altLang="ko-KR" dirty="0">
                <a:solidFill>
                  <a:srgbClr val="FF0000"/>
                </a:solidFill>
              </a:rPr>
              <a:t>push</a:t>
            </a:r>
            <a:r>
              <a:rPr lang="en-US" altLang="ko-KR" dirty="0"/>
              <a:t>,</a:t>
            </a:r>
          </a:p>
          <a:p>
            <a:r>
              <a:rPr lang="ko-KR" altLang="en-US" dirty="0"/>
              <a:t>오른쪽 괄호가 나오면 </a:t>
            </a:r>
            <a:r>
              <a:rPr lang="en-US" altLang="ko-KR" dirty="0"/>
              <a:t>stack</a:t>
            </a:r>
            <a:r>
              <a:rPr lang="ko-KR" altLang="en-US" dirty="0"/>
              <a:t>에서 </a:t>
            </a:r>
            <a:r>
              <a:rPr lang="en-US" altLang="ko-KR" dirty="0">
                <a:solidFill>
                  <a:srgbClr val="FF0000"/>
                </a:solidFill>
              </a:rPr>
              <a:t>pop</a:t>
            </a:r>
            <a:r>
              <a:rPr lang="en-US" altLang="ko-KR" dirty="0"/>
              <a:t> </a:t>
            </a:r>
            <a:r>
              <a:rPr lang="ko-KR" altLang="en-US" dirty="0"/>
              <a:t>한 뒤 비교하자</a:t>
            </a:r>
            <a:r>
              <a:rPr lang="en-US" altLang="ko-KR" dirty="0"/>
              <a:t>!</a:t>
            </a:r>
          </a:p>
        </p:txBody>
      </p:sp>
    </p:spTree>
    <p:extLst>
      <p:ext uri="{BB962C8B-B14F-4D97-AF65-F5344CB8AC3E}">
        <p14:creationId xmlns:p14="http://schemas.microsoft.com/office/powerpoint/2010/main" val="2787014898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직사각형 7"/>
          <p:cNvSpPr/>
          <p:nvPr/>
        </p:nvSpPr>
        <p:spPr>
          <a:xfrm>
            <a:off x="1967125" y="2171604"/>
            <a:ext cx="9747586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dirty="0"/>
              <a:t>구현할 때 더 생각해야할 점</a:t>
            </a:r>
            <a:r>
              <a:rPr lang="en-US" altLang="ko-KR" dirty="0"/>
              <a:t>:</a:t>
            </a:r>
          </a:p>
          <a:p>
            <a:endParaRPr lang="en-US" altLang="ko-KR" dirty="0"/>
          </a:p>
          <a:p>
            <a:endParaRPr lang="en-US" altLang="ko-KR" dirty="0"/>
          </a:p>
          <a:p>
            <a:pPr marL="342900" indent="-342900">
              <a:buAutoNum type="arabicPeriod"/>
            </a:pPr>
            <a:r>
              <a:rPr lang="ko-KR" altLang="en-US" dirty="0"/>
              <a:t>만약 괄호 검사가 끝난 시점에서 스택이 비어있지 않다면</a:t>
            </a:r>
            <a:r>
              <a:rPr lang="en-US" altLang="ko-KR" dirty="0"/>
              <a:t>?</a:t>
            </a:r>
          </a:p>
          <a:p>
            <a:r>
              <a:rPr lang="en-US" altLang="ko-KR" dirty="0"/>
              <a:t>    Ex:  ( ( ( ) ) </a:t>
            </a:r>
            <a:br>
              <a:rPr lang="en-US" altLang="ko-KR" dirty="0"/>
            </a:br>
            <a:endParaRPr lang="en-US" altLang="ko-KR" dirty="0"/>
          </a:p>
          <a:p>
            <a:pPr marL="342900" indent="-342900">
              <a:buAutoNum type="arabicPeriod"/>
            </a:pPr>
            <a:endParaRPr lang="en-US" altLang="ko-KR" dirty="0"/>
          </a:p>
          <a:p>
            <a:pPr marL="342900" indent="-342900">
              <a:buAutoNum type="arabicPeriod"/>
            </a:pPr>
            <a:endParaRPr lang="en-US" altLang="ko-KR" dirty="0"/>
          </a:p>
          <a:p>
            <a:r>
              <a:rPr lang="en-US" altLang="ko-KR" dirty="0"/>
              <a:t>2.  </a:t>
            </a:r>
            <a:r>
              <a:rPr lang="ko-KR" altLang="en-US" dirty="0"/>
              <a:t>오른쪽 괄호를 처리할 때 스택이 비어 있어서 </a:t>
            </a:r>
            <a:r>
              <a:rPr lang="en-US" altLang="ko-KR" dirty="0"/>
              <a:t>pop</a:t>
            </a:r>
            <a:r>
              <a:rPr lang="ko-KR" altLang="en-US" dirty="0"/>
              <a:t>을 할 수 없다면</a:t>
            </a:r>
            <a:r>
              <a:rPr lang="en-US" altLang="ko-KR" dirty="0"/>
              <a:t>?</a:t>
            </a:r>
          </a:p>
          <a:p>
            <a:r>
              <a:rPr lang="en-US" altLang="ko-KR" dirty="0"/>
              <a:t>    Ex:  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0" y="298260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3600" b="1" dirty="0">
                <a:solidFill>
                  <a:schemeClr val="accent1">
                    <a:lumMod val="75000"/>
                  </a:schemeClr>
                </a:solidFill>
              </a:rPr>
              <a:t>ADD01. </a:t>
            </a:r>
            <a:r>
              <a:rPr lang="ko-KR" altLang="en-US" sz="3600" b="1" dirty="0">
                <a:solidFill>
                  <a:schemeClr val="accent1">
                    <a:lumMod val="75000"/>
                  </a:schemeClr>
                </a:solidFill>
              </a:rPr>
              <a:t>괄호 검사</a:t>
            </a:r>
            <a:endParaRPr lang="en-US" sz="3600" b="1" dirty="0">
              <a:solidFill>
                <a:schemeClr val="accent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78634344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직사각형 7"/>
          <p:cNvSpPr/>
          <p:nvPr/>
        </p:nvSpPr>
        <p:spPr>
          <a:xfrm>
            <a:off x="2004703" y="1369938"/>
            <a:ext cx="10187297" cy="36933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dirty="0"/>
              <a:t>각 차량의 첫 번째 바퀴를 순위와 두 번째 바퀴 순위가 같은지 체크해봅니다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숫자의 개수는 </a:t>
            </a:r>
            <a:r>
              <a:rPr lang="en-US" altLang="ko-KR" b="1" dirty="0"/>
              <a:t>20</a:t>
            </a:r>
            <a:r>
              <a:rPr lang="ko-KR" altLang="en-US" b="1" dirty="0"/>
              <a:t>만개</a:t>
            </a:r>
            <a:r>
              <a:rPr lang="ko-KR" altLang="en-US" dirty="0"/>
              <a:t>를 넘지 않습니다</a:t>
            </a:r>
            <a:r>
              <a:rPr lang="en-US" altLang="ko-KR" dirty="0"/>
              <a:t>.</a:t>
            </a:r>
          </a:p>
          <a:p>
            <a:pPr marL="285750" indent="-285750">
              <a:buFontTx/>
              <a:buChar char="-"/>
            </a:pPr>
            <a:r>
              <a:rPr lang="ko-KR" altLang="en-US" dirty="0"/>
              <a:t>입력 데이터 내에서 </a:t>
            </a:r>
            <a:r>
              <a:rPr lang="ko-KR" altLang="en-US" b="1" dirty="0"/>
              <a:t>하나의 숫자는 반드시 두 번만</a:t>
            </a:r>
            <a:r>
              <a:rPr lang="ko-KR" altLang="en-US" dirty="0"/>
              <a:t> 나타납니다</a:t>
            </a:r>
            <a:r>
              <a:rPr lang="en-US" altLang="ko-KR" dirty="0"/>
              <a:t>. (</a:t>
            </a:r>
            <a:r>
              <a:rPr lang="ko-KR" altLang="en-US" dirty="0"/>
              <a:t>다른 예외 고려 </a:t>
            </a:r>
            <a:r>
              <a:rPr lang="en-US" altLang="ko-KR" dirty="0"/>
              <a:t>X)</a:t>
            </a:r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힌트 </a:t>
            </a:r>
            <a:r>
              <a:rPr lang="en-US" altLang="ko-KR" dirty="0"/>
              <a:t>: </a:t>
            </a:r>
            <a:r>
              <a:rPr lang="ko-KR" altLang="en-US" dirty="0"/>
              <a:t>큐를 이용합니다</a:t>
            </a:r>
            <a:r>
              <a:rPr lang="en-US" altLang="ko-KR" dirty="0"/>
              <a:t>!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0" y="298260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3600" b="1" dirty="0">
                <a:solidFill>
                  <a:schemeClr val="accent1">
                    <a:lumMod val="75000"/>
                  </a:schemeClr>
                </a:solidFill>
              </a:rPr>
              <a:t>ADD02. </a:t>
            </a:r>
            <a:r>
              <a:rPr lang="ko-KR" altLang="en-US" sz="3600" b="1" dirty="0">
                <a:solidFill>
                  <a:schemeClr val="accent1">
                    <a:lumMod val="75000"/>
                  </a:schemeClr>
                </a:solidFill>
              </a:rPr>
              <a:t>두 바퀴 레이스</a:t>
            </a:r>
            <a:endParaRPr lang="en-US" sz="36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graphicFrame>
        <p:nvGraphicFramePr>
          <p:cNvPr id="2" name="표 1"/>
          <p:cNvGraphicFramePr>
            <a:graphicFrameLocks noGrp="1"/>
          </p:cNvGraphicFramePr>
          <p:nvPr/>
        </p:nvGraphicFramePr>
        <p:xfrm>
          <a:off x="2778625" y="3509477"/>
          <a:ext cx="6634750" cy="58576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63475">
                  <a:extLst>
                    <a:ext uri="{9D8B030D-6E8A-4147-A177-3AD203B41FA5}">
                      <a16:colId xmlns:a16="http://schemas.microsoft.com/office/drawing/2014/main" val="68769189"/>
                    </a:ext>
                  </a:extLst>
                </a:gridCol>
                <a:gridCol w="663475">
                  <a:extLst>
                    <a:ext uri="{9D8B030D-6E8A-4147-A177-3AD203B41FA5}">
                      <a16:colId xmlns:a16="http://schemas.microsoft.com/office/drawing/2014/main" val="4122720222"/>
                    </a:ext>
                  </a:extLst>
                </a:gridCol>
                <a:gridCol w="663475">
                  <a:extLst>
                    <a:ext uri="{9D8B030D-6E8A-4147-A177-3AD203B41FA5}">
                      <a16:colId xmlns:a16="http://schemas.microsoft.com/office/drawing/2014/main" val="48285211"/>
                    </a:ext>
                  </a:extLst>
                </a:gridCol>
                <a:gridCol w="663475">
                  <a:extLst>
                    <a:ext uri="{9D8B030D-6E8A-4147-A177-3AD203B41FA5}">
                      <a16:colId xmlns:a16="http://schemas.microsoft.com/office/drawing/2014/main" val="2055895824"/>
                    </a:ext>
                  </a:extLst>
                </a:gridCol>
                <a:gridCol w="663475">
                  <a:extLst>
                    <a:ext uri="{9D8B030D-6E8A-4147-A177-3AD203B41FA5}">
                      <a16:colId xmlns:a16="http://schemas.microsoft.com/office/drawing/2014/main" val="2538633938"/>
                    </a:ext>
                  </a:extLst>
                </a:gridCol>
                <a:gridCol w="663475">
                  <a:extLst>
                    <a:ext uri="{9D8B030D-6E8A-4147-A177-3AD203B41FA5}">
                      <a16:colId xmlns:a16="http://schemas.microsoft.com/office/drawing/2014/main" val="3771972787"/>
                    </a:ext>
                  </a:extLst>
                </a:gridCol>
                <a:gridCol w="663475">
                  <a:extLst>
                    <a:ext uri="{9D8B030D-6E8A-4147-A177-3AD203B41FA5}">
                      <a16:colId xmlns:a16="http://schemas.microsoft.com/office/drawing/2014/main" val="2635813192"/>
                    </a:ext>
                  </a:extLst>
                </a:gridCol>
                <a:gridCol w="663475">
                  <a:extLst>
                    <a:ext uri="{9D8B030D-6E8A-4147-A177-3AD203B41FA5}">
                      <a16:colId xmlns:a16="http://schemas.microsoft.com/office/drawing/2014/main" val="4281404807"/>
                    </a:ext>
                  </a:extLst>
                </a:gridCol>
                <a:gridCol w="663475">
                  <a:extLst>
                    <a:ext uri="{9D8B030D-6E8A-4147-A177-3AD203B41FA5}">
                      <a16:colId xmlns:a16="http://schemas.microsoft.com/office/drawing/2014/main" val="586614855"/>
                    </a:ext>
                  </a:extLst>
                </a:gridCol>
                <a:gridCol w="663475">
                  <a:extLst>
                    <a:ext uri="{9D8B030D-6E8A-4147-A177-3AD203B41FA5}">
                      <a16:colId xmlns:a16="http://schemas.microsoft.com/office/drawing/2014/main" val="876238817"/>
                    </a:ext>
                  </a:extLst>
                </a:gridCol>
              </a:tblGrid>
              <a:tr h="58576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ysClr val="windowText" lastClr="000000"/>
                          </a:solidFill>
                        </a:rPr>
                        <a:t>6</a:t>
                      </a:r>
                      <a:endParaRPr lang="ko-KR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ysClr val="windowText" lastClr="000000"/>
                          </a:solidFill>
                        </a:rPr>
                        <a:t>3</a:t>
                      </a:r>
                      <a:endParaRPr lang="ko-KR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ysClr val="windowText" lastClr="000000"/>
                          </a:solidFill>
                        </a:rPr>
                        <a:t>6</a:t>
                      </a:r>
                      <a:endParaRPr lang="ko-KR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ysClr val="windowText" lastClr="000000"/>
                          </a:solidFill>
                        </a:rPr>
                        <a:t>3</a:t>
                      </a:r>
                      <a:endParaRPr lang="ko-KR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ysClr val="windowText" lastClr="000000"/>
                          </a:solidFill>
                        </a:rPr>
                        <a:t>7</a:t>
                      </a:r>
                      <a:endParaRPr lang="ko-KR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ysClr val="windowText" lastClr="000000"/>
                          </a:solidFill>
                        </a:rPr>
                        <a:t>5</a:t>
                      </a:r>
                      <a:endParaRPr lang="ko-KR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ysClr val="windowText" lastClr="000000"/>
                          </a:solidFill>
                        </a:rPr>
                        <a:t>7</a:t>
                      </a:r>
                      <a:endParaRPr lang="ko-KR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ysClr val="windowText" lastClr="000000"/>
                          </a:solidFill>
                        </a:rPr>
                        <a:t>9</a:t>
                      </a:r>
                      <a:endParaRPr lang="ko-KR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ysClr val="windowText" lastClr="000000"/>
                          </a:solidFill>
                        </a:rPr>
                        <a:t>9</a:t>
                      </a:r>
                      <a:endParaRPr lang="ko-KR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ysClr val="windowText" lastClr="000000"/>
                          </a:solidFill>
                        </a:rPr>
                        <a:t>5</a:t>
                      </a:r>
                      <a:endParaRPr lang="ko-KR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42572541"/>
                  </a:ext>
                </a:extLst>
              </a:tr>
            </a:tbl>
          </a:graphicData>
        </a:graphic>
      </p:graphicFrame>
      <p:graphicFrame>
        <p:nvGraphicFramePr>
          <p:cNvPr id="5" name="표 4"/>
          <p:cNvGraphicFramePr>
            <a:graphicFrameLocks noGrp="1"/>
          </p:cNvGraphicFramePr>
          <p:nvPr/>
        </p:nvGraphicFramePr>
        <p:xfrm>
          <a:off x="2778625" y="2622850"/>
          <a:ext cx="6634750" cy="58576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63475">
                  <a:extLst>
                    <a:ext uri="{9D8B030D-6E8A-4147-A177-3AD203B41FA5}">
                      <a16:colId xmlns:a16="http://schemas.microsoft.com/office/drawing/2014/main" val="68769189"/>
                    </a:ext>
                  </a:extLst>
                </a:gridCol>
                <a:gridCol w="663475">
                  <a:extLst>
                    <a:ext uri="{9D8B030D-6E8A-4147-A177-3AD203B41FA5}">
                      <a16:colId xmlns:a16="http://schemas.microsoft.com/office/drawing/2014/main" val="4122720222"/>
                    </a:ext>
                  </a:extLst>
                </a:gridCol>
                <a:gridCol w="663475">
                  <a:extLst>
                    <a:ext uri="{9D8B030D-6E8A-4147-A177-3AD203B41FA5}">
                      <a16:colId xmlns:a16="http://schemas.microsoft.com/office/drawing/2014/main" val="48285211"/>
                    </a:ext>
                  </a:extLst>
                </a:gridCol>
                <a:gridCol w="663475">
                  <a:extLst>
                    <a:ext uri="{9D8B030D-6E8A-4147-A177-3AD203B41FA5}">
                      <a16:colId xmlns:a16="http://schemas.microsoft.com/office/drawing/2014/main" val="2055895824"/>
                    </a:ext>
                  </a:extLst>
                </a:gridCol>
                <a:gridCol w="663475">
                  <a:extLst>
                    <a:ext uri="{9D8B030D-6E8A-4147-A177-3AD203B41FA5}">
                      <a16:colId xmlns:a16="http://schemas.microsoft.com/office/drawing/2014/main" val="2538633938"/>
                    </a:ext>
                  </a:extLst>
                </a:gridCol>
                <a:gridCol w="663475">
                  <a:extLst>
                    <a:ext uri="{9D8B030D-6E8A-4147-A177-3AD203B41FA5}">
                      <a16:colId xmlns:a16="http://schemas.microsoft.com/office/drawing/2014/main" val="3771972787"/>
                    </a:ext>
                  </a:extLst>
                </a:gridCol>
                <a:gridCol w="663475">
                  <a:extLst>
                    <a:ext uri="{9D8B030D-6E8A-4147-A177-3AD203B41FA5}">
                      <a16:colId xmlns:a16="http://schemas.microsoft.com/office/drawing/2014/main" val="2635813192"/>
                    </a:ext>
                  </a:extLst>
                </a:gridCol>
                <a:gridCol w="663475">
                  <a:extLst>
                    <a:ext uri="{9D8B030D-6E8A-4147-A177-3AD203B41FA5}">
                      <a16:colId xmlns:a16="http://schemas.microsoft.com/office/drawing/2014/main" val="4281404807"/>
                    </a:ext>
                  </a:extLst>
                </a:gridCol>
                <a:gridCol w="663475">
                  <a:extLst>
                    <a:ext uri="{9D8B030D-6E8A-4147-A177-3AD203B41FA5}">
                      <a16:colId xmlns:a16="http://schemas.microsoft.com/office/drawing/2014/main" val="586614855"/>
                    </a:ext>
                  </a:extLst>
                </a:gridCol>
                <a:gridCol w="663475">
                  <a:extLst>
                    <a:ext uri="{9D8B030D-6E8A-4147-A177-3AD203B41FA5}">
                      <a16:colId xmlns:a16="http://schemas.microsoft.com/office/drawing/2014/main" val="876238817"/>
                    </a:ext>
                  </a:extLst>
                </a:gridCol>
              </a:tblGrid>
              <a:tr h="58576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ysClr val="windowText" lastClr="000000"/>
                          </a:solidFill>
                        </a:rPr>
                        <a:t>1</a:t>
                      </a:r>
                      <a:endParaRPr lang="ko-KR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ysClr val="windowText" lastClr="000000"/>
                          </a:solidFill>
                        </a:rPr>
                        <a:t>5</a:t>
                      </a:r>
                      <a:endParaRPr lang="ko-KR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ysClr val="windowText" lastClr="000000"/>
                          </a:solidFill>
                        </a:rPr>
                        <a:t>2</a:t>
                      </a:r>
                      <a:endParaRPr lang="ko-KR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ysClr val="windowText" lastClr="000000"/>
                          </a:solidFill>
                        </a:rPr>
                        <a:t>1</a:t>
                      </a:r>
                      <a:endParaRPr lang="ko-KR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ysClr val="windowText" lastClr="000000"/>
                          </a:solidFill>
                        </a:rPr>
                        <a:t>5</a:t>
                      </a:r>
                      <a:endParaRPr lang="ko-KR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ysClr val="windowText" lastClr="000000"/>
                          </a:solidFill>
                        </a:rPr>
                        <a:t>3</a:t>
                      </a:r>
                      <a:endParaRPr lang="ko-KR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ysClr val="windowText" lastClr="000000"/>
                          </a:solidFill>
                        </a:rPr>
                        <a:t>2</a:t>
                      </a:r>
                      <a:endParaRPr lang="ko-KR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ysClr val="windowText" lastClr="000000"/>
                          </a:solidFill>
                        </a:rPr>
                        <a:t>4</a:t>
                      </a:r>
                      <a:endParaRPr lang="ko-KR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ysClr val="windowText" lastClr="000000"/>
                          </a:solidFill>
                        </a:rPr>
                        <a:t>3</a:t>
                      </a:r>
                      <a:endParaRPr lang="ko-KR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ysClr val="windowText" lastClr="000000"/>
                          </a:solidFill>
                        </a:rPr>
                        <a:t>4</a:t>
                      </a:r>
                      <a:endParaRPr lang="ko-KR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42572541"/>
                  </a:ext>
                </a:extLst>
              </a:tr>
            </a:tbl>
          </a:graphicData>
        </a:graphic>
      </p:graphicFrame>
      <p:sp>
        <p:nvSpPr>
          <p:cNvPr id="3" name="오른쪽 화살표 2"/>
          <p:cNvSpPr/>
          <p:nvPr/>
        </p:nvSpPr>
        <p:spPr>
          <a:xfrm>
            <a:off x="9589168" y="3509477"/>
            <a:ext cx="517358" cy="585761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오른쪽 화살표 6"/>
          <p:cNvSpPr/>
          <p:nvPr/>
        </p:nvSpPr>
        <p:spPr>
          <a:xfrm>
            <a:off x="9589168" y="2622849"/>
            <a:ext cx="517358" cy="585761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TextBox 3"/>
          <p:cNvSpPr txBox="1"/>
          <p:nvPr/>
        </p:nvSpPr>
        <p:spPr>
          <a:xfrm>
            <a:off x="10106526" y="2731063"/>
            <a:ext cx="5389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NO</a:t>
            </a:r>
            <a:endParaRPr lang="ko-KR" alt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10106526" y="3617691"/>
            <a:ext cx="5581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YES</a:t>
            </a:r>
            <a:endParaRPr lang="ko-KR" alt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DBC922E-4076-66D5-78F2-0A5F8A8D305E}"/>
              </a:ext>
            </a:extLst>
          </p:cNvPr>
          <p:cNvSpPr txBox="1"/>
          <p:nvPr/>
        </p:nvSpPr>
        <p:spPr>
          <a:xfrm>
            <a:off x="1719743" y="2731063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/>
              <a:t>같으면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EA944F5-C9BD-6AF7-5DFA-7898FF9B0D43}"/>
              </a:ext>
            </a:extLst>
          </p:cNvPr>
          <p:cNvSpPr txBox="1"/>
          <p:nvPr/>
        </p:nvSpPr>
        <p:spPr>
          <a:xfrm>
            <a:off x="1719743" y="3597381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다르면</a:t>
            </a:r>
          </a:p>
        </p:txBody>
      </p:sp>
    </p:spTree>
    <p:extLst>
      <p:ext uri="{BB962C8B-B14F-4D97-AF65-F5344CB8AC3E}">
        <p14:creationId xmlns:p14="http://schemas.microsoft.com/office/powerpoint/2010/main" val="2143579139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직사각형 7"/>
          <p:cNvSpPr/>
          <p:nvPr/>
        </p:nvSpPr>
        <p:spPr>
          <a:xfrm>
            <a:off x="2004703" y="1369938"/>
            <a:ext cx="10187297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dirty="0"/>
              <a:t>Idea: </a:t>
            </a:r>
            <a:r>
              <a:rPr lang="ko-KR" altLang="en-US" dirty="0"/>
              <a:t>첫</a:t>
            </a:r>
            <a:r>
              <a:rPr lang="en-US" altLang="ko-KR" dirty="0"/>
              <a:t> </a:t>
            </a:r>
            <a:r>
              <a:rPr lang="ko-KR" altLang="en-US" dirty="0"/>
              <a:t>번째 바퀴를 마친 차는 </a:t>
            </a:r>
            <a:r>
              <a:rPr lang="en-US" altLang="ko-KR" dirty="0"/>
              <a:t>queue</a:t>
            </a:r>
            <a:r>
              <a:rPr lang="ko-KR" altLang="en-US" dirty="0"/>
              <a:t>에 </a:t>
            </a:r>
            <a:r>
              <a:rPr lang="en-US" altLang="ko-KR" dirty="0">
                <a:solidFill>
                  <a:srgbClr val="FF0000"/>
                </a:solidFill>
              </a:rPr>
              <a:t>push</a:t>
            </a:r>
            <a:r>
              <a:rPr lang="ko-KR" altLang="en-US" dirty="0"/>
              <a:t>하고</a:t>
            </a:r>
            <a:r>
              <a:rPr lang="en-US" altLang="ko-KR" dirty="0"/>
              <a:t>, </a:t>
            </a:r>
          </a:p>
          <a:p>
            <a:r>
              <a:rPr lang="ko-KR" altLang="en-US" dirty="0"/>
              <a:t>두 번째 바퀴를 마친 차는 </a:t>
            </a:r>
            <a:r>
              <a:rPr lang="en-US" altLang="ko-KR" dirty="0"/>
              <a:t>queue</a:t>
            </a:r>
            <a:r>
              <a:rPr lang="ko-KR" altLang="en-US" dirty="0"/>
              <a:t>에서 </a:t>
            </a:r>
            <a:r>
              <a:rPr lang="en-US" altLang="ko-KR" dirty="0">
                <a:solidFill>
                  <a:srgbClr val="FF0000"/>
                </a:solidFill>
              </a:rPr>
              <a:t>pop</a:t>
            </a:r>
            <a:r>
              <a:rPr lang="ko-KR" altLang="en-US" dirty="0"/>
              <a:t>하자 </a:t>
            </a:r>
            <a:endParaRPr lang="en-US" altLang="ko-KR" dirty="0"/>
          </a:p>
        </p:txBody>
      </p:sp>
      <p:sp>
        <p:nvSpPr>
          <p:cNvPr id="15" name="TextBox 14"/>
          <p:cNvSpPr txBox="1"/>
          <p:nvPr/>
        </p:nvSpPr>
        <p:spPr>
          <a:xfrm>
            <a:off x="0" y="298260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3600" b="1" dirty="0">
                <a:solidFill>
                  <a:schemeClr val="accent1">
                    <a:lumMod val="75000"/>
                  </a:schemeClr>
                </a:solidFill>
              </a:rPr>
              <a:t>ADD02. </a:t>
            </a:r>
            <a:r>
              <a:rPr lang="ko-KR" altLang="en-US" sz="3600" b="1" dirty="0">
                <a:solidFill>
                  <a:schemeClr val="accent1">
                    <a:lumMod val="75000"/>
                  </a:schemeClr>
                </a:solidFill>
              </a:rPr>
              <a:t>두 바퀴 레이스</a:t>
            </a:r>
            <a:endParaRPr lang="en-US" sz="36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graphicFrame>
        <p:nvGraphicFramePr>
          <p:cNvPr id="5" name="표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61065847"/>
              </p:ext>
            </p:extLst>
          </p:nvPr>
        </p:nvGraphicFramePr>
        <p:xfrm>
          <a:off x="2778625" y="2441616"/>
          <a:ext cx="6634750" cy="58576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63475">
                  <a:extLst>
                    <a:ext uri="{9D8B030D-6E8A-4147-A177-3AD203B41FA5}">
                      <a16:colId xmlns:a16="http://schemas.microsoft.com/office/drawing/2014/main" val="68769189"/>
                    </a:ext>
                  </a:extLst>
                </a:gridCol>
                <a:gridCol w="663475">
                  <a:extLst>
                    <a:ext uri="{9D8B030D-6E8A-4147-A177-3AD203B41FA5}">
                      <a16:colId xmlns:a16="http://schemas.microsoft.com/office/drawing/2014/main" val="4122720222"/>
                    </a:ext>
                  </a:extLst>
                </a:gridCol>
                <a:gridCol w="663475">
                  <a:extLst>
                    <a:ext uri="{9D8B030D-6E8A-4147-A177-3AD203B41FA5}">
                      <a16:colId xmlns:a16="http://schemas.microsoft.com/office/drawing/2014/main" val="48285211"/>
                    </a:ext>
                  </a:extLst>
                </a:gridCol>
                <a:gridCol w="663475">
                  <a:extLst>
                    <a:ext uri="{9D8B030D-6E8A-4147-A177-3AD203B41FA5}">
                      <a16:colId xmlns:a16="http://schemas.microsoft.com/office/drawing/2014/main" val="2055895824"/>
                    </a:ext>
                  </a:extLst>
                </a:gridCol>
                <a:gridCol w="663475">
                  <a:extLst>
                    <a:ext uri="{9D8B030D-6E8A-4147-A177-3AD203B41FA5}">
                      <a16:colId xmlns:a16="http://schemas.microsoft.com/office/drawing/2014/main" val="2538633938"/>
                    </a:ext>
                  </a:extLst>
                </a:gridCol>
                <a:gridCol w="663475">
                  <a:extLst>
                    <a:ext uri="{9D8B030D-6E8A-4147-A177-3AD203B41FA5}">
                      <a16:colId xmlns:a16="http://schemas.microsoft.com/office/drawing/2014/main" val="3771972787"/>
                    </a:ext>
                  </a:extLst>
                </a:gridCol>
                <a:gridCol w="663475">
                  <a:extLst>
                    <a:ext uri="{9D8B030D-6E8A-4147-A177-3AD203B41FA5}">
                      <a16:colId xmlns:a16="http://schemas.microsoft.com/office/drawing/2014/main" val="2635813192"/>
                    </a:ext>
                  </a:extLst>
                </a:gridCol>
                <a:gridCol w="663475">
                  <a:extLst>
                    <a:ext uri="{9D8B030D-6E8A-4147-A177-3AD203B41FA5}">
                      <a16:colId xmlns:a16="http://schemas.microsoft.com/office/drawing/2014/main" val="4281404807"/>
                    </a:ext>
                  </a:extLst>
                </a:gridCol>
                <a:gridCol w="663475">
                  <a:extLst>
                    <a:ext uri="{9D8B030D-6E8A-4147-A177-3AD203B41FA5}">
                      <a16:colId xmlns:a16="http://schemas.microsoft.com/office/drawing/2014/main" val="586614855"/>
                    </a:ext>
                  </a:extLst>
                </a:gridCol>
                <a:gridCol w="663475">
                  <a:extLst>
                    <a:ext uri="{9D8B030D-6E8A-4147-A177-3AD203B41FA5}">
                      <a16:colId xmlns:a16="http://schemas.microsoft.com/office/drawing/2014/main" val="876238817"/>
                    </a:ext>
                  </a:extLst>
                </a:gridCol>
              </a:tblGrid>
              <a:tr h="58576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ysClr val="windowText" lastClr="000000"/>
                          </a:solidFill>
                        </a:rPr>
                        <a:t>1</a:t>
                      </a:r>
                      <a:endParaRPr lang="ko-KR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ysClr val="windowText" lastClr="000000"/>
                          </a:solidFill>
                        </a:rPr>
                        <a:t>5</a:t>
                      </a:r>
                      <a:endParaRPr lang="ko-KR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ysClr val="windowText" lastClr="000000"/>
                          </a:solidFill>
                        </a:rPr>
                        <a:t>2</a:t>
                      </a:r>
                      <a:endParaRPr lang="ko-KR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ysClr val="windowText" lastClr="000000"/>
                          </a:solidFill>
                        </a:rPr>
                        <a:t>1</a:t>
                      </a:r>
                      <a:endParaRPr lang="ko-KR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ysClr val="windowText" lastClr="000000"/>
                          </a:solidFill>
                        </a:rPr>
                        <a:t>5</a:t>
                      </a:r>
                      <a:endParaRPr lang="ko-KR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ysClr val="windowText" lastClr="000000"/>
                          </a:solidFill>
                        </a:rPr>
                        <a:t>3</a:t>
                      </a:r>
                      <a:endParaRPr lang="ko-KR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ysClr val="windowText" lastClr="000000"/>
                          </a:solidFill>
                        </a:rPr>
                        <a:t>2</a:t>
                      </a:r>
                      <a:endParaRPr lang="ko-KR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ysClr val="windowText" lastClr="000000"/>
                          </a:solidFill>
                        </a:rPr>
                        <a:t>4</a:t>
                      </a:r>
                      <a:endParaRPr lang="ko-KR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ysClr val="windowText" lastClr="000000"/>
                          </a:solidFill>
                        </a:rPr>
                        <a:t>3</a:t>
                      </a:r>
                      <a:endParaRPr lang="ko-KR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ysClr val="windowText" lastClr="000000"/>
                          </a:solidFill>
                        </a:rPr>
                        <a:t>4</a:t>
                      </a:r>
                      <a:endParaRPr lang="ko-KR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42572541"/>
                  </a:ext>
                </a:extLst>
              </a:tr>
            </a:tbl>
          </a:graphicData>
        </a:graphic>
      </p:graphicFrame>
      <p:sp>
        <p:nvSpPr>
          <p:cNvPr id="10" name="직사각형 9"/>
          <p:cNvSpPr/>
          <p:nvPr/>
        </p:nvSpPr>
        <p:spPr>
          <a:xfrm>
            <a:off x="1905285" y="4271699"/>
            <a:ext cx="88838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b="1" dirty="0"/>
              <a:t>큐</a:t>
            </a:r>
            <a:r>
              <a:rPr lang="en-US" altLang="ko-KR" b="1" dirty="0"/>
              <a:t>: [  ]</a:t>
            </a:r>
            <a:endParaRPr lang="ko-KR" altLang="en-US" b="1" dirty="0"/>
          </a:p>
        </p:txBody>
      </p:sp>
      <p:sp>
        <p:nvSpPr>
          <p:cNvPr id="12" name="아래쪽 화살표 11"/>
          <p:cNvSpPr/>
          <p:nvPr/>
        </p:nvSpPr>
        <p:spPr>
          <a:xfrm rot="10800000">
            <a:off x="2250091" y="3252962"/>
            <a:ext cx="343231" cy="448116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52796112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/>
          <p:cNvSpPr txBox="1"/>
          <p:nvPr/>
        </p:nvSpPr>
        <p:spPr>
          <a:xfrm>
            <a:off x="0" y="298260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3600" b="1" dirty="0">
                <a:solidFill>
                  <a:schemeClr val="accent1">
                    <a:lumMod val="75000"/>
                  </a:schemeClr>
                </a:solidFill>
              </a:rPr>
              <a:t>ADD02. </a:t>
            </a:r>
            <a:r>
              <a:rPr lang="ko-KR" altLang="en-US" sz="3600" b="1" dirty="0">
                <a:solidFill>
                  <a:schemeClr val="accent1">
                    <a:lumMod val="75000"/>
                  </a:schemeClr>
                </a:solidFill>
              </a:rPr>
              <a:t>두 바퀴 레이스</a:t>
            </a:r>
            <a:endParaRPr lang="en-US" sz="36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graphicFrame>
        <p:nvGraphicFramePr>
          <p:cNvPr id="5" name="표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80167641"/>
              </p:ext>
            </p:extLst>
          </p:nvPr>
        </p:nvGraphicFramePr>
        <p:xfrm>
          <a:off x="2778625" y="2444527"/>
          <a:ext cx="6634750" cy="58576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63475">
                  <a:extLst>
                    <a:ext uri="{9D8B030D-6E8A-4147-A177-3AD203B41FA5}">
                      <a16:colId xmlns:a16="http://schemas.microsoft.com/office/drawing/2014/main" val="68769189"/>
                    </a:ext>
                  </a:extLst>
                </a:gridCol>
                <a:gridCol w="663475">
                  <a:extLst>
                    <a:ext uri="{9D8B030D-6E8A-4147-A177-3AD203B41FA5}">
                      <a16:colId xmlns:a16="http://schemas.microsoft.com/office/drawing/2014/main" val="4122720222"/>
                    </a:ext>
                  </a:extLst>
                </a:gridCol>
                <a:gridCol w="663475">
                  <a:extLst>
                    <a:ext uri="{9D8B030D-6E8A-4147-A177-3AD203B41FA5}">
                      <a16:colId xmlns:a16="http://schemas.microsoft.com/office/drawing/2014/main" val="48285211"/>
                    </a:ext>
                  </a:extLst>
                </a:gridCol>
                <a:gridCol w="663475">
                  <a:extLst>
                    <a:ext uri="{9D8B030D-6E8A-4147-A177-3AD203B41FA5}">
                      <a16:colId xmlns:a16="http://schemas.microsoft.com/office/drawing/2014/main" val="2055895824"/>
                    </a:ext>
                  </a:extLst>
                </a:gridCol>
                <a:gridCol w="663475">
                  <a:extLst>
                    <a:ext uri="{9D8B030D-6E8A-4147-A177-3AD203B41FA5}">
                      <a16:colId xmlns:a16="http://schemas.microsoft.com/office/drawing/2014/main" val="2538633938"/>
                    </a:ext>
                  </a:extLst>
                </a:gridCol>
                <a:gridCol w="663475">
                  <a:extLst>
                    <a:ext uri="{9D8B030D-6E8A-4147-A177-3AD203B41FA5}">
                      <a16:colId xmlns:a16="http://schemas.microsoft.com/office/drawing/2014/main" val="3771972787"/>
                    </a:ext>
                  </a:extLst>
                </a:gridCol>
                <a:gridCol w="663475">
                  <a:extLst>
                    <a:ext uri="{9D8B030D-6E8A-4147-A177-3AD203B41FA5}">
                      <a16:colId xmlns:a16="http://schemas.microsoft.com/office/drawing/2014/main" val="2635813192"/>
                    </a:ext>
                  </a:extLst>
                </a:gridCol>
                <a:gridCol w="663475">
                  <a:extLst>
                    <a:ext uri="{9D8B030D-6E8A-4147-A177-3AD203B41FA5}">
                      <a16:colId xmlns:a16="http://schemas.microsoft.com/office/drawing/2014/main" val="4281404807"/>
                    </a:ext>
                  </a:extLst>
                </a:gridCol>
                <a:gridCol w="663475">
                  <a:extLst>
                    <a:ext uri="{9D8B030D-6E8A-4147-A177-3AD203B41FA5}">
                      <a16:colId xmlns:a16="http://schemas.microsoft.com/office/drawing/2014/main" val="586614855"/>
                    </a:ext>
                  </a:extLst>
                </a:gridCol>
                <a:gridCol w="663475">
                  <a:extLst>
                    <a:ext uri="{9D8B030D-6E8A-4147-A177-3AD203B41FA5}">
                      <a16:colId xmlns:a16="http://schemas.microsoft.com/office/drawing/2014/main" val="876238817"/>
                    </a:ext>
                  </a:extLst>
                </a:gridCol>
              </a:tblGrid>
              <a:tr h="58576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ysClr val="windowText" lastClr="000000"/>
                          </a:solidFill>
                        </a:rPr>
                        <a:t>1</a:t>
                      </a:r>
                      <a:endParaRPr lang="ko-KR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ysClr val="windowText" lastClr="000000"/>
                          </a:solidFill>
                        </a:rPr>
                        <a:t>5</a:t>
                      </a:r>
                      <a:endParaRPr lang="ko-KR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ysClr val="windowText" lastClr="000000"/>
                          </a:solidFill>
                        </a:rPr>
                        <a:t>2</a:t>
                      </a:r>
                      <a:endParaRPr lang="ko-KR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ysClr val="windowText" lastClr="000000"/>
                          </a:solidFill>
                        </a:rPr>
                        <a:t>1</a:t>
                      </a:r>
                      <a:endParaRPr lang="ko-KR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ysClr val="windowText" lastClr="000000"/>
                          </a:solidFill>
                        </a:rPr>
                        <a:t>5</a:t>
                      </a:r>
                      <a:endParaRPr lang="ko-KR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ysClr val="windowText" lastClr="000000"/>
                          </a:solidFill>
                        </a:rPr>
                        <a:t>3</a:t>
                      </a:r>
                      <a:endParaRPr lang="ko-KR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ysClr val="windowText" lastClr="000000"/>
                          </a:solidFill>
                        </a:rPr>
                        <a:t>2</a:t>
                      </a:r>
                      <a:endParaRPr lang="ko-KR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ysClr val="windowText" lastClr="000000"/>
                          </a:solidFill>
                        </a:rPr>
                        <a:t>4</a:t>
                      </a:r>
                      <a:endParaRPr lang="ko-KR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ysClr val="windowText" lastClr="000000"/>
                          </a:solidFill>
                        </a:rPr>
                        <a:t>3</a:t>
                      </a:r>
                      <a:endParaRPr lang="ko-KR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ysClr val="windowText" lastClr="000000"/>
                          </a:solidFill>
                        </a:rPr>
                        <a:t>4</a:t>
                      </a:r>
                      <a:endParaRPr lang="ko-KR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42572541"/>
                  </a:ext>
                </a:extLst>
              </a:tr>
            </a:tbl>
          </a:graphicData>
        </a:graphic>
      </p:graphicFrame>
      <p:sp>
        <p:nvSpPr>
          <p:cNvPr id="10" name="직사각형 9"/>
          <p:cNvSpPr/>
          <p:nvPr/>
        </p:nvSpPr>
        <p:spPr>
          <a:xfrm>
            <a:off x="1905285" y="4274610"/>
            <a:ext cx="153279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b="1" dirty="0"/>
              <a:t>큐</a:t>
            </a:r>
            <a:r>
              <a:rPr lang="en-US" altLang="ko-KR" b="1" dirty="0"/>
              <a:t>: [ </a:t>
            </a:r>
            <a:r>
              <a:rPr lang="en-US" altLang="ko-KR" dirty="0"/>
              <a:t>1 5 2 </a:t>
            </a:r>
            <a:r>
              <a:rPr lang="en-US" altLang="ko-KR" b="1" dirty="0"/>
              <a:t>] </a:t>
            </a:r>
            <a:endParaRPr lang="ko-KR" altLang="en-US" b="1" dirty="0"/>
          </a:p>
        </p:txBody>
      </p:sp>
      <p:sp>
        <p:nvSpPr>
          <p:cNvPr id="12" name="아래쪽 화살표 11"/>
          <p:cNvSpPr/>
          <p:nvPr/>
        </p:nvSpPr>
        <p:spPr>
          <a:xfrm rot="10800000">
            <a:off x="4261772" y="3255873"/>
            <a:ext cx="343231" cy="448116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4371BD12-6FF8-C651-3A32-951440BE2D40}"/>
              </a:ext>
            </a:extLst>
          </p:cNvPr>
          <p:cNvSpPr/>
          <p:nvPr/>
        </p:nvSpPr>
        <p:spPr>
          <a:xfrm>
            <a:off x="2004703" y="1369938"/>
            <a:ext cx="10187297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dirty="0"/>
              <a:t>Idea: </a:t>
            </a:r>
            <a:r>
              <a:rPr lang="ko-KR" altLang="en-US" dirty="0"/>
              <a:t>첫</a:t>
            </a:r>
            <a:r>
              <a:rPr lang="en-US" altLang="ko-KR" dirty="0"/>
              <a:t> </a:t>
            </a:r>
            <a:r>
              <a:rPr lang="ko-KR" altLang="en-US" dirty="0"/>
              <a:t>번째 바퀴를 마친 차는 </a:t>
            </a:r>
            <a:r>
              <a:rPr lang="en-US" altLang="ko-KR" dirty="0"/>
              <a:t>queue</a:t>
            </a:r>
            <a:r>
              <a:rPr lang="ko-KR" altLang="en-US" dirty="0"/>
              <a:t>에 </a:t>
            </a:r>
            <a:r>
              <a:rPr lang="en-US" altLang="ko-KR" dirty="0">
                <a:solidFill>
                  <a:srgbClr val="FF0000"/>
                </a:solidFill>
              </a:rPr>
              <a:t>push</a:t>
            </a:r>
            <a:r>
              <a:rPr lang="ko-KR" altLang="en-US" dirty="0"/>
              <a:t>하고</a:t>
            </a:r>
            <a:r>
              <a:rPr lang="en-US" altLang="ko-KR" dirty="0"/>
              <a:t>, </a:t>
            </a:r>
          </a:p>
          <a:p>
            <a:r>
              <a:rPr lang="ko-KR" altLang="en-US" dirty="0"/>
              <a:t>두 번째 바퀴를 마친 차는 </a:t>
            </a:r>
            <a:r>
              <a:rPr lang="en-US" altLang="ko-KR" dirty="0"/>
              <a:t>queue</a:t>
            </a:r>
            <a:r>
              <a:rPr lang="ko-KR" altLang="en-US" dirty="0"/>
              <a:t>에서 </a:t>
            </a:r>
            <a:r>
              <a:rPr lang="en-US" altLang="ko-KR" dirty="0">
                <a:solidFill>
                  <a:srgbClr val="FF0000"/>
                </a:solidFill>
              </a:rPr>
              <a:t>pop</a:t>
            </a:r>
            <a:r>
              <a:rPr lang="ko-KR" altLang="en-US" dirty="0"/>
              <a:t>하자 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3152215068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/>
          <p:cNvSpPr txBox="1"/>
          <p:nvPr/>
        </p:nvSpPr>
        <p:spPr>
          <a:xfrm>
            <a:off x="0" y="298260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3600" b="1" dirty="0">
                <a:solidFill>
                  <a:schemeClr val="accent1">
                    <a:lumMod val="75000"/>
                  </a:schemeClr>
                </a:solidFill>
              </a:rPr>
              <a:t>ADD02. </a:t>
            </a:r>
            <a:r>
              <a:rPr lang="ko-KR" altLang="en-US" sz="3600" b="1" dirty="0">
                <a:solidFill>
                  <a:schemeClr val="accent1">
                    <a:lumMod val="75000"/>
                  </a:schemeClr>
                </a:solidFill>
              </a:rPr>
              <a:t>두 바퀴 레이스</a:t>
            </a:r>
            <a:endParaRPr lang="en-US" sz="36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graphicFrame>
        <p:nvGraphicFramePr>
          <p:cNvPr id="5" name="표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80828058"/>
              </p:ext>
            </p:extLst>
          </p:nvPr>
        </p:nvGraphicFramePr>
        <p:xfrm>
          <a:off x="2778625" y="2441616"/>
          <a:ext cx="6634750" cy="58576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63475">
                  <a:extLst>
                    <a:ext uri="{9D8B030D-6E8A-4147-A177-3AD203B41FA5}">
                      <a16:colId xmlns:a16="http://schemas.microsoft.com/office/drawing/2014/main" val="68769189"/>
                    </a:ext>
                  </a:extLst>
                </a:gridCol>
                <a:gridCol w="663475">
                  <a:extLst>
                    <a:ext uri="{9D8B030D-6E8A-4147-A177-3AD203B41FA5}">
                      <a16:colId xmlns:a16="http://schemas.microsoft.com/office/drawing/2014/main" val="4122720222"/>
                    </a:ext>
                  </a:extLst>
                </a:gridCol>
                <a:gridCol w="663475">
                  <a:extLst>
                    <a:ext uri="{9D8B030D-6E8A-4147-A177-3AD203B41FA5}">
                      <a16:colId xmlns:a16="http://schemas.microsoft.com/office/drawing/2014/main" val="48285211"/>
                    </a:ext>
                  </a:extLst>
                </a:gridCol>
                <a:gridCol w="663475">
                  <a:extLst>
                    <a:ext uri="{9D8B030D-6E8A-4147-A177-3AD203B41FA5}">
                      <a16:colId xmlns:a16="http://schemas.microsoft.com/office/drawing/2014/main" val="2055895824"/>
                    </a:ext>
                  </a:extLst>
                </a:gridCol>
                <a:gridCol w="663475">
                  <a:extLst>
                    <a:ext uri="{9D8B030D-6E8A-4147-A177-3AD203B41FA5}">
                      <a16:colId xmlns:a16="http://schemas.microsoft.com/office/drawing/2014/main" val="2538633938"/>
                    </a:ext>
                  </a:extLst>
                </a:gridCol>
                <a:gridCol w="663475">
                  <a:extLst>
                    <a:ext uri="{9D8B030D-6E8A-4147-A177-3AD203B41FA5}">
                      <a16:colId xmlns:a16="http://schemas.microsoft.com/office/drawing/2014/main" val="3771972787"/>
                    </a:ext>
                  </a:extLst>
                </a:gridCol>
                <a:gridCol w="663475">
                  <a:extLst>
                    <a:ext uri="{9D8B030D-6E8A-4147-A177-3AD203B41FA5}">
                      <a16:colId xmlns:a16="http://schemas.microsoft.com/office/drawing/2014/main" val="2635813192"/>
                    </a:ext>
                  </a:extLst>
                </a:gridCol>
                <a:gridCol w="663475">
                  <a:extLst>
                    <a:ext uri="{9D8B030D-6E8A-4147-A177-3AD203B41FA5}">
                      <a16:colId xmlns:a16="http://schemas.microsoft.com/office/drawing/2014/main" val="4281404807"/>
                    </a:ext>
                  </a:extLst>
                </a:gridCol>
                <a:gridCol w="663475">
                  <a:extLst>
                    <a:ext uri="{9D8B030D-6E8A-4147-A177-3AD203B41FA5}">
                      <a16:colId xmlns:a16="http://schemas.microsoft.com/office/drawing/2014/main" val="586614855"/>
                    </a:ext>
                  </a:extLst>
                </a:gridCol>
                <a:gridCol w="663475">
                  <a:extLst>
                    <a:ext uri="{9D8B030D-6E8A-4147-A177-3AD203B41FA5}">
                      <a16:colId xmlns:a16="http://schemas.microsoft.com/office/drawing/2014/main" val="876238817"/>
                    </a:ext>
                  </a:extLst>
                </a:gridCol>
              </a:tblGrid>
              <a:tr h="58576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ysClr val="windowText" lastClr="000000"/>
                          </a:solidFill>
                        </a:rPr>
                        <a:t>1</a:t>
                      </a:r>
                      <a:endParaRPr lang="ko-KR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ysClr val="windowText" lastClr="000000"/>
                          </a:solidFill>
                        </a:rPr>
                        <a:t>5</a:t>
                      </a:r>
                      <a:endParaRPr lang="ko-KR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ysClr val="windowText" lastClr="000000"/>
                          </a:solidFill>
                        </a:rPr>
                        <a:t>2</a:t>
                      </a:r>
                      <a:endParaRPr lang="ko-KR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ysClr val="windowText" lastClr="000000"/>
                          </a:solidFill>
                        </a:rPr>
                        <a:t>1</a:t>
                      </a:r>
                      <a:endParaRPr lang="ko-KR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ysClr val="windowText" lastClr="000000"/>
                          </a:solidFill>
                        </a:rPr>
                        <a:t>5</a:t>
                      </a:r>
                      <a:endParaRPr lang="ko-KR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ysClr val="windowText" lastClr="000000"/>
                          </a:solidFill>
                        </a:rPr>
                        <a:t>3</a:t>
                      </a:r>
                      <a:endParaRPr lang="ko-KR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ysClr val="windowText" lastClr="000000"/>
                          </a:solidFill>
                        </a:rPr>
                        <a:t>2</a:t>
                      </a:r>
                      <a:endParaRPr lang="ko-KR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ysClr val="windowText" lastClr="000000"/>
                          </a:solidFill>
                        </a:rPr>
                        <a:t>4</a:t>
                      </a:r>
                      <a:endParaRPr lang="ko-KR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ysClr val="windowText" lastClr="000000"/>
                          </a:solidFill>
                        </a:rPr>
                        <a:t>3</a:t>
                      </a:r>
                      <a:endParaRPr lang="ko-KR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ysClr val="windowText" lastClr="000000"/>
                          </a:solidFill>
                        </a:rPr>
                        <a:t>4</a:t>
                      </a:r>
                      <a:endParaRPr lang="ko-KR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42572541"/>
                  </a:ext>
                </a:extLst>
              </a:tr>
            </a:tbl>
          </a:graphicData>
        </a:graphic>
      </p:graphicFrame>
      <p:sp>
        <p:nvSpPr>
          <p:cNvPr id="10" name="직사각형 9"/>
          <p:cNvSpPr/>
          <p:nvPr/>
        </p:nvSpPr>
        <p:spPr>
          <a:xfrm>
            <a:off x="1905285" y="4271699"/>
            <a:ext cx="4134465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b="1" dirty="0"/>
              <a:t>큐</a:t>
            </a:r>
            <a:r>
              <a:rPr lang="en-US" altLang="ko-KR" b="1" dirty="0"/>
              <a:t>: [ </a:t>
            </a:r>
            <a:r>
              <a:rPr lang="en-US" altLang="ko-KR" dirty="0"/>
              <a:t>5 2</a:t>
            </a:r>
            <a:r>
              <a:rPr lang="en-US" altLang="ko-KR" b="1" dirty="0"/>
              <a:t> ]</a:t>
            </a:r>
          </a:p>
          <a:p>
            <a:r>
              <a:rPr lang="ko-KR" altLang="en-US" dirty="0"/>
              <a:t>큐의 맨 첫번째 원소가 </a:t>
            </a:r>
            <a:r>
              <a:rPr lang="en-US" altLang="ko-KR" dirty="0"/>
              <a:t>1</a:t>
            </a:r>
            <a:r>
              <a:rPr lang="ko-KR" altLang="en-US" dirty="0"/>
              <a:t>이었으니 </a:t>
            </a:r>
            <a:r>
              <a:rPr lang="en-US" altLang="ko-KR" dirty="0"/>
              <a:t>pop</a:t>
            </a:r>
            <a:endParaRPr lang="ko-KR" altLang="en-US" dirty="0"/>
          </a:p>
        </p:txBody>
      </p:sp>
      <p:sp>
        <p:nvSpPr>
          <p:cNvPr id="12" name="아래쪽 화살표 11"/>
          <p:cNvSpPr/>
          <p:nvPr/>
        </p:nvSpPr>
        <p:spPr>
          <a:xfrm rot="10800000">
            <a:off x="4921729" y="3252962"/>
            <a:ext cx="343231" cy="448116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F292EB93-1A5B-B623-5355-567856D13876}"/>
              </a:ext>
            </a:extLst>
          </p:cNvPr>
          <p:cNvSpPr/>
          <p:nvPr/>
        </p:nvSpPr>
        <p:spPr>
          <a:xfrm>
            <a:off x="2004703" y="1369938"/>
            <a:ext cx="10187297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dirty="0"/>
              <a:t>Idea: </a:t>
            </a:r>
            <a:r>
              <a:rPr lang="ko-KR" altLang="en-US" dirty="0"/>
              <a:t>첫</a:t>
            </a:r>
            <a:r>
              <a:rPr lang="en-US" altLang="ko-KR" dirty="0"/>
              <a:t> </a:t>
            </a:r>
            <a:r>
              <a:rPr lang="ko-KR" altLang="en-US" dirty="0"/>
              <a:t>번째 바퀴를 마친 차는 </a:t>
            </a:r>
            <a:r>
              <a:rPr lang="en-US" altLang="ko-KR" dirty="0"/>
              <a:t>queue</a:t>
            </a:r>
            <a:r>
              <a:rPr lang="ko-KR" altLang="en-US" dirty="0"/>
              <a:t>에 </a:t>
            </a:r>
            <a:r>
              <a:rPr lang="en-US" altLang="ko-KR" dirty="0">
                <a:solidFill>
                  <a:srgbClr val="FF0000"/>
                </a:solidFill>
              </a:rPr>
              <a:t>push</a:t>
            </a:r>
            <a:r>
              <a:rPr lang="ko-KR" altLang="en-US" dirty="0"/>
              <a:t>하고</a:t>
            </a:r>
            <a:r>
              <a:rPr lang="en-US" altLang="ko-KR" dirty="0"/>
              <a:t>, </a:t>
            </a:r>
          </a:p>
          <a:p>
            <a:r>
              <a:rPr lang="ko-KR" altLang="en-US" dirty="0"/>
              <a:t>두 번째 바퀴를 마친 차는 </a:t>
            </a:r>
            <a:r>
              <a:rPr lang="en-US" altLang="ko-KR" dirty="0"/>
              <a:t>queue</a:t>
            </a:r>
            <a:r>
              <a:rPr lang="ko-KR" altLang="en-US" dirty="0"/>
              <a:t>에서 </a:t>
            </a:r>
            <a:r>
              <a:rPr lang="en-US" altLang="ko-KR" dirty="0">
                <a:solidFill>
                  <a:srgbClr val="FF0000"/>
                </a:solidFill>
              </a:rPr>
              <a:t>pop</a:t>
            </a:r>
            <a:r>
              <a:rPr lang="ko-KR" altLang="en-US" dirty="0"/>
              <a:t>하자 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375106986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/>
          <p:cNvSpPr txBox="1"/>
          <p:nvPr/>
        </p:nvSpPr>
        <p:spPr>
          <a:xfrm>
            <a:off x="0" y="298260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3600" b="1" dirty="0">
                <a:solidFill>
                  <a:schemeClr val="accent1">
                    <a:lumMod val="75000"/>
                  </a:schemeClr>
                </a:solidFill>
              </a:rPr>
              <a:t>ADD02. </a:t>
            </a:r>
            <a:r>
              <a:rPr lang="ko-KR" altLang="en-US" sz="3600" b="1" dirty="0">
                <a:solidFill>
                  <a:schemeClr val="accent1">
                    <a:lumMod val="75000"/>
                  </a:schemeClr>
                </a:solidFill>
              </a:rPr>
              <a:t>두 바퀴 레이스</a:t>
            </a:r>
            <a:endParaRPr lang="en-US" sz="36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graphicFrame>
        <p:nvGraphicFramePr>
          <p:cNvPr id="5" name="표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98036375"/>
              </p:ext>
            </p:extLst>
          </p:nvPr>
        </p:nvGraphicFramePr>
        <p:xfrm>
          <a:off x="2778625" y="2441616"/>
          <a:ext cx="6634750" cy="58576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63475">
                  <a:extLst>
                    <a:ext uri="{9D8B030D-6E8A-4147-A177-3AD203B41FA5}">
                      <a16:colId xmlns:a16="http://schemas.microsoft.com/office/drawing/2014/main" val="68769189"/>
                    </a:ext>
                  </a:extLst>
                </a:gridCol>
                <a:gridCol w="663475">
                  <a:extLst>
                    <a:ext uri="{9D8B030D-6E8A-4147-A177-3AD203B41FA5}">
                      <a16:colId xmlns:a16="http://schemas.microsoft.com/office/drawing/2014/main" val="4122720222"/>
                    </a:ext>
                  </a:extLst>
                </a:gridCol>
                <a:gridCol w="663475">
                  <a:extLst>
                    <a:ext uri="{9D8B030D-6E8A-4147-A177-3AD203B41FA5}">
                      <a16:colId xmlns:a16="http://schemas.microsoft.com/office/drawing/2014/main" val="48285211"/>
                    </a:ext>
                  </a:extLst>
                </a:gridCol>
                <a:gridCol w="663475">
                  <a:extLst>
                    <a:ext uri="{9D8B030D-6E8A-4147-A177-3AD203B41FA5}">
                      <a16:colId xmlns:a16="http://schemas.microsoft.com/office/drawing/2014/main" val="2055895824"/>
                    </a:ext>
                  </a:extLst>
                </a:gridCol>
                <a:gridCol w="663475">
                  <a:extLst>
                    <a:ext uri="{9D8B030D-6E8A-4147-A177-3AD203B41FA5}">
                      <a16:colId xmlns:a16="http://schemas.microsoft.com/office/drawing/2014/main" val="2538633938"/>
                    </a:ext>
                  </a:extLst>
                </a:gridCol>
                <a:gridCol w="663475">
                  <a:extLst>
                    <a:ext uri="{9D8B030D-6E8A-4147-A177-3AD203B41FA5}">
                      <a16:colId xmlns:a16="http://schemas.microsoft.com/office/drawing/2014/main" val="3771972787"/>
                    </a:ext>
                  </a:extLst>
                </a:gridCol>
                <a:gridCol w="663475">
                  <a:extLst>
                    <a:ext uri="{9D8B030D-6E8A-4147-A177-3AD203B41FA5}">
                      <a16:colId xmlns:a16="http://schemas.microsoft.com/office/drawing/2014/main" val="2635813192"/>
                    </a:ext>
                  </a:extLst>
                </a:gridCol>
                <a:gridCol w="663475">
                  <a:extLst>
                    <a:ext uri="{9D8B030D-6E8A-4147-A177-3AD203B41FA5}">
                      <a16:colId xmlns:a16="http://schemas.microsoft.com/office/drawing/2014/main" val="4281404807"/>
                    </a:ext>
                  </a:extLst>
                </a:gridCol>
                <a:gridCol w="663475">
                  <a:extLst>
                    <a:ext uri="{9D8B030D-6E8A-4147-A177-3AD203B41FA5}">
                      <a16:colId xmlns:a16="http://schemas.microsoft.com/office/drawing/2014/main" val="586614855"/>
                    </a:ext>
                  </a:extLst>
                </a:gridCol>
                <a:gridCol w="663475">
                  <a:extLst>
                    <a:ext uri="{9D8B030D-6E8A-4147-A177-3AD203B41FA5}">
                      <a16:colId xmlns:a16="http://schemas.microsoft.com/office/drawing/2014/main" val="876238817"/>
                    </a:ext>
                  </a:extLst>
                </a:gridCol>
              </a:tblGrid>
              <a:tr h="58576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ysClr val="windowText" lastClr="000000"/>
                          </a:solidFill>
                        </a:rPr>
                        <a:t>1</a:t>
                      </a:r>
                      <a:endParaRPr lang="ko-KR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ysClr val="windowText" lastClr="000000"/>
                          </a:solidFill>
                        </a:rPr>
                        <a:t>5</a:t>
                      </a:r>
                      <a:endParaRPr lang="ko-KR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ysClr val="windowText" lastClr="000000"/>
                          </a:solidFill>
                        </a:rPr>
                        <a:t>2</a:t>
                      </a:r>
                      <a:endParaRPr lang="ko-KR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ysClr val="windowText" lastClr="000000"/>
                          </a:solidFill>
                        </a:rPr>
                        <a:t>1</a:t>
                      </a:r>
                      <a:endParaRPr lang="ko-KR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ysClr val="windowText" lastClr="000000"/>
                          </a:solidFill>
                        </a:rPr>
                        <a:t>5</a:t>
                      </a:r>
                      <a:endParaRPr lang="ko-KR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ysClr val="windowText" lastClr="000000"/>
                          </a:solidFill>
                        </a:rPr>
                        <a:t>3</a:t>
                      </a:r>
                      <a:endParaRPr lang="ko-KR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ysClr val="windowText" lastClr="000000"/>
                          </a:solidFill>
                        </a:rPr>
                        <a:t>2</a:t>
                      </a:r>
                      <a:endParaRPr lang="ko-KR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ysClr val="windowText" lastClr="000000"/>
                          </a:solidFill>
                        </a:rPr>
                        <a:t>4</a:t>
                      </a:r>
                      <a:endParaRPr lang="ko-KR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ysClr val="windowText" lastClr="000000"/>
                          </a:solidFill>
                        </a:rPr>
                        <a:t>3</a:t>
                      </a:r>
                      <a:endParaRPr lang="ko-KR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ysClr val="windowText" lastClr="000000"/>
                          </a:solidFill>
                        </a:rPr>
                        <a:t>4</a:t>
                      </a:r>
                      <a:endParaRPr lang="ko-KR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42572541"/>
                  </a:ext>
                </a:extLst>
              </a:tr>
            </a:tbl>
          </a:graphicData>
        </a:graphic>
      </p:graphicFrame>
      <p:sp>
        <p:nvSpPr>
          <p:cNvPr id="10" name="직사각형 9"/>
          <p:cNvSpPr/>
          <p:nvPr/>
        </p:nvSpPr>
        <p:spPr>
          <a:xfrm>
            <a:off x="1905285" y="4271699"/>
            <a:ext cx="3903633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b="1" dirty="0"/>
              <a:t>큐</a:t>
            </a:r>
            <a:r>
              <a:rPr lang="en-US" altLang="ko-KR" b="1" dirty="0"/>
              <a:t>: [ </a:t>
            </a:r>
            <a:r>
              <a:rPr lang="en-US" altLang="ko-KR" dirty="0"/>
              <a:t>2 </a:t>
            </a:r>
            <a:r>
              <a:rPr lang="en-US" altLang="ko-KR" b="1" dirty="0"/>
              <a:t>]</a:t>
            </a:r>
          </a:p>
          <a:p>
            <a:r>
              <a:rPr lang="ko-KR" altLang="en-US" dirty="0"/>
              <a:t>큐의 맨 첫번째 원소가 </a:t>
            </a:r>
            <a:r>
              <a:rPr lang="en-US" altLang="ko-KR" dirty="0"/>
              <a:t>5</a:t>
            </a:r>
            <a:r>
              <a:rPr lang="ko-KR" altLang="en-US" dirty="0"/>
              <a:t>였으니 </a:t>
            </a:r>
            <a:r>
              <a:rPr lang="en-US" altLang="ko-KR" dirty="0"/>
              <a:t>pop</a:t>
            </a:r>
            <a:endParaRPr lang="ko-KR" altLang="en-US" dirty="0"/>
          </a:p>
        </p:txBody>
      </p:sp>
      <p:sp>
        <p:nvSpPr>
          <p:cNvPr id="12" name="아래쪽 화살표 11"/>
          <p:cNvSpPr/>
          <p:nvPr/>
        </p:nvSpPr>
        <p:spPr>
          <a:xfrm rot="10800000">
            <a:off x="5573736" y="3252962"/>
            <a:ext cx="343231" cy="448116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1D5F6A48-C669-687B-E8A9-B14A3A71AFD9}"/>
              </a:ext>
            </a:extLst>
          </p:cNvPr>
          <p:cNvSpPr/>
          <p:nvPr/>
        </p:nvSpPr>
        <p:spPr>
          <a:xfrm>
            <a:off x="2004703" y="1369938"/>
            <a:ext cx="10187297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dirty="0"/>
              <a:t>Idea: </a:t>
            </a:r>
            <a:r>
              <a:rPr lang="ko-KR" altLang="en-US" dirty="0"/>
              <a:t>첫</a:t>
            </a:r>
            <a:r>
              <a:rPr lang="en-US" altLang="ko-KR" dirty="0"/>
              <a:t> </a:t>
            </a:r>
            <a:r>
              <a:rPr lang="ko-KR" altLang="en-US" dirty="0"/>
              <a:t>번째 바퀴를 마친 차는 </a:t>
            </a:r>
            <a:r>
              <a:rPr lang="en-US" altLang="ko-KR" dirty="0"/>
              <a:t>queue</a:t>
            </a:r>
            <a:r>
              <a:rPr lang="ko-KR" altLang="en-US" dirty="0"/>
              <a:t>에 </a:t>
            </a:r>
            <a:r>
              <a:rPr lang="en-US" altLang="ko-KR" dirty="0">
                <a:solidFill>
                  <a:srgbClr val="FF0000"/>
                </a:solidFill>
              </a:rPr>
              <a:t>push</a:t>
            </a:r>
            <a:r>
              <a:rPr lang="ko-KR" altLang="en-US" dirty="0"/>
              <a:t>하고</a:t>
            </a:r>
            <a:r>
              <a:rPr lang="en-US" altLang="ko-KR" dirty="0"/>
              <a:t>, </a:t>
            </a:r>
          </a:p>
          <a:p>
            <a:r>
              <a:rPr lang="ko-KR" altLang="en-US" dirty="0"/>
              <a:t>두 번째 바퀴를 마친 차는 </a:t>
            </a:r>
            <a:r>
              <a:rPr lang="en-US" altLang="ko-KR" dirty="0"/>
              <a:t>queue</a:t>
            </a:r>
            <a:r>
              <a:rPr lang="ko-KR" altLang="en-US" dirty="0"/>
              <a:t>에서 </a:t>
            </a:r>
            <a:r>
              <a:rPr lang="en-US" altLang="ko-KR" dirty="0">
                <a:solidFill>
                  <a:srgbClr val="FF0000"/>
                </a:solidFill>
              </a:rPr>
              <a:t>pop</a:t>
            </a:r>
            <a:r>
              <a:rPr lang="ko-KR" altLang="en-US" dirty="0"/>
              <a:t>하자 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4284990689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/>
          <p:cNvSpPr txBox="1"/>
          <p:nvPr/>
        </p:nvSpPr>
        <p:spPr>
          <a:xfrm>
            <a:off x="0" y="298260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3600" b="1" dirty="0">
                <a:solidFill>
                  <a:schemeClr val="accent1">
                    <a:lumMod val="75000"/>
                  </a:schemeClr>
                </a:solidFill>
              </a:rPr>
              <a:t>ADD02. </a:t>
            </a:r>
            <a:r>
              <a:rPr lang="ko-KR" altLang="en-US" sz="3600" b="1" dirty="0">
                <a:solidFill>
                  <a:schemeClr val="accent1">
                    <a:lumMod val="75000"/>
                  </a:schemeClr>
                </a:solidFill>
              </a:rPr>
              <a:t>두 바퀴 레이스</a:t>
            </a:r>
            <a:endParaRPr lang="en-US" sz="36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graphicFrame>
        <p:nvGraphicFramePr>
          <p:cNvPr id="5" name="표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44079588"/>
              </p:ext>
            </p:extLst>
          </p:nvPr>
        </p:nvGraphicFramePr>
        <p:xfrm>
          <a:off x="2778625" y="2441616"/>
          <a:ext cx="6634750" cy="58576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63475">
                  <a:extLst>
                    <a:ext uri="{9D8B030D-6E8A-4147-A177-3AD203B41FA5}">
                      <a16:colId xmlns:a16="http://schemas.microsoft.com/office/drawing/2014/main" val="68769189"/>
                    </a:ext>
                  </a:extLst>
                </a:gridCol>
                <a:gridCol w="663475">
                  <a:extLst>
                    <a:ext uri="{9D8B030D-6E8A-4147-A177-3AD203B41FA5}">
                      <a16:colId xmlns:a16="http://schemas.microsoft.com/office/drawing/2014/main" val="4122720222"/>
                    </a:ext>
                  </a:extLst>
                </a:gridCol>
                <a:gridCol w="663475">
                  <a:extLst>
                    <a:ext uri="{9D8B030D-6E8A-4147-A177-3AD203B41FA5}">
                      <a16:colId xmlns:a16="http://schemas.microsoft.com/office/drawing/2014/main" val="48285211"/>
                    </a:ext>
                  </a:extLst>
                </a:gridCol>
                <a:gridCol w="663475">
                  <a:extLst>
                    <a:ext uri="{9D8B030D-6E8A-4147-A177-3AD203B41FA5}">
                      <a16:colId xmlns:a16="http://schemas.microsoft.com/office/drawing/2014/main" val="2055895824"/>
                    </a:ext>
                  </a:extLst>
                </a:gridCol>
                <a:gridCol w="663475">
                  <a:extLst>
                    <a:ext uri="{9D8B030D-6E8A-4147-A177-3AD203B41FA5}">
                      <a16:colId xmlns:a16="http://schemas.microsoft.com/office/drawing/2014/main" val="2538633938"/>
                    </a:ext>
                  </a:extLst>
                </a:gridCol>
                <a:gridCol w="663475">
                  <a:extLst>
                    <a:ext uri="{9D8B030D-6E8A-4147-A177-3AD203B41FA5}">
                      <a16:colId xmlns:a16="http://schemas.microsoft.com/office/drawing/2014/main" val="3771972787"/>
                    </a:ext>
                  </a:extLst>
                </a:gridCol>
                <a:gridCol w="663475">
                  <a:extLst>
                    <a:ext uri="{9D8B030D-6E8A-4147-A177-3AD203B41FA5}">
                      <a16:colId xmlns:a16="http://schemas.microsoft.com/office/drawing/2014/main" val="2635813192"/>
                    </a:ext>
                  </a:extLst>
                </a:gridCol>
                <a:gridCol w="663475">
                  <a:extLst>
                    <a:ext uri="{9D8B030D-6E8A-4147-A177-3AD203B41FA5}">
                      <a16:colId xmlns:a16="http://schemas.microsoft.com/office/drawing/2014/main" val="4281404807"/>
                    </a:ext>
                  </a:extLst>
                </a:gridCol>
                <a:gridCol w="663475">
                  <a:extLst>
                    <a:ext uri="{9D8B030D-6E8A-4147-A177-3AD203B41FA5}">
                      <a16:colId xmlns:a16="http://schemas.microsoft.com/office/drawing/2014/main" val="586614855"/>
                    </a:ext>
                  </a:extLst>
                </a:gridCol>
                <a:gridCol w="663475">
                  <a:extLst>
                    <a:ext uri="{9D8B030D-6E8A-4147-A177-3AD203B41FA5}">
                      <a16:colId xmlns:a16="http://schemas.microsoft.com/office/drawing/2014/main" val="876238817"/>
                    </a:ext>
                  </a:extLst>
                </a:gridCol>
              </a:tblGrid>
              <a:tr h="58576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ysClr val="windowText" lastClr="000000"/>
                          </a:solidFill>
                        </a:rPr>
                        <a:t>1</a:t>
                      </a:r>
                      <a:endParaRPr lang="ko-KR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ysClr val="windowText" lastClr="000000"/>
                          </a:solidFill>
                        </a:rPr>
                        <a:t>5</a:t>
                      </a:r>
                      <a:endParaRPr lang="ko-KR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ysClr val="windowText" lastClr="000000"/>
                          </a:solidFill>
                        </a:rPr>
                        <a:t>2</a:t>
                      </a:r>
                      <a:endParaRPr lang="ko-KR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ysClr val="windowText" lastClr="000000"/>
                          </a:solidFill>
                        </a:rPr>
                        <a:t>1</a:t>
                      </a:r>
                      <a:endParaRPr lang="ko-KR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ysClr val="windowText" lastClr="000000"/>
                          </a:solidFill>
                        </a:rPr>
                        <a:t>5</a:t>
                      </a:r>
                      <a:endParaRPr lang="ko-KR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ysClr val="windowText" lastClr="000000"/>
                          </a:solidFill>
                        </a:rPr>
                        <a:t>3</a:t>
                      </a:r>
                      <a:endParaRPr lang="ko-KR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ysClr val="windowText" lastClr="000000"/>
                          </a:solidFill>
                        </a:rPr>
                        <a:t>2</a:t>
                      </a:r>
                      <a:endParaRPr lang="ko-KR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ysClr val="windowText" lastClr="000000"/>
                          </a:solidFill>
                        </a:rPr>
                        <a:t>4</a:t>
                      </a:r>
                      <a:endParaRPr lang="ko-KR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ysClr val="windowText" lastClr="000000"/>
                          </a:solidFill>
                        </a:rPr>
                        <a:t>3</a:t>
                      </a:r>
                      <a:endParaRPr lang="ko-KR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ysClr val="windowText" lastClr="000000"/>
                          </a:solidFill>
                        </a:rPr>
                        <a:t>4</a:t>
                      </a:r>
                      <a:endParaRPr lang="ko-KR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42572541"/>
                  </a:ext>
                </a:extLst>
              </a:tr>
            </a:tbl>
          </a:graphicData>
        </a:graphic>
      </p:graphicFrame>
      <p:sp>
        <p:nvSpPr>
          <p:cNvPr id="10" name="직사각형 9"/>
          <p:cNvSpPr/>
          <p:nvPr/>
        </p:nvSpPr>
        <p:spPr>
          <a:xfrm>
            <a:off x="1905285" y="4271699"/>
            <a:ext cx="122341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b="1" dirty="0"/>
              <a:t>큐</a:t>
            </a:r>
            <a:r>
              <a:rPr lang="en-US" altLang="ko-KR" b="1" dirty="0"/>
              <a:t>: [ </a:t>
            </a:r>
            <a:r>
              <a:rPr lang="en-US" altLang="ko-KR" dirty="0"/>
              <a:t>2 3 </a:t>
            </a:r>
            <a:r>
              <a:rPr lang="en-US" altLang="ko-KR" b="1" dirty="0"/>
              <a:t>]</a:t>
            </a:r>
            <a:endParaRPr lang="ko-KR" altLang="en-US" b="1" dirty="0"/>
          </a:p>
        </p:txBody>
      </p:sp>
      <p:sp>
        <p:nvSpPr>
          <p:cNvPr id="12" name="아래쪽 화살표 11"/>
          <p:cNvSpPr/>
          <p:nvPr/>
        </p:nvSpPr>
        <p:spPr>
          <a:xfrm rot="10800000">
            <a:off x="6249598" y="3252962"/>
            <a:ext cx="343231" cy="448116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A480DC90-32DC-C31C-CE7F-60D20652D19A}"/>
              </a:ext>
            </a:extLst>
          </p:cNvPr>
          <p:cNvSpPr/>
          <p:nvPr/>
        </p:nvSpPr>
        <p:spPr>
          <a:xfrm>
            <a:off x="2004703" y="1369938"/>
            <a:ext cx="10187297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dirty="0"/>
              <a:t>Idea: </a:t>
            </a:r>
            <a:r>
              <a:rPr lang="ko-KR" altLang="en-US" dirty="0"/>
              <a:t>첫</a:t>
            </a:r>
            <a:r>
              <a:rPr lang="en-US" altLang="ko-KR" dirty="0"/>
              <a:t> </a:t>
            </a:r>
            <a:r>
              <a:rPr lang="ko-KR" altLang="en-US" dirty="0"/>
              <a:t>번째 바퀴를 마친 차는 </a:t>
            </a:r>
            <a:r>
              <a:rPr lang="en-US" altLang="ko-KR" dirty="0"/>
              <a:t>queue</a:t>
            </a:r>
            <a:r>
              <a:rPr lang="ko-KR" altLang="en-US" dirty="0"/>
              <a:t>에 </a:t>
            </a:r>
            <a:r>
              <a:rPr lang="en-US" altLang="ko-KR" dirty="0">
                <a:solidFill>
                  <a:srgbClr val="FF0000"/>
                </a:solidFill>
              </a:rPr>
              <a:t>push</a:t>
            </a:r>
            <a:r>
              <a:rPr lang="ko-KR" altLang="en-US" dirty="0"/>
              <a:t>하고</a:t>
            </a:r>
            <a:r>
              <a:rPr lang="en-US" altLang="ko-KR" dirty="0"/>
              <a:t>, </a:t>
            </a:r>
          </a:p>
          <a:p>
            <a:r>
              <a:rPr lang="ko-KR" altLang="en-US" dirty="0"/>
              <a:t>두 번째 바퀴를 마친 차는 </a:t>
            </a:r>
            <a:r>
              <a:rPr lang="en-US" altLang="ko-KR" dirty="0"/>
              <a:t>queue</a:t>
            </a:r>
            <a:r>
              <a:rPr lang="ko-KR" altLang="en-US" dirty="0"/>
              <a:t>에서 </a:t>
            </a:r>
            <a:r>
              <a:rPr lang="en-US" altLang="ko-KR" dirty="0">
                <a:solidFill>
                  <a:srgbClr val="FF0000"/>
                </a:solidFill>
              </a:rPr>
              <a:t>pop</a:t>
            </a:r>
            <a:r>
              <a:rPr lang="ko-KR" altLang="en-US" dirty="0"/>
              <a:t>하자 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2070461471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/>
          <p:cNvSpPr txBox="1"/>
          <p:nvPr/>
        </p:nvSpPr>
        <p:spPr>
          <a:xfrm>
            <a:off x="0" y="298260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3600" b="1" dirty="0">
                <a:solidFill>
                  <a:schemeClr val="accent1">
                    <a:lumMod val="75000"/>
                  </a:schemeClr>
                </a:solidFill>
              </a:rPr>
              <a:t>ADD02. </a:t>
            </a:r>
            <a:r>
              <a:rPr lang="ko-KR" altLang="en-US" sz="3600" b="1" dirty="0">
                <a:solidFill>
                  <a:schemeClr val="accent1">
                    <a:lumMod val="75000"/>
                  </a:schemeClr>
                </a:solidFill>
              </a:rPr>
              <a:t>두 바퀴 레이스</a:t>
            </a:r>
            <a:endParaRPr lang="en-US" sz="36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graphicFrame>
        <p:nvGraphicFramePr>
          <p:cNvPr id="5" name="표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9856741"/>
              </p:ext>
            </p:extLst>
          </p:nvPr>
        </p:nvGraphicFramePr>
        <p:xfrm>
          <a:off x="2778625" y="2441616"/>
          <a:ext cx="6634750" cy="58576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63475">
                  <a:extLst>
                    <a:ext uri="{9D8B030D-6E8A-4147-A177-3AD203B41FA5}">
                      <a16:colId xmlns:a16="http://schemas.microsoft.com/office/drawing/2014/main" val="68769189"/>
                    </a:ext>
                  </a:extLst>
                </a:gridCol>
                <a:gridCol w="663475">
                  <a:extLst>
                    <a:ext uri="{9D8B030D-6E8A-4147-A177-3AD203B41FA5}">
                      <a16:colId xmlns:a16="http://schemas.microsoft.com/office/drawing/2014/main" val="4122720222"/>
                    </a:ext>
                  </a:extLst>
                </a:gridCol>
                <a:gridCol w="663475">
                  <a:extLst>
                    <a:ext uri="{9D8B030D-6E8A-4147-A177-3AD203B41FA5}">
                      <a16:colId xmlns:a16="http://schemas.microsoft.com/office/drawing/2014/main" val="48285211"/>
                    </a:ext>
                  </a:extLst>
                </a:gridCol>
                <a:gridCol w="663475">
                  <a:extLst>
                    <a:ext uri="{9D8B030D-6E8A-4147-A177-3AD203B41FA5}">
                      <a16:colId xmlns:a16="http://schemas.microsoft.com/office/drawing/2014/main" val="2055895824"/>
                    </a:ext>
                  </a:extLst>
                </a:gridCol>
                <a:gridCol w="663475">
                  <a:extLst>
                    <a:ext uri="{9D8B030D-6E8A-4147-A177-3AD203B41FA5}">
                      <a16:colId xmlns:a16="http://schemas.microsoft.com/office/drawing/2014/main" val="2538633938"/>
                    </a:ext>
                  </a:extLst>
                </a:gridCol>
                <a:gridCol w="663475">
                  <a:extLst>
                    <a:ext uri="{9D8B030D-6E8A-4147-A177-3AD203B41FA5}">
                      <a16:colId xmlns:a16="http://schemas.microsoft.com/office/drawing/2014/main" val="3771972787"/>
                    </a:ext>
                  </a:extLst>
                </a:gridCol>
                <a:gridCol w="663475">
                  <a:extLst>
                    <a:ext uri="{9D8B030D-6E8A-4147-A177-3AD203B41FA5}">
                      <a16:colId xmlns:a16="http://schemas.microsoft.com/office/drawing/2014/main" val="2635813192"/>
                    </a:ext>
                  </a:extLst>
                </a:gridCol>
                <a:gridCol w="663475">
                  <a:extLst>
                    <a:ext uri="{9D8B030D-6E8A-4147-A177-3AD203B41FA5}">
                      <a16:colId xmlns:a16="http://schemas.microsoft.com/office/drawing/2014/main" val="4281404807"/>
                    </a:ext>
                  </a:extLst>
                </a:gridCol>
                <a:gridCol w="663475">
                  <a:extLst>
                    <a:ext uri="{9D8B030D-6E8A-4147-A177-3AD203B41FA5}">
                      <a16:colId xmlns:a16="http://schemas.microsoft.com/office/drawing/2014/main" val="586614855"/>
                    </a:ext>
                  </a:extLst>
                </a:gridCol>
                <a:gridCol w="663475">
                  <a:extLst>
                    <a:ext uri="{9D8B030D-6E8A-4147-A177-3AD203B41FA5}">
                      <a16:colId xmlns:a16="http://schemas.microsoft.com/office/drawing/2014/main" val="876238817"/>
                    </a:ext>
                  </a:extLst>
                </a:gridCol>
              </a:tblGrid>
              <a:tr h="58576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ysClr val="windowText" lastClr="000000"/>
                          </a:solidFill>
                        </a:rPr>
                        <a:t>1</a:t>
                      </a:r>
                      <a:endParaRPr lang="ko-KR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ysClr val="windowText" lastClr="000000"/>
                          </a:solidFill>
                        </a:rPr>
                        <a:t>5</a:t>
                      </a:r>
                      <a:endParaRPr lang="ko-KR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ysClr val="windowText" lastClr="000000"/>
                          </a:solidFill>
                        </a:rPr>
                        <a:t>2</a:t>
                      </a:r>
                      <a:endParaRPr lang="ko-KR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ysClr val="windowText" lastClr="000000"/>
                          </a:solidFill>
                        </a:rPr>
                        <a:t>1</a:t>
                      </a:r>
                      <a:endParaRPr lang="ko-KR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ysClr val="windowText" lastClr="000000"/>
                          </a:solidFill>
                        </a:rPr>
                        <a:t>5</a:t>
                      </a:r>
                      <a:endParaRPr lang="ko-KR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ysClr val="windowText" lastClr="000000"/>
                          </a:solidFill>
                        </a:rPr>
                        <a:t>3</a:t>
                      </a:r>
                      <a:endParaRPr lang="ko-KR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ysClr val="windowText" lastClr="000000"/>
                          </a:solidFill>
                        </a:rPr>
                        <a:t>2</a:t>
                      </a:r>
                      <a:endParaRPr lang="ko-KR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ysClr val="windowText" lastClr="000000"/>
                          </a:solidFill>
                        </a:rPr>
                        <a:t>4</a:t>
                      </a:r>
                      <a:endParaRPr lang="ko-KR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ysClr val="windowText" lastClr="000000"/>
                          </a:solidFill>
                        </a:rPr>
                        <a:t>3</a:t>
                      </a:r>
                      <a:endParaRPr lang="ko-KR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ysClr val="windowText" lastClr="000000"/>
                          </a:solidFill>
                        </a:rPr>
                        <a:t>4</a:t>
                      </a:r>
                      <a:endParaRPr lang="ko-KR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42572541"/>
                  </a:ext>
                </a:extLst>
              </a:tr>
            </a:tbl>
          </a:graphicData>
        </a:graphic>
      </p:graphicFrame>
      <p:sp>
        <p:nvSpPr>
          <p:cNvPr id="10" name="직사각형 9"/>
          <p:cNvSpPr/>
          <p:nvPr/>
        </p:nvSpPr>
        <p:spPr>
          <a:xfrm>
            <a:off x="1905285" y="4271699"/>
            <a:ext cx="3903633" cy="9233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b="1" dirty="0"/>
              <a:t>큐</a:t>
            </a:r>
            <a:r>
              <a:rPr lang="en-US" altLang="ko-KR" b="1" dirty="0"/>
              <a:t>: [ </a:t>
            </a:r>
            <a:r>
              <a:rPr lang="en-US" altLang="ko-KR" dirty="0"/>
              <a:t>3 </a:t>
            </a:r>
            <a:r>
              <a:rPr lang="en-US" altLang="ko-KR" b="1" dirty="0"/>
              <a:t>]</a:t>
            </a:r>
          </a:p>
          <a:p>
            <a:r>
              <a:rPr lang="ko-KR" altLang="en-US" dirty="0"/>
              <a:t>큐의 맨 첫번째 원소가 </a:t>
            </a:r>
            <a:r>
              <a:rPr lang="en-US" altLang="ko-KR" dirty="0"/>
              <a:t>2</a:t>
            </a:r>
            <a:r>
              <a:rPr lang="ko-KR" altLang="en-US" dirty="0"/>
              <a:t>였으니 </a:t>
            </a:r>
            <a:r>
              <a:rPr lang="en-US" altLang="ko-KR" dirty="0"/>
              <a:t>pop</a:t>
            </a:r>
            <a:endParaRPr lang="ko-KR" altLang="en-US" dirty="0"/>
          </a:p>
          <a:p>
            <a:endParaRPr lang="ko-KR" altLang="en-US" dirty="0"/>
          </a:p>
        </p:txBody>
      </p:sp>
      <p:sp>
        <p:nvSpPr>
          <p:cNvPr id="12" name="아래쪽 화살표 11"/>
          <p:cNvSpPr/>
          <p:nvPr/>
        </p:nvSpPr>
        <p:spPr>
          <a:xfrm rot="10800000">
            <a:off x="6909556" y="3252962"/>
            <a:ext cx="343231" cy="448116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B9DBC596-B8EF-5FB5-1BC2-6DD5D10AC42E}"/>
              </a:ext>
            </a:extLst>
          </p:cNvPr>
          <p:cNvSpPr/>
          <p:nvPr/>
        </p:nvSpPr>
        <p:spPr>
          <a:xfrm>
            <a:off x="2004703" y="1369938"/>
            <a:ext cx="10187297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dirty="0"/>
              <a:t>Idea: </a:t>
            </a:r>
            <a:r>
              <a:rPr lang="ko-KR" altLang="en-US" dirty="0"/>
              <a:t>첫</a:t>
            </a:r>
            <a:r>
              <a:rPr lang="en-US" altLang="ko-KR" dirty="0"/>
              <a:t> </a:t>
            </a:r>
            <a:r>
              <a:rPr lang="ko-KR" altLang="en-US" dirty="0"/>
              <a:t>번째 바퀴를 마친 차는 </a:t>
            </a:r>
            <a:r>
              <a:rPr lang="en-US" altLang="ko-KR" dirty="0"/>
              <a:t>queue</a:t>
            </a:r>
            <a:r>
              <a:rPr lang="ko-KR" altLang="en-US" dirty="0"/>
              <a:t>에 </a:t>
            </a:r>
            <a:r>
              <a:rPr lang="en-US" altLang="ko-KR" dirty="0">
                <a:solidFill>
                  <a:srgbClr val="FF0000"/>
                </a:solidFill>
              </a:rPr>
              <a:t>push</a:t>
            </a:r>
            <a:r>
              <a:rPr lang="ko-KR" altLang="en-US" dirty="0"/>
              <a:t>하고</a:t>
            </a:r>
            <a:r>
              <a:rPr lang="en-US" altLang="ko-KR" dirty="0"/>
              <a:t>, </a:t>
            </a:r>
          </a:p>
          <a:p>
            <a:r>
              <a:rPr lang="ko-KR" altLang="en-US" dirty="0"/>
              <a:t>두 번째 바퀴를 마친 차는 </a:t>
            </a:r>
            <a:r>
              <a:rPr lang="en-US" altLang="ko-KR" dirty="0"/>
              <a:t>queue</a:t>
            </a:r>
            <a:r>
              <a:rPr lang="ko-KR" altLang="en-US" dirty="0"/>
              <a:t>에서 </a:t>
            </a:r>
            <a:r>
              <a:rPr lang="en-US" altLang="ko-KR" dirty="0">
                <a:solidFill>
                  <a:srgbClr val="FF0000"/>
                </a:solidFill>
              </a:rPr>
              <a:t>pop</a:t>
            </a:r>
            <a:r>
              <a:rPr lang="ko-KR" altLang="en-US" dirty="0"/>
              <a:t>하자 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3294166646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/>
          <p:cNvSpPr txBox="1"/>
          <p:nvPr/>
        </p:nvSpPr>
        <p:spPr>
          <a:xfrm>
            <a:off x="0" y="298260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3600" b="1" dirty="0">
                <a:solidFill>
                  <a:schemeClr val="accent1">
                    <a:lumMod val="75000"/>
                  </a:schemeClr>
                </a:solidFill>
              </a:rPr>
              <a:t>ADD02. </a:t>
            </a:r>
            <a:r>
              <a:rPr lang="ko-KR" altLang="en-US" sz="3600" b="1" dirty="0">
                <a:solidFill>
                  <a:schemeClr val="accent1">
                    <a:lumMod val="75000"/>
                  </a:schemeClr>
                </a:solidFill>
              </a:rPr>
              <a:t>두 바퀴 레이스</a:t>
            </a:r>
            <a:endParaRPr lang="en-US" sz="36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graphicFrame>
        <p:nvGraphicFramePr>
          <p:cNvPr id="5" name="표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86335774"/>
              </p:ext>
            </p:extLst>
          </p:nvPr>
        </p:nvGraphicFramePr>
        <p:xfrm>
          <a:off x="2778625" y="2441616"/>
          <a:ext cx="6634750" cy="58576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63475">
                  <a:extLst>
                    <a:ext uri="{9D8B030D-6E8A-4147-A177-3AD203B41FA5}">
                      <a16:colId xmlns:a16="http://schemas.microsoft.com/office/drawing/2014/main" val="68769189"/>
                    </a:ext>
                  </a:extLst>
                </a:gridCol>
                <a:gridCol w="663475">
                  <a:extLst>
                    <a:ext uri="{9D8B030D-6E8A-4147-A177-3AD203B41FA5}">
                      <a16:colId xmlns:a16="http://schemas.microsoft.com/office/drawing/2014/main" val="4122720222"/>
                    </a:ext>
                  </a:extLst>
                </a:gridCol>
                <a:gridCol w="663475">
                  <a:extLst>
                    <a:ext uri="{9D8B030D-6E8A-4147-A177-3AD203B41FA5}">
                      <a16:colId xmlns:a16="http://schemas.microsoft.com/office/drawing/2014/main" val="48285211"/>
                    </a:ext>
                  </a:extLst>
                </a:gridCol>
                <a:gridCol w="663475">
                  <a:extLst>
                    <a:ext uri="{9D8B030D-6E8A-4147-A177-3AD203B41FA5}">
                      <a16:colId xmlns:a16="http://schemas.microsoft.com/office/drawing/2014/main" val="2055895824"/>
                    </a:ext>
                  </a:extLst>
                </a:gridCol>
                <a:gridCol w="663475">
                  <a:extLst>
                    <a:ext uri="{9D8B030D-6E8A-4147-A177-3AD203B41FA5}">
                      <a16:colId xmlns:a16="http://schemas.microsoft.com/office/drawing/2014/main" val="2538633938"/>
                    </a:ext>
                  </a:extLst>
                </a:gridCol>
                <a:gridCol w="663475">
                  <a:extLst>
                    <a:ext uri="{9D8B030D-6E8A-4147-A177-3AD203B41FA5}">
                      <a16:colId xmlns:a16="http://schemas.microsoft.com/office/drawing/2014/main" val="3771972787"/>
                    </a:ext>
                  </a:extLst>
                </a:gridCol>
                <a:gridCol w="663475">
                  <a:extLst>
                    <a:ext uri="{9D8B030D-6E8A-4147-A177-3AD203B41FA5}">
                      <a16:colId xmlns:a16="http://schemas.microsoft.com/office/drawing/2014/main" val="2635813192"/>
                    </a:ext>
                  </a:extLst>
                </a:gridCol>
                <a:gridCol w="663475">
                  <a:extLst>
                    <a:ext uri="{9D8B030D-6E8A-4147-A177-3AD203B41FA5}">
                      <a16:colId xmlns:a16="http://schemas.microsoft.com/office/drawing/2014/main" val="4281404807"/>
                    </a:ext>
                  </a:extLst>
                </a:gridCol>
                <a:gridCol w="663475">
                  <a:extLst>
                    <a:ext uri="{9D8B030D-6E8A-4147-A177-3AD203B41FA5}">
                      <a16:colId xmlns:a16="http://schemas.microsoft.com/office/drawing/2014/main" val="586614855"/>
                    </a:ext>
                  </a:extLst>
                </a:gridCol>
                <a:gridCol w="663475">
                  <a:extLst>
                    <a:ext uri="{9D8B030D-6E8A-4147-A177-3AD203B41FA5}">
                      <a16:colId xmlns:a16="http://schemas.microsoft.com/office/drawing/2014/main" val="876238817"/>
                    </a:ext>
                  </a:extLst>
                </a:gridCol>
              </a:tblGrid>
              <a:tr h="58576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ysClr val="windowText" lastClr="000000"/>
                          </a:solidFill>
                        </a:rPr>
                        <a:t>1</a:t>
                      </a:r>
                      <a:endParaRPr lang="ko-KR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ysClr val="windowText" lastClr="000000"/>
                          </a:solidFill>
                        </a:rPr>
                        <a:t>5</a:t>
                      </a:r>
                      <a:endParaRPr lang="ko-KR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ysClr val="windowText" lastClr="000000"/>
                          </a:solidFill>
                        </a:rPr>
                        <a:t>2</a:t>
                      </a:r>
                      <a:endParaRPr lang="ko-KR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ysClr val="windowText" lastClr="000000"/>
                          </a:solidFill>
                        </a:rPr>
                        <a:t>1</a:t>
                      </a:r>
                      <a:endParaRPr lang="ko-KR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ysClr val="windowText" lastClr="000000"/>
                          </a:solidFill>
                        </a:rPr>
                        <a:t>5</a:t>
                      </a:r>
                      <a:endParaRPr lang="ko-KR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ysClr val="windowText" lastClr="000000"/>
                          </a:solidFill>
                        </a:rPr>
                        <a:t>3</a:t>
                      </a:r>
                      <a:endParaRPr lang="ko-KR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ysClr val="windowText" lastClr="000000"/>
                          </a:solidFill>
                        </a:rPr>
                        <a:t>2</a:t>
                      </a:r>
                      <a:endParaRPr lang="ko-KR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ysClr val="windowText" lastClr="000000"/>
                          </a:solidFill>
                        </a:rPr>
                        <a:t>4</a:t>
                      </a:r>
                      <a:endParaRPr lang="ko-KR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ysClr val="windowText" lastClr="000000"/>
                          </a:solidFill>
                        </a:rPr>
                        <a:t>3</a:t>
                      </a:r>
                      <a:endParaRPr lang="ko-KR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ysClr val="windowText" lastClr="000000"/>
                          </a:solidFill>
                        </a:rPr>
                        <a:t>4</a:t>
                      </a:r>
                      <a:endParaRPr lang="ko-KR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42572541"/>
                  </a:ext>
                </a:extLst>
              </a:tr>
            </a:tbl>
          </a:graphicData>
        </a:graphic>
      </p:graphicFrame>
      <p:sp>
        <p:nvSpPr>
          <p:cNvPr id="10" name="직사각형 9"/>
          <p:cNvSpPr/>
          <p:nvPr/>
        </p:nvSpPr>
        <p:spPr>
          <a:xfrm>
            <a:off x="1905285" y="4271699"/>
            <a:ext cx="122341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b="1" dirty="0"/>
              <a:t>큐</a:t>
            </a:r>
            <a:r>
              <a:rPr lang="en-US" altLang="ko-KR" b="1" dirty="0"/>
              <a:t>: [ </a:t>
            </a:r>
            <a:r>
              <a:rPr lang="en-US" altLang="ko-KR" dirty="0"/>
              <a:t>3 4 </a:t>
            </a:r>
            <a:r>
              <a:rPr lang="en-US" altLang="ko-KR" b="1" dirty="0"/>
              <a:t>]</a:t>
            </a:r>
            <a:endParaRPr lang="ko-KR" altLang="en-US" b="1" dirty="0"/>
          </a:p>
        </p:txBody>
      </p:sp>
      <p:sp>
        <p:nvSpPr>
          <p:cNvPr id="12" name="아래쪽 화살표 11"/>
          <p:cNvSpPr/>
          <p:nvPr/>
        </p:nvSpPr>
        <p:spPr>
          <a:xfrm rot="10800000">
            <a:off x="7569515" y="3252962"/>
            <a:ext cx="343231" cy="448116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4B5E2C6F-F698-E8E8-5FE2-D85F73703BD8}"/>
              </a:ext>
            </a:extLst>
          </p:cNvPr>
          <p:cNvSpPr/>
          <p:nvPr/>
        </p:nvSpPr>
        <p:spPr>
          <a:xfrm>
            <a:off x="2004703" y="1369938"/>
            <a:ext cx="10187297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dirty="0"/>
              <a:t>Idea: </a:t>
            </a:r>
            <a:r>
              <a:rPr lang="ko-KR" altLang="en-US" dirty="0"/>
              <a:t>첫</a:t>
            </a:r>
            <a:r>
              <a:rPr lang="en-US" altLang="ko-KR" dirty="0"/>
              <a:t> </a:t>
            </a:r>
            <a:r>
              <a:rPr lang="ko-KR" altLang="en-US" dirty="0"/>
              <a:t>번째 바퀴를 마친 차는 </a:t>
            </a:r>
            <a:r>
              <a:rPr lang="en-US" altLang="ko-KR" dirty="0"/>
              <a:t>queue</a:t>
            </a:r>
            <a:r>
              <a:rPr lang="ko-KR" altLang="en-US" dirty="0"/>
              <a:t>에 </a:t>
            </a:r>
            <a:r>
              <a:rPr lang="en-US" altLang="ko-KR" dirty="0">
                <a:solidFill>
                  <a:srgbClr val="FF0000"/>
                </a:solidFill>
              </a:rPr>
              <a:t>push</a:t>
            </a:r>
            <a:r>
              <a:rPr lang="ko-KR" altLang="en-US" dirty="0"/>
              <a:t>하고</a:t>
            </a:r>
            <a:r>
              <a:rPr lang="en-US" altLang="ko-KR" dirty="0"/>
              <a:t>, </a:t>
            </a:r>
          </a:p>
          <a:p>
            <a:r>
              <a:rPr lang="ko-KR" altLang="en-US" dirty="0"/>
              <a:t>두 번째 바퀴를 마친 차는 </a:t>
            </a:r>
            <a:r>
              <a:rPr lang="en-US" altLang="ko-KR" dirty="0"/>
              <a:t>queue</a:t>
            </a:r>
            <a:r>
              <a:rPr lang="ko-KR" altLang="en-US" dirty="0"/>
              <a:t>에서 </a:t>
            </a:r>
            <a:r>
              <a:rPr lang="en-US" altLang="ko-KR" dirty="0">
                <a:solidFill>
                  <a:srgbClr val="FF0000"/>
                </a:solidFill>
              </a:rPr>
              <a:t>pop</a:t>
            </a:r>
            <a:r>
              <a:rPr lang="ko-KR" altLang="en-US" dirty="0"/>
              <a:t>하자 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3808183655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/>
          <p:cNvSpPr txBox="1"/>
          <p:nvPr/>
        </p:nvSpPr>
        <p:spPr>
          <a:xfrm>
            <a:off x="0" y="298260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3600" b="1" dirty="0">
                <a:solidFill>
                  <a:schemeClr val="accent1">
                    <a:lumMod val="75000"/>
                  </a:schemeClr>
                </a:solidFill>
              </a:rPr>
              <a:t>ADD02. </a:t>
            </a:r>
            <a:r>
              <a:rPr lang="ko-KR" altLang="en-US" sz="3600" b="1" dirty="0">
                <a:solidFill>
                  <a:schemeClr val="accent1">
                    <a:lumMod val="75000"/>
                  </a:schemeClr>
                </a:solidFill>
              </a:rPr>
              <a:t>두 바퀴 레이스</a:t>
            </a:r>
            <a:endParaRPr lang="en-US" sz="36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graphicFrame>
        <p:nvGraphicFramePr>
          <p:cNvPr id="5" name="표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95855258"/>
              </p:ext>
            </p:extLst>
          </p:nvPr>
        </p:nvGraphicFramePr>
        <p:xfrm>
          <a:off x="2778625" y="2441616"/>
          <a:ext cx="6634750" cy="58576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63475">
                  <a:extLst>
                    <a:ext uri="{9D8B030D-6E8A-4147-A177-3AD203B41FA5}">
                      <a16:colId xmlns:a16="http://schemas.microsoft.com/office/drawing/2014/main" val="68769189"/>
                    </a:ext>
                  </a:extLst>
                </a:gridCol>
                <a:gridCol w="663475">
                  <a:extLst>
                    <a:ext uri="{9D8B030D-6E8A-4147-A177-3AD203B41FA5}">
                      <a16:colId xmlns:a16="http://schemas.microsoft.com/office/drawing/2014/main" val="4122720222"/>
                    </a:ext>
                  </a:extLst>
                </a:gridCol>
                <a:gridCol w="663475">
                  <a:extLst>
                    <a:ext uri="{9D8B030D-6E8A-4147-A177-3AD203B41FA5}">
                      <a16:colId xmlns:a16="http://schemas.microsoft.com/office/drawing/2014/main" val="48285211"/>
                    </a:ext>
                  </a:extLst>
                </a:gridCol>
                <a:gridCol w="663475">
                  <a:extLst>
                    <a:ext uri="{9D8B030D-6E8A-4147-A177-3AD203B41FA5}">
                      <a16:colId xmlns:a16="http://schemas.microsoft.com/office/drawing/2014/main" val="2055895824"/>
                    </a:ext>
                  </a:extLst>
                </a:gridCol>
                <a:gridCol w="663475">
                  <a:extLst>
                    <a:ext uri="{9D8B030D-6E8A-4147-A177-3AD203B41FA5}">
                      <a16:colId xmlns:a16="http://schemas.microsoft.com/office/drawing/2014/main" val="2538633938"/>
                    </a:ext>
                  </a:extLst>
                </a:gridCol>
                <a:gridCol w="663475">
                  <a:extLst>
                    <a:ext uri="{9D8B030D-6E8A-4147-A177-3AD203B41FA5}">
                      <a16:colId xmlns:a16="http://schemas.microsoft.com/office/drawing/2014/main" val="3771972787"/>
                    </a:ext>
                  </a:extLst>
                </a:gridCol>
                <a:gridCol w="663475">
                  <a:extLst>
                    <a:ext uri="{9D8B030D-6E8A-4147-A177-3AD203B41FA5}">
                      <a16:colId xmlns:a16="http://schemas.microsoft.com/office/drawing/2014/main" val="2635813192"/>
                    </a:ext>
                  </a:extLst>
                </a:gridCol>
                <a:gridCol w="663475">
                  <a:extLst>
                    <a:ext uri="{9D8B030D-6E8A-4147-A177-3AD203B41FA5}">
                      <a16:colId xmlns:a16="http://schemas.microsoft.com/office/drawing/2014/main" val="4281404807"/>
                    </a:ext>
                  </a:extLst>
                </a:gridCol>
                <a:gridCol w="663475">
                  <a:extLst>
                    <a:ext uri="{9D8B030D-6E8A-4147-A177-3AD203B41FA5}">
                      <a16:colId xmlns:a16="http://schemas.microsoft.com/office/drawing/2014/main" val="586614855"/>
                    </a:ext>
                  </a:extLst>
                </a:gridCol>
                <a:gridCol w="663475">
                  <a:extLst>
                    <a:ext uri="{9D8B030D-6E8A-4147-A177-3AD203B41FA5}">
                      <a16:colId xmlns:a16="http://schemas.microsoft.com/office/drawing/2014/main" val="876238817"/>
                    </a:ext>
                  </a:extLst>
                </a:gridCol>
              </a:tblGrid>
              <a:tr h="58576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ysClr val="windowText" lastClr="000000"/>
                          </a:solidFill>
                        </a:rPr>
                        <a:t>1</a:t>
                      </a:r>
                      <a:endParaRPr lang="ko-KR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ysClr val="windowText" lastClr="000000"/>
                          </a:solidFill>
                        </a:rPr>
                        <a:t>5</a:t>
                      </a:r>
                      <a:endParaRPr lang="ko-KR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ysClr val="windowText" lastClr="000000"/>
                          </a:solidFill>
                        </a:rPr>
                        <a:t>2</a:t>
                      </a:r>
                      <a:endParaRPr lang="ko-KR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ysClr val="windowText" lastClr="000000"/>
                          </a:solidFill>
                        </a:rPr>
                        <a:t>1</a:t>
                      </a:r>
                      <a:endParaRPr lang="ko-KR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ysClr val="windowText" lastClr="000000"/>
                          </a:solidFill>
                        </a:rPr>
                        <a:t>5</a:t>
                      </a:r>
                      <a:endParaRPr lang="ko-KR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ysClr val="windowText" lastClr="000000"/>
                          </a:solidFill>
                        </a:rPr>
                        <a:t>3</a:t>
                      </a:r>
                      <a:endParaRPr lang="ko-KR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ysClr val="windowText" lastClr="000000"/>
                          </a:solidFill>
                        </a:rPr>
                        <a:t>2</a:t>
                      </a:r>
                      <a:endParaRPr lang="ko-KR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ysClr val="windowText" lastClr="000000"/>
                          </a:solidFill>
                        </a:rPr>
                        <a:t>4</a:t>
                      </a:r>
                      <a:endParaRPr lang="ko-KR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ysClr val="windowText" lastClr="000000"/>
                          </a:solidFill>
                        </a:rPr>
                        <a:t>3</a:t>
                      </a:r>
                      <a:endParaRPr lang="ko-KR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ysClr val="windowText" lastClr="000000"/>
                          </a:solidFill>
                        </a:rPr>
                        <a:t>4</a:t>
                      </a:r>
                      <a:endParaRPr lang="ko-KR" altLang="en-US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42572541"/>
                  </a:ext>
                </a:extLst>
              </a:tr>
            </a:tbl>
          </a:graphicData>
        </a:graphic>
      </p:graphicFrame>
      <p:sp>
        <p:nvSpPr>
          <p:cNvPr id="10" name="직사각형 9"/>
          <p:cNvSpPr/>
          <p:nvPr/>
        </p:nvSpPr>
        <p:spPr>
          <a:xfrm>
            <a:off x="1905285" y="4271699"/>
            <a:ext cx="2071401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b="1" dirty="0"/>
              <a:t>큐</a:t>
            </a:r>
            <a:r>
              <a:rPr lang="en-US" altLang="ko-KR" b="1" dirty="0"/>
              <a:t>: [  ]</a:t>
            </a:r>
          </a:p>
          <a:p>
            <a:r>
              <a:rPr lang="ko-KR" altLang="en-US" dirty="0"/>
              <a:t>순서대로 </a:t>
            </a:r>
            <a:r>
              <a:rPr lang="en-US" altLang="ko-KR" dirty="0"/>
              <a:t>3, 4 pop</a:t>
            </a:r>
            <a:endParaRPr lang="ko-KR" altLang="en-US" dirty="0"/>
          </a:p>
        </p:txBody>
      </p:sp>
      <p:sp>
        <p:nvSpPr>
          <p:cNvPr id="12" name="아래쪽 화살표 11"/>
          <p:cNvSpPr/>
          <p:nvPr/>
        </p:nvSpPr>
        <p:spPr>
          <a:xfrm rot="10800000">
            <a:off x="8889430" y="3252962"/>
            <a:ext cx="343231" cy="448116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114E6C25-8256-E5F9-A6B8-725293417394}"/>
              </a:ext>
            </a:extLst>
          </p:cNvPr>
          <p:cNvSpPr/>
          <p:nvPr/>
        </p:nvSpPr>
        <p:spPr>
          <a:xfrm>
            <a:off x="2004703" y="1369938"/>
            <a:ext cx="10187297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dirty="0"/>
              <a:t>Idea: </a:t>
            </a:r>
            <a:r>
              <a:rPr lang="ko-KR" altLang="en-US" dirty="0"/>
              <a:t>첫</a:t>
            </a:r>
            <a:r>
              <a:rPr lang="en-US" altLang="ko-KR" dirty="0"/>
              <a:t> </a:t>
            </a:r>
            <a:r>
              <a:rPr lang="ko-KR" altLang="en-US" dirty="0"/>
              <a:t>번째 바퀴를 마친 차는 </a:t>
            </a:r>
            <a:r>
              <a:rPr lang="en-US" altLang="ko-KR" dirty="0"/>
              <a:t>queue</a:t>
            </a:r>
            <a:r>
              <a:rPr lang="ko-KR" altLang="en-US" dirty="0"/>
              <a:t>에 </a:t>
            </a:r>
            <a:r>
              <a:rPr lang="en-US" altLang="ko-KR" dirty="0">
                <a:solidFill>
                  <a:srgbClr val="FF0000"/>
                </a:solidFill>
              </a:rPr>
              <a:t>push</a:t>
            </a:r>
            <a:r>
              <a:rPr lang="ko-KR" altLang="en-US" dirty="0"/>
              <a:t>하고</a:t>
            </a:r>
            <a:r>
              <a:rPr lang="en-US" altLang="ko-KR" dirty="0"/>
              <a:t>, </a:t>
            </a:r>
          </a:p>
          <a:p>
            <a:r>
              <a:rPr lang="ko-KR" altLang="en-US" dirty="0"/>
              <a:t>두 번째 바퀴를 마친 차는 </a:t>
            </a:r>
            <a:r>
              <a:rPr lang="en-US" altLang="ko-KR" dirty="0"/>
              <a:t>queue</a:t>
            </a:r>
            <a:r>
              <a:rPr lang="ko-KR" altLang="en-US" dirty="0"/>
              <a:t>에서 </a:t>
            </a:r>
            <a:r>
              <a:rPr lang="en-US" altLang="ko-KR" dirty="0">
                <a:solidFill>
                  <a:srgbClr val="FF0000"/>
                </a:solidFill>
              </a:rPr>
              <a:t>pop</a:t>
            </a:r>
            <a:r>
              <a:rPr lang="ko-KR" altLang="en-US" dirty="0"/>
              <a:t>하자 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2841915248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/>
          <p:cNvSpPr txBox="1"/>
          <p:nvPr/>
        </p:nvSpPr>
        <p:spPr>
          <a:xfrm>
            <a:off x="0" y="298260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3600" b="1" dirty="0">
                <a:solidFill>
                  <a:schemeClr val="accent1">
                    <a:lumMod val="75000"/>
                  </a:schemeClr>
                </a:solidFill>
              </a:rPr>
              <a:t>ADD02. </a:t>
            </a:r>
            <a:r>
              <a:rPr lang="ko-KR" altLang="en-US" sz="3600" b="1" dirty="0">
                <a:solidFill>
                  <a:schemeClr val="accent1">
                    <a:lumMod val="75000"/>
                  </a:schemeClr>
                </a:solidFill>
              </a:rPr>
              <a:t>두 바퀴 레이스</a:t>
            </a:r>
            <a:endParaRPr lang="en-US" sz="36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4" name="직사각형 3"/>
          <p:cNvSpPr/>
          <p:nvPr/>
        </p:nvSpPr>
        <p:spPr>
          <a:xfrm>
            <a:off x="2004703" y="1369938"/>
            <a:ext cx="9200445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dirty="0"/>
              <a:t>구현할 때 더 생각해야할 점</a:t>
            </a:r>
            <a:r>
              <a:rPr lang="en-US" altLang="ko-KR" dirty="0"/>
              <a:t>:</a:t>
            </a:r>
          </a:p>
          <a:p>
            <a:endParaRPr lang="en-US" altLang="ko-KR" dirty="0"/>
          </a:p>
          <a:p>
            <a:pPr marL="342900" indent="-342900">
              <a:buAutoNum type="arabicPeriod"/>
            </a:pPr>
            <a:r>
              <a:rPr lang="ko-KR" altLang="en-US" dirty="0"/>
              <a:t>만약 </a:t>
            </a:r>
            <a:r>
              <a:rPr lang="en-US" altLang="ko-KR" dirty="0"/>
              <a:t>queue</a:t>
            </a:r>
            <a:r>
              <a:rPr lang="ko-KR" altLang="en-US" dirty="0"/>
              <a:t>가 비어 있다면</a:t>
            </a:r>
            <a:r>
              <a:rPr lang="en-US" altLang="ko-KR" dirty="0"/>
              <a:t>?</a:t>
            </a:r>
          </a:p>
          <a:p>
            <a:pPr marL="342900" indent="-342900">
              <a:buAutoNum type="arabicPeriod"/>
            </a:pPr>
            <a:endParaRPr lang="en-US" altLang="ko-KR" dirty="0"/>
          </a:p>
          <a:p>
            <a:pPr marL="342900" indent="-342900">
              <a:buAutoNum type="arabicPeriod"/>
            </a:pPr>
            <a:r>
              <a:rPr lang="ko-KR" altLang="en-US" dirty="0"/>
              <a:t>레이스에서 순서가 바뀌었다면 검사 종료 후 </a:t>
            </a:r>
            <a:r>
              <a:rPr lang="en-US" altLang="ko-KR" dirty="0"/>
              <a:t>queue</a:t>
            </a:r>
            <a:r>
              <a:rPr lang="ko-KR" altLang="en-US" dirty="0"/>
              <a:t>는 어떤 상태일까</a:t>
            </a:r>
            <a:r>
              <a:rPr lang="en-US" altLang="ko-KR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165227080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4497</TotalTime>
  <Words>2251</Words>
  <Application>Microsoft Macintosh PowerPoint</Application>
  <PresentationFormat>와이드스크린</PresentationFormat>
  <Paragraphs>565</Paragraphs>
  <Slides>51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51</vt:i4>
      </vt:variant>
    </vt:vector>
  </HeadingPairs>
  <TitlesOfParts>
    <vt:vector size="54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이승준(수학과)</dc:creator>
  <cp:lastModifiedBy>한지선</cp:lastModifiedBy>
  <cp:revision>238</cp:revision>
  <dcterms:created xsi:type="dcterms:W3CDTF">2018-03-12T02:24:53Z</dcterms:created>
  <dcterms:modified xsi:type="dcterms:W3CDTF">2023-06-12T03:51:59Z</dcterms:modified>
</cp:coreProperties>
</file>